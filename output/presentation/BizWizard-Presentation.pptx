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slides/charts/chart1.xml" ContentType="application/vnd.openxmlformats-officedocument.drawingml.chart+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722d41d1f1a34936" /><Relationship Type="http://schemas.openxmlformats.org/officeDocument/2006/relationships/extended-properties" Target="/docProps/app.xml" Id="Re60e49257dd54d32" /><Relationship Type="http://schemas.openxmlformats.org/officeDocument/2006/relationships/officeDocument" Target="/ppt/presentation.xml" Id="R9d34c06f1cce4475" /></Relationships>
</file>

<file path=ppt/presentation.xml><?xml version="1.0" encoding="utf-8"?>
<p:presentation xmlns:p="http://schemas.openxmlformats.org/presentationml/2006/main">
  <p:sldMasterIdLst>
    <p:sldMasterId xmlns:r="http://schemas.openxmlformats.org/officeDocument/2006/relationships" id="2147483648" r:id="R750dc35553914904"/>
  </p:sldMasterIdLst>
  <p:notesMasterIdLst>
    <p:notesMasterId xmlns:r="http://schemas.openxmlformats.org/officeDocument/2006/relationships" r:id="R1a52e235e47d4b6e"/>
  </p:notesMasterIdLst>
  <p:sldIdLst>
    <p:sldId xmlns:r="http://schemas.openxmlformats.org/officeDocument/2006/relationships" id="256" r:id="Rbeaae75410ef4d43"/>
    <p:sldId xmlns:r="http://schemas.openxmlformats.org/officeDocument/2006/relationships" id="257" r:id="R087d6a5be62043ac"/>
    <p:sldId xmlns:r="http://schemas.openxmlformats.org/officeDocument/2006/relationships" id="258" r:id="Rfd3a3ed39be445d8"/>
    <p:sldId xmlns:r="http://schemas.openxmlformats.org/officeDocument/2006/relationships" id="259" r:id="Rc900e7c2f46643aa"/>
    <p:sldId xmlns:r="http://schemas.openxmlformats.org/officeDocument/2006/relationships" id="260" r:id="R06fac6f942a74dcd"/>
    <p:sldId xmlns:r="http://schemas.openxmlformats.org/officeDocument/2006/relationships" id="261" r:id="R6b1bab5303404212"/>
    <p:sldId xmlns:r="http://schemas.openxmlformats.org/officeDocument/2006/relationships" id="262" r:id="R2f24bbbd755d4cbf"/>
    <p:sldId xmlns:r="http://schemas.openxmlformats.org/officeDocument/2006/relationships" id="263" r:id="Rc7b807463f2e43bc"/>
    <p:sldId xmlns:r="http://schemas.openxmlformats.org/officeDocument/2006/relationships" id="264" r:id="Rfd04138151464d9d"/>
    <p:sldId xmlns:r="http://schemas.openxmlformats.org/officeDocument/2006/relationships" id="265" r:id="R026239dfc57c4657"/>
    <p:sldId xmlns:r="http://schemas.openxmlformats.org/officeDocument/2006/relationships" id="266" r:id="Rad9b116bc9ab4791"/>
    <p:sldId xmlns:r="http://schemas.openxmlformats.org/officeDocument/2006/relationships" id="267" r:id="Rc655e7c398d04ae6"/>
    <p:sldId xmlns:r="http://schemas.openxmlformats.org/officeDocument/2006/relationships" id="268" r:id="Rf9305f570dcb4b57"/>
    <p:sldId xmlns:r="http://schemas.openxmlformats.org/officeDocument/2006/relationships" id="269" r:id="R0566600853be4db0"/>
    <p:sldId xmlns:r="http://schemas.openxmlformats.org/officeDocument/2006/relationships" id="270" r:id="Raa657667b16d4b1a"/>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3c63c70e1414d35" /><Relationship Type="http://schemas.openxmlformats.org/officeDocument/2006/relationships/slideMaster" Target="/ppt/slideMasters/slideMaster1.xml" Id="R750dc35553914904" /><Relationship Type="http://schemas.openxmlformats.org/officeDocument/2006/relationships/notesMaster" Target="/ppt/notesMasters/notesMaster1.xml" Id="R1a52e235e47d4b6e" /><Relationship Type="http://schemas.openxmlformats.org/officeDocument/2006/relationships/presProps" Target="/ppt/presProps.xml" Id="R64860d863433412d" /><Relationship Type="http://schemas.openxmlformats.org/officeDocument/2006/relationships/tableStyles" Target="/ppt/tableStyles.xml" Id="R6f0ca13ce07a456e" /><Relationship Type="http://schemas.openxmlformats.org/officeDocument/2006/relationships/slide" Target="/ppt/slides/slide1.xml" Id="Rbeaae75410ef4d43" /><Relationship Type="http://schemas.openxmlformats.org/officeDocument/2006/relationships/slide" Target="/ppt/slides/slide2.xml" Id="R087d6a5be62043ac" /><Relationship Type="http://schemas.openxmlformats.org/officeDocument/2006/relationships/slide" Target="/ppt/slides/slide3.xml" Id="Rfd3a3ed39be445d8" /><Relationship Type="http://schemas.openxmlformats.org/officeDocument/2006/relationships/slide" Target="/ppt/slides/slide4.xml" Id="Rc900e7c2f46643aa" /><Relationship Type="http://schemas.openxmlformats.org/officeDocument/2006/relationships/slide" Target="/ppt/slides/slide5.xml" Id="R06fac6f942a74dcd" /><Relationship Type="http://schemas.openxmlformats.org/officeDocument/2006/relationships/slide" Target="/ppt/slides/slide6.xml" Id="R6b1bab5303404212" /><Relationship Type="http://schemas.openxmlformats.org/officeDocument/2006/relationships/slide" Target="/ppt/slides/slide7.xml" Id="R2f24bbbd755d4cbf" /><Relationship Type="http://schemas.openxmlformats.org/officeDocument/2006/relationships/slide" Target="/ppt/slides/slide8.xml" Id="Rc7b807463f2e43bc" /><Relationship Type="http://schemas.openxmlformats.org/officeDocument/2006/relationships/slide" Target="/ppt/slides/slide9.xml" Id="Rfd04138151464d9d" /><Relationship Type="http://schemas.openxmlformats.org/officeDocument/2006/relationships/slide" Target="/ppt/slides/slide10.xml" Id="R026239dfc57c4657" /><Relationship Type="http://schemas.openxmlformats.org/officeDocument/2006/relationships/slide" Target="/ppt/slides/slide11.xml" Id="Rad9b116bc9ab4791" /><Relationship Type="http://schemas.openxmlformats.org/officeDocument/2006/relationships/slide" Target="/ppt/slides/slide12.xml" Id="Rc655e7c398d04ae6" /><Relationship Type="http://schemas.openxmlformats.org/officeDocument/2006/relationships/slide" Target="/ppt/slides/slide13.xml" Id="Rf9305f570dcb4b57" /><Relationship Type="http://schemas.openxmlformats.org/officeDocument/2006/relationships/slide" Target="/ppt/slides/slide14.xml" Id="R0566600853be4db0" /><Relationship Type="http://schemas.openxmlformats.org/officeDocument/2006/relationships/slide" Target="/ppt/slides/slide15.xml" Id="Raa657667b16d4b1a"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c400fdf84b444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37156b957dc14352" /><Relationship Type="http://schemas.openxmlformats.org/officeDocument/2006/relationships/notesMaster" Target="/ppt/notesMasters/notesMaster1.xml" Id="R8b1a198588724992" /></Relationships>
</file>

<file path=ppt/notesSlides/_rels/notesSlide2.xml.rels>&#65279;<?xml version="1.0" encoding="utf-8"?><Relationships xmlns="http://schemas.openxmlformats.org/package/2006/relationships"><Relationship Type="http://schemas.openxmlformats.org/officeDocument/2006/relationships/slide" Target="/ppt/slides/slide2.xml" Id="Rbfe6845ca2834dab" /><Relationship Type="http://schemas.openxmlformats.org/officeDocument/2006/relationships/notesMaster" Target="/ppt/notesMasters/notesMaster1.xml" Id="R5ecc6c79e7724ac9" /></Relationships>
</file>

<file path=ppt/notesSlides/_rels/notesSlide3.xml.rels>&#65279;<?xml version="1.0" encoding="utf-8"?><Relationships xmlns="http://schemas.openxmlformats.org/package/2006/relationships"><Relationship Type="http://schemas.openxmlformats.org/officeDocument/2006/relationships/slide" Target="/ppt/slides/slide3.xml" Id="R736028b28d114a31" /><Relationship Type="http://schemas.openxmlformats.org/officeDocument/2006/relationships/notesMaster" Target="/ppt/notesMasters/notesMaster1.xml" Id="Re22cd79676044268" /></Relationships>
</file>

<file path=ppt/notesSlides/_rels/notesSlide4.xml.rels>&#65279;<?xml version="1.0" encoding="utf-8"?><Relationships xmlns="http://schemas.openxmlformats.org/package/2006/relationships"><Relationship Type="http://schemas.openxmlformats.org/officeDocument/2006/relationships/slide" Target="/ppt/slides/slide4.xml" Id="Rec5262de581a4ae9" /><Relationship Type="http://schemas.openxmlformats.org/officeDocument/2006/relationships/notesMaster" Target="/ppt/notesMasters/notesMaster1.xml" Id="Ra7551b320130475c" /></Relationships>
</file>

<file path=ppt/notesSlides/_rels/notesSlide5.xml.rels>&#65279;<?xml version="1.0" encoding="utf-8"?><Relationships xmlns="http://schemas.openxmlformats.org/package/2006/relationships"><Relationship Type="http://schemas.openxmlformats.org/officeDocument/2006/relationships/slide" Target="/ppt/slides/slide5.xml" Id="R18a627572e8a44b8" /><Relationship Type="http://schemas.openxmlformats.org/officeDocument/2006/relationships/notesMaster" Target="/ppt/notesMasters/notesMaster1.xml" Id="R15b8391a20ff4552" /></Relationships>
</file>

<file path=ppt/notesSlides/_rels/notesSlide6.xml.rels>&#65279;<?xml version="1.0" encoding="utf-8"?><Relationships xmlns="http://schemas.openxmlformats.org/package/2006/relationships"><Relationship Type="http://schemas.openxmlformats.org/officeDocument/2006/relationships/slide" Target="/ppt/slides/slide6.xml" Id="R2a838ef789574420" /><Relationship Type="http://schemas.openxmlformats.org/officeDocument/2006/relationships/notesMaster" Target="/ppt/notesMasters/notesMaster1.xml" Id="Rd53aed81fe28474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0c772f09804488e" /><Relationship Type="http://schemas.openxmlformats.org/officeDocument/2006/relationships/notesMaster" Target="/ppt/notesMasters/notesMaster1.xml" Id="R095d3a8d22724cb1" /></Relationships>
</file>

<file path=ppt/notesSlides/_rels/notesSlide8.xml.rels>&#65279;<?xml version="1.0" encoding="utf-8"?><Relationships xmlns="http://schemas.openxmlformats.org/package/2006/relationships"><Relationship Type="http://schemas.openxmlformats.org/officeDocument/2006/relationships/slide" Target="/ppt/slides/slide8.xml" Id="R88a75c87dd684d34" /><Relationship Type="http://schemas.openxmlformats.org/officeDocument/2006/relationships/notesMaster" Target="/ppt/notesMasters/notesMaster1.xml" Id="R2265edd5cbb74fe0" /></Relationships>
</file>

<file path=ppt/notesSlides/_rels/notesSlide9.xml.rels>&#65279;<?xml version="1.0" encoding="utf-8"?><Relationships xmlns="http://schemas.openxmlformats.org/package/2006/relationships"><Relationship Type="http://schemas.openxmlformats.org/officeDocument/2006/relationships/slide" Target="/ppt/slides/slide9.xml" Id="Rfac89bd82be54fca" /><Relationship Type="http://schemas.openxmlformats.org/officeDocument/2006/relationships/notesMaster" Target="/ppt/notesMasters/notesMaster1.xml" Id="Ra0bcb0f88dbc49f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d8e0932a9ff643f3" /><Relationship Type="http://schemas.openxmlformats.org/officeDocument/2006/relationships/notesMaster" Target="/ppt/notesMasters/notesMaster1.xml" Id="Rce85b1619d64487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3c4d36139ec4bd9" /><Relationship Type="http://schemas.openxmlformats.org/officeDocument/2006/relationships/notesMaster" Target="/ppt/notesMasters/notesMaster1.xml" Id="R4bf910300b5443e7"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8b1f6956ac594746" /><Relationship Type="http://schemas.openxmlformats.org/officeDocument/2006/relationships/notesMaster" Target="/ppt/notesMasters/notesMaster1.xml" Id="Rbaf58cfadbbb4eeb"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044b6b4b6a364298" /><Relationship Type="http://schemas.openxmlformats.org/officeDocument/2006/relationships/notesMaster" Target="/ppt/notesMasters/notesMaster1.xml" Id="R0e4a6726eac74141"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0172105a92994128" /><Relationship Type="http://schemas.openxmlformats.org/officeDocument/2006/relationships/notesMaster" Target="/ppt/notesMasters/notesMaster1.xml" Id="R16766794531c4d1f"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9e024c233c3449b" /><Relationship Type="http://schemas.openxmlformats.org/officeDocument/2006/relationships/notesMaster" Target="/ppt/notesMasters/notesMaster1.xml" Id="R0726b06e567643e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20 seconds.</a:t>
            </a:r>
          </a:p>
          <a:p xmlns:a="http://schemas.openxmlformats.org/drawingml/2006/main">
            <a:r>
              <a:t/>
            </a:r>
          </a:p>
          <a:p xmlns:a="http://schemas.openxmlformats.org/drawingml/2006/main">
            <a:r>
              <a:t>BizWizard helps a small-business owner make financing and cash decisions using the records the shop already keeps. We will follow an owner from a cash concern to a proposed action, then show the controls and evidence behind that action.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README.md</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This is an example of the decision problem, not a measured market statistic. Stock can consume cash before a sale. A credit sale creates revenue before collection. Bills can arrive in between. An owner needs to know whether to collect, reduce spending, change stock or seek financing.</a:t>
            </a:r>
          </a:p>
          <a:p xmlns:a="http://schemas.openxmlformats.org/drawingml/2006/main">
            <a:r>
              <a:t/>
            </a:r>
          </a:p>
          <a:p xmlns:a="http://schemas.openxmlformats.org/drawingml/2006/main">
            <a:r>
              <a:t>This slide describes an illustrative scenario. It makes no market-size or customer-adoption claim.</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PLAN.md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These are the three capabilities in Topic E. BizWizard uses sales, inventory, debt and expense records already present in the application. The same shop scope carries into financing, treasury and analysis. The responsive interface supports smaller screens as well.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client/src/app/(dashboard)/finance</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35 seconds.</a:t>
            </a:r>
          </a:p>
          <a:p xmlns:a="http://schemas.openxmlformats.org/drawingml/2006/main">
            <a:r>
              <a:t/>
            </a:r>
          </a:p>
          <a:p xmlns:a="http://schemas.openxmlformats.org/drawingml/2006/main">
            <a:r>
              <a:t>Follow a collection decision through the system. The cash engine raises an alert from scoped records. A treasury recommendation comes from a prepared menu and passes financial guards. The owner can approve a plan. Collection evidence must link an existing recorded debt payment. Approval alone cannot claim that cash arrived. Financing acceptance follows a separate application workflow.</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server/src/app/modules/finance/cashflow/cashflow.service.ts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Matching needs at least 60 percent sales-day completeness across a 90-day window. Deterministic weights are affordability 30 percent, cost 25, liquidity 20, collateral 15 and flexibility 10. AI score changes stay within 15 points before a 60/40 blend. Pricing and negotiation use deterministic policies, not LLM-to-LLM bargaining. Initial offers pass guards. Acceptance checks scope, offer state and expiry but does not re-underwrite current affordability. The displayed APR is an annualized cost approximation. The screenshot illustrates the UI, not a live lender quote.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server/src/app/modules/finance/matching/matching.service.ts</a:t>
            </a:r>
          </a:p>
          <a:p xmlns:a="http://schemas.openxmlformats.org/drawingml/2006/main">
            <a:r>
              <a:t>server/src/app/modules/finance/shared/agentCore.ts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The projection uses recent inflow and outflow levels, weekday patterns and a clipped trend. Dated commitments and probability-weighted receivables change future balances. Nine conditions span eight alert families, with separate 30-day and 60-day debt-aging conditions. Non-simulated sales, debt payments and expenses synchronize through PostgreSQL triggers. Demo shops use an isolated simulator ledger. The demo screenshot shows a low cash buffer and a collection recommendation.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server/src/app/modules/finance/shared/cashEngine.ts</a:t>
            </a:r>
          </a:p>
          <a:p xmlns:a="http://schemas.openxmlformats.org/drawingml/2006/main">
            <a:r>
              <a:t>server/src/app/modules/finance/shared/alerts.ts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The analyst can propose a candidate explanation. Code checks how much of a nonzero gap the candidate accounts for. A residual of at most ten percent allows the verified label. This is accounting attribution, not proof that changing the product caused profit to rise. Product economics and working-capital measures give context. Price, collection, cost and mix scenarios use simplified models. Observed capital outcomes compare 30-day windows and remain non-causal.</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server/src/app/modules/finance/shared/verifier.ts</a:t>
            </a:r>
          </a:p>
          <a:p xmlns:a="http://schemas.openxmlformats.org/drawingml/2006/main">
            <a:r>
              <a:t>server/src/app/modules/finance/analysis/analysis.service.ts</a:t>
            </a:r>
          </a:p>
          <a:p xmlns:a="http://schemas.openxmlformats.org/drawingml/2006/main">
            <a:r>
              <a:t>submission/presentation/assets/provenance.json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40 seconds.</a:t>
            </a:r>
          </a:p>
          <a:p xmlns:a="http://schemas.openxmlformats.org/drawingml/2006/main">
            <a:r>
              <a:t/>
            </a:r>
          </a:p>
          <a:p xmlns:a="http://schemas.openxmlformats.org/drawingml/2006/main">
            <a:r>
              <a:t>The browser uses a same-origin Next.js API rewrite. Express verifies the token, explicit role, tenant membership and employee shop assignment, then validates requests. Services use PostgreSQL through Prisma. The finance engines calculate money and constraints in TypeScript. The optional provider receives minimized structured inputs through a shared runtime. Upload and push providers exist outside this finance diagram. One production database serves the app; the local disposable test database is evidence infrastructure.</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client/next.config.ts</a:t>
            </a:r>
          </a:p>
          <a:p xmlns:a="http://schemas.openxmlformats.org/drawingml/2006/main">
            <a:r>
              <a:t>server/src/app.ts</a:t>
            </a:r>
          </a:p>
          <a:p xmlns:a="http://schemas.openxmlformats.org/drawingml/2006/main">
            <a:r>
              <a:t>server/src/app/middlewares/verifyTenant.ts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40 seconds.</a:t>
            </a:r>
          </a:p>
          <a:p xmlns:a="http://schemas.openxmlformats.org/drawingml/2006/main">
            <a:r>
              <a:t/>
            </a:r>
          </a:p>
          <a:p xmlns:a="http://schemas.openxmlformats.org/drawingml/2006/main">
            <a:r>
              <a:t>The AI role varies by workflow. It can enrich eligible product ranking, select a treasury option or suggest a hypothesis. The live matched evaluation also asks for constrained policy choices. Pricing and lender/borrower negotiation are deterministic agent policies. Structured output uses Zod, allowed identifiers and independent financial checks. The runtime allows one repair retry within a deadline. A per-tenant monthly reservation gate limits estimated spend. Usage and some decision logs are best-effort, so logging gaps remain a known risk.</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submission/security/main.tex</a:t>
            </a:r>
          </a:p>
          <a:p xmlns:a="http://schemas.openxmlformats.org/drawingml/2006/main">
            <a:r>
              <a:t>server/src/lib/ai/client.ts</a:t>
            </a:r>
          </a:p>
          <a:p xmlns:a="http://schemas.openxmlformats.org/drawingml/2006/main">
            <a:r>
              <a:t>server/src/lib/ai/budget.ts</a:t>
            </a:r>
          </a:p>
          <a:p xmlns:a="http://schemas.openxmlformats.org/drawingml/2006/main">
            <a:r>
              <a:t>server/src/app/modules/finance/shared/agentCore.ts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40 seconds.</a:t>
            </a:r>
          </a:p>
          <a:p xmlns:a="http://schemas.openxmlformats.org/drawingml/2006/main">
            <a:r>
              <a:t/>
            </a:r>
          </a:p>
          <a:p xmlns:a="http://schemas.openxmlformats.org/drawingml/2006/main">
            <a:r>
              <a:t>This table summarizes finance routes. Owners operate within their tenant. Admins are trusted and can bypass tenant membership checks. Employees can read assigned-shop finance, including sensitive exports, and acknowledge alerts. Owner/admin roles control finance mutations. Public users have no finance access. Approval does not initiate a real bank transfer. We have not performed an independent penetration test or a restore drill. Browser localStorage tokens, incomplete redaction, mutable best-effort logs and recovery verification remain in the risk register.</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submission/security/main.tex</a:t>
            </a:r>
          </a:p>
          <a:p xmlns:a="http://schemas.openxmlformats.org/drawingml/2006/main">
            <a:r>
              <a:t>server/src/app/modules/finance/matching/matching.routes.ts</a:t>
            </a:r>
          </a:p>
          <a:p xmlns:a="http://schemas.openxmlformats.org/drawingml/2006/main">
            <a:r>
              <a:t>server/src/app/modules/finance/cashflow/cashflow.routes.ts</a:t>
            </a:r>
          </a:p>
          <a:p xmlns:a="http://schemas.openxmlformats.org/drawingml/2006/main">
            <a:r>
              <a:t>server/src/app/middlewares/verifyFinanceShopAccess.ts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45 seconds.</a:t>
            </a:r>
          </a:p>
          <a:p xmlns:a="http://schemas.openxmlformats.org/drawingml/2006/main">
            <a:r>
              <a:t/>
            </a:r>
          </a:p>
          <a:p xmlns:a="http://schemas.openxmlformats.org/drawingml/2006/main">
            <a:r>
              <a:t>The standalone live benchmark made three successful gpt-4o-mini calls without fallback at synthetic default-risk inputs of 5, 20 and 50 percent. Across four roles that gives 12 comparisons: four AI wins, five rules wins and three ties. Borrower modeled cost improved in all three cases. The analyst lost in all three, the treasurer tied, and lender results depended on risk. These are different financial metrics and cannot be summed as profit. Separately, the saved PostgreSQL execution report records 11 passing tests across five suites and successful migrations. We retain these as saved evidence, not as tests rerun during this presentation build. Technical backup provides paired shop-specific results.</a:t>
            </a:r>
          </a:p>
          <a:p xmlns:a="http://schemas.openxmlformats.org/drawingml/2006/main">
            <a:r>
              <a:t/>
            </a:r>
          </a:p>
          <a:p xmlns:a="http://schemas.openxmlformats.org/drawingml/2006/main">
            <a:r>
              <a:t>Benchmark total estimated API cost: USD 0.000273. Scope: standalone synthetic policy benchmark, not the entire application negotiation pipeline.</a:t>
            </a:r>
          </a:p>
          <a:p xmlns:a="http://schemas.openxmlformats.org/drawingml/2006/main">
            <a:r>
              <a:t/>
            </a:r>
          </a:p>
          <a:p xmlns:a="http://schemas.openxmlformats.org/drawingml/2006/main">
            <a:r>
              <a:t>Sources</a:t>
            </a:r>
          </a:p>
          <a:p xmlns:a="http://schemas.openxmlformats.org/drawingml/2006/main">
            <a:r>
              <a:t>evidence/submission/benchmark-live-results.json</a:t>
            </a:r>
          </a:p>
          <a:p xmlns:a="http://schemas.openxmlformats.org/drawingml/2006/main">
            <a:r>
              <a:t>evidence/submission/sandbox-operation-logs.json</a:t>
            </a:r>
          </a:p>
          <a:p xmlns:a="http://schemas.openxmlformats.org/drawingml/2006/main">
            <a:r>
              <a:t>submission/technical/main.tex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Suggested speaking time: 15 seconds.</a:t>
            </a:r>
          </a:p>
          <a:p xmlns:a="http://schemas.openxmlformats.org/drawingml/2006/main">
            <a:r>
              <a:t/>
            </a:r>
          </a:p>
          <a:p xmlns:a="http://schemas.openxmlformats.org/drawingml/2006/main">
            <a:r>
              <a:t>Close the prepared presentation and move to the demonstration. In a synthetic account or dedicated demo workspace, open Cash Flow, inspect a dated alert, then show a financing option and its explanation. Finish in AI Agent Ledger with the matched evaluation and downloadable evidence. Avoid running a paid call during the talk. If network access fails, use the included screenshots and backup evidence slides. Current limitations remain explicit: sandbox financing, no external money execution and no demonstrated real-world alpha.</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submission/technical/main.tex</a:t>
            </a:r>
          </a:p>
          <a:p xmlns:a="http://schemas.openxmlformats.org/drawingml/2006/main">
            <a:r>
              <a:t>README.md</a:t>
            </a:r>
          </a:p>
          <a:p xmlns:a="http://schemas.openxmlformats.org/drawingml/2006/main">
            <a:r>
              <a:t>https://bizwizard.sadman.app/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separate shop-specific live policy run, not another summary of the three risk cases. The saved report used gpt-4o-mini without fallback and estimated USD 0.000155 in API cost. Inputs and mandate versions froze before outcome replay. Eight common-draw paths yield the displayed means. Borrower improvements are cost reductions, so the AI-favouring delta is baseline minus participant. Lender, treasurer and analyst use participant minus baseline. Lender and borrower experiments use different assumptions and remain independent. The paired replay is a simplified model, not observed financial impact.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evidence/submission/matched-evaluation-live.json</a:t>
            </a:r>
          </a:p>
          <a:p xmlns:a="http://schemas.openxmlformats.org/drawingml/2006/main">
            <a:r>
              <a:t>evidence/submission/matched-replay-verification.json</a:t>
            </a:r>
          </a:p>
          <a:p xmlns:a="http://schemas.openxmlformats.org/drawingml/2006/main">
            <a:r>
              <a:t>submission/technical/main.tex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Install the server dependencies first. Offline benchmark mode uses deterministic fixtures, not AI, and needs no database. Live mode needs the reviewer’s own OpenAI key. The evidence runner requires EVIDENCE_DATABASE_URL pointing to 127.0.0.1 and the disposable simulator_test database. It creates a fresh schema, applies migrations and disables paid AI. Replay requires installed dependencies and the exported JSON only. Outputs are JSON reports that can be regenerated. The source README has the full setup and deployment instructions. Private repositories require an invitation.</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README.md</a:t>
            </a:r>
          </a:p>
          <a:p xmlns:a="http://schemas.openxmlformats.org/drawingml/2006/main">
            <a:r>
              <a:t>server/scripts/benchmark-finance.ts</a:t>
            </a:r>
          </a:p>
          <a:p xmlns:a="http://schemas.openxmlformats.org/drawingml/2006/main">
            <a:r>
              <a:t>server/scripts/evidence-scenarios.ts</a:t>
            </a:r>
          </a:p>
          <a:p xmlns:a="http://schemas.openxmlformats.org/drawingml/2006/main">
            <a:r>
              <a:t>evidence/submission/sandbox-operation-logs.json</a:t>
            </a:r>
          </a:p>
          <a:p xmlns:a="http://schemas.openxmlformats.org/drawingml/2006/main">
            <a:r>
              <a:t>evidence/submission/matched-replay-verification.json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is a working sandbox prototype. Known risks include localStorage access tokens, incomplete redaction, trusted administrators, mutable or missing audit records, no verified application-wide rate limiting, unmeasured restore capability, Float-based money and heuristic models. Offer acceptance does not re-underwrite current affordability. These are documented limitations, not completed certifications. Stronger controls and a separate legal assessment would precede real lending or sensitive customer deployment.</a:t>
            </a:r>
          </a:p>
          <a:p xmlns:a="http://schemas.openxmlformats.org/drawingml/2006/main">
            <a:r>
              <a:t/>
            </a:r>
          </a:p>
          <a:p xmlns:a="http://schemas.openxmlformats.org/drawingml/2006/main">
            <a:r>
              <a:t/>
            </a:r>
          </a:p>
          <a:p xmlns:a="http://schemas.openxmlformats.org/drawingml/2006/main">
            <a:r>
              <a:t/>
            </a:r>
          </a:p>
          <a:p xmlns:a="http://schemas.openxmlformats.org/drawingml/2006/main">
            <a:r>
              <a:t>Sources</a:t>
            </a:r>
          </a:p>
          <a:p xmlns:a="http://schemas.openxmlformats.org/drawingml/2006/main">
            <a:r>
              <a:t>submission/security/main.tex</a:t>
            </a:r>
          </a:p>
          <a:p xmlns:a="http://schemas.openxmlformats.org/drawingml/2006/main">
            <a:r>
              <a:t>submission/technical/main.tex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7e55c98cd8c4c56"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a463b4b22aae442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29fce10bcf74630"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ffc5aafabf2451f"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3327fa1567c42b2"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e060833215b4d0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67AC62C-46B1-4BA3-87A9-9C597EB5CC1D}"/>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AE0AACE-4460-40B6-B056-27B44DC54A35}"/>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7EF70B10-C298-47EF-8E4E-C0975796B62C}"/>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41D3D16-7349-43EC-977A-C455500F0018}"/>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F4C0AA0-EACA-4236-9D85-F464AB526518}"/>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AB046ADA-A837-4AE2-891A-9011142CB91E}"/>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BD7641A-FADC-4709-B044-4FBDE4CA54EB}"/>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DA7E572-B7DF-443E-9B4D-F1C1273C0FAE}"/>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01BB4CD-5E14-464B-BBB0-F9BD098461F2}"/>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1594BC3-B53B-4588-BD4C-09A6C9DE1D91}"/>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8f8087701274dfa" /><Relationship Type="http://schemas.openxmlformats.org/officeDocument/2006/relationships/slideLayout" Target="/ppt/slideLayouts/slideLayout1.xml" Id="Re45129cf6a5147e0" /><Relationship Type="http://schemas.openxmlformats.org/officeDocument/2006/relationships/slideLayout" Target="/ppt/slideLayouts/slideLayout2.xml" Id="Rbfdc81efc5354fd1" /><Relationship Type="http://schemas.openxmlformats.org/officeDocument/2006/relationships/slideLayout" Target="/ppt/slideLayouts/slideLayout3.xml" Id="R01ed7d7fbfe2428e" /><Relationship Type="http://schemas.openxmlformats.org/officeDocument/2006/relationships/slideLayout" Target="/ppt/slideLayouts/slideLayout4.xml" Id="R17b62052549645c1" /><Relationship Type="http://schemas.openxmlformats.org/officeDocument/2006/relationships/slideLayout" Target="/ppt/slideLayouts/slideLayout5.xml" Id="R4e0db10536554c6c" /><Relationship Type="http://schemas.openxmlformats.org/officeDocument/2006/relationships/slideLayout" Target="/ppt/slideLayouts/slideLayout6.xml" Id="R1a7bea92961e42d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e45129cf6a5147e0"/>
    <p:sldLayoutId xmlns:r="http://schemas.openxmlformats.org/officeDocument/2006/relationships" id="2147483650" r:id="Rbfdc81efc5354fd1"/>
    <p:sldLayoutId xmlns:r="http://schemas.openxmlformats.org/officeDocument/2006/relationships" id="2147483651" r:id="R01ed7d7fbfe2428e"/>
    <p:sldLayoutId xmlns:r="http://schemas.openxmlformats.org/officeDocument/2006/relationships" id="2147483652" r:id="R17b62052549645c1"/>
    <p:sldLayoutId xmlns:r="http://schemas.openxmlformats.org/officeDocument/2006/relationships" id="2147483653" r:id="R4e0db10536554c6c"/>
    <p:sldLayoutId xmlns:r="http://schemas.openxmlformats.org/officeDocument/2006/relationships" id="2147483654" r:id="R1a7bea92961e42d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966fb7efc72e416d" /><Relationship Type="http://schemas.openxmlformats.org/officeDocument/2006/relationships/image" Target="/ppt/media/image.png" Id="R867a97d5d7c8455b" /><Relationship Type="http://schemas.openxmlformats.org/officeDocument/2006/relationships/notesSlide" Target="/ppt/notesSlides/notesSlide1.xml" Id="Rbbda3400c2274705"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7698483b981e4fe0" /><Relationship Type="http://schemas.openxmlformats.org/officeDocument/2006/relationships/notesSlide" Target="/ppt/notesSlides/notesSlide2.xml" Id="R6101ef6881f64ae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419183c1615246ce" /><Relationship Type="http://schemas.openxmlformats.org/officeDocument/2006/relationships/image" Target="/ppt/media/image2.png" Id="R561934d884ec46f7" /><Relationship Type="http://schemas.openxmlformats.org/officeDocument/2006/relationships/image" Target="/ppt/media/image3.png" Id="R876ac1effd6946a4" /><Relationship Type="http://schemas.openxmlformats.org/officeDocument/2006/relationships/notesSlide" Target="/ppt/notesSlides/notesSlide3.xml" Id="R7be9942fc490463e"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f9b956be2b7d43eb" /><Relationship Type="http://schemas.openxmlformats.org/officeDocument/2006/relationships/notesSlide" Target="/ppt/notesSlides/notesSlide4.xml" Id="Reb5b25ed005441bc"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f072e206ffc40f9" /><Relationship Type="http://schemas.openxmlformats.org/officeDocument/2006/relationships/image" Target="/ppt/media/image4.png" Id="R8addd21bf24c49ce" /><Relationship Type="http://schemas.openxmlformats.org/officeDocument/2006/relationships/notesSlide" Target="/ppt/notesSlides/notesSlide5.xml" Id="Rdd19b77597c14764"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924295dcdc4463d" /><Relationship Type="http://schemas.openxmlformats.org/officeDocument/2006/relationships/image" Target="/ppt/media/image5.png" Id="Rb4451bddf5f544fc" /><Relationship Type="http://schemas.openxmlformats.org/officeDocument/2006/relationships/notesSlide" Target="/ppt/notesSlides/notesSlide6.xml" Id="R209ba6ab96d748a6"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f02dcc3b1dae4dde" /><Relationship Type="http://schemas.openxmlformats.org/officeDocument/2006/relationships/image" Target="/ppt/media/image6.png" Id="R50748e91c0fa4993" /><Relationship Type="http://schemas.openxmlformats.org/officeDocument/2006/relationships/notesSlide" Target="/ppt/notesSlides/notesSlide7.xml" Id="R2850c3ab3466428e"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3f868ee656a74802" /><Relationship Type="http://schemas.openxmlformats.org/officeDocument/2006/relationships/notesSlide" Target="/ppt/notesSlides/notesSlide8.xml" Id="R5b0f1b4e79ee4012"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8b33d943c3d4cad" /><Relationship Type="http://schemas.openxmlformats.org/officeDocument/2006/relationships/notesSlide" Target="/ppt/notesSlides/notesSlide9.xml" Id="R0379ec7604b145b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00969e38f1284ccf" /><Relationship Type="http://schemas.openxmlformats.org/officeDocument/2006/relationships/notesSlide" Target="/ppt/notesSlides/notesSlide10.xml" Id="R2c64797a3399403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f6f56b62c4b4c2e" /><Relationship Type="http://schemas.openxmlformats.org/officeDocument/2006/relationships/chart" Target="/ppt/slides/charts/chart1.xml" Id="Rb3a62fe5fe6c4924" /><Relationship Type="http://schemas.openxmlformats.org/officeDocument/2006/relationships/notesSlide" Target="/ppt/notesSlides/notesSlide11.xml" Id="Rab088069dc3a445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9bf2b63206bf4ef3" /><Relationship Type="http://schemas.openxmlformats.org/officeDocument/2006/relationships/hyperlink" Target="https://bizwizard.sadman.app/" TargetMode="External" Id="R8f96833b18a24cbf" /><Relationship Type="http://schemas.openxmlformats.org/officeDocument/2006/relationships/notesSlide" Target="/ppt/notesSlides/notesSlide12.xml" Id="R0124d7a00fd547b5"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cbe6832c47974d82" /><Relationship Type="http://schemas.openxmlformats.org/officeDocument/2006/relationships/notesSlide" Target="/ppt/notesSlides/notesSlide13.xml" Id="R977a8de8d3874c7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09d27d2c150f474d" /><Relationship Type="http://schemas.openxmlformats.org/officeDocument/2006/relationships/notesSlide" Target="/ppt/notesSlides/notesSlide14.xml" Id="R0bf3f38838a2455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d9d924a328c7499d" /><Relationship Type="http://schemas.openxmlformats.org/officeDocument/2006/relationships/notesSlide" Target="/ppt/notesSlides/notesSlide15.xml" Id="Rc912f48e0ca24b44"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AI wins</c:v>
          </c:tx>
          <c:spPr>
            <a:solidFill xmlns:a="http://schemas.openxmlformats.org/drawingml/2006/main">
              <a:srgbClr val="2463EB"/>
            </a:solidFill>
          </c:spPr>
          <c:invertIfNegative val="0"/>
          <c:dLbls>
            <c:dLbl>
              <c:idx val="0"/>
              <c:showVal val="0"/>
            </c:dLbl>
            <c:dLbl>
              <c:idx val="1"/>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cat>
            <c:strRef>
              <c:f>'Chart Data'!$A$2:$A$5</c:f>
              <c:strCache>
                <c:ptCount val="4"/>
                <c:pt idx="0">
                  <c:v>Analyst</c:v>
                </c:pt>
                <c:pt idx="1">
                  <c:v>Treasurer</c:v>
                </c:pt>
                <c:pt idx="2">
                  <c:v>Borrower</c:v>
                </c:pt>
                <c:pt idx="3">
                  <c:v>Lender</c:v>
                </c:pt>
              </c:strCache>
            </c:strRef>
          </c:cat>
          <c:val>
            <c:numRef>
              <c:f>'Chart Data'!$B$2:$B$5</c:f>
              <c:numCache>
                <c:formatCode>0</c:formatCode>
                <c:ptCount val="4"/>
                <c:pt idx="0">
                  <c:v>0</c:v>
                </c:pt>
                <c:pt idx="1">
                  <c:v>0</c:v>
                </c:pt>
                <c:pt idx="2">
                  <c:v>3</c:v>
                </c:pt>
                <c:pt idx="3">
                  <c:v>1</c:v>
                </c:pt>
              </c:numCache>
            </c:numRef>
          </c:val>
        </c:ser>
        <c:ser>
          <c:idx val="1"/>
          <c:order val="1"/>
          <c:tx>
            <c:v>Rules wins</c:v>
          </c:tx>
          <c:spPr>
            <a:solidFill xmlns:a="http://schemas.openxmlformats.org/drawingml/2006/main">
              <a:srgbClr val="8B9BB6"/>
            </a:solidFill>
          </c:spPr>
          <c:invertIfNegative val="0"/>
          <c:dLbls>
            <c:dLbl>
              <c:idx val="1"/>
              <c:showVal val="0"/>
            </c:dLbl>
            <c:dLbl>
              <c:idx val="2"/>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cat>
            <c:strRef>
              <c:f>'Chart Data'!$C$2:$C$5</c:f>
              <c:strCache>
                <c:ptCount val="4"/>
                <c:pt idx="0">
                  <c:v>Analyst</c:v>
                </c:pt>
                <c:pt idx="1">
                  <c:v>Treasurer</c:v>
                </c:pt>
                <c:pt idx="2">
                  <c:v>Borrower</c:v>
                </c:pt>
                <c:pt idx="3">
                  <c:v>Lender</c:v>
                </c:pt>
              </c:strCache>
            </c:strRef>
          </c:cat>
          <c:val>
            <c:numRef>
              <c:f>'Chart Data'!$D$2:$D$5</c:f>
              <c:numCache>
                <c:formatCode>0</c:formatCode>
                <c:ptCount val="4"/>
                <c:pt idx="0">
                  <c:v>3</c:v>
                </c:pt>
                <c:pt idx="1">
                  <c:v>0</c:v>
                </c:pt>
                <c:pt idx="2">
                  <c:v>0</c:v>
                </c:pt>
                <c:pt idx="3">
                  <c:v>2</c:v>
                </c:pt>
              </c:numCache>
            </c:numRef>
          </c:val>
        </c:ser>
        <c:ser>
          <c:idx val="2"/>
          <c:order val="2"/>
          <c:tx>
            <c:v>Ties</c:v>
          </c:tx>
          <c:spPr>
            <a:solidFill xmlns:a="http://schemas.openxmlformats.org/drawingml/2006/main">
              <a:srgbClr val="B9D8E8"/>
            </a:solidFill>
          </c:spPr>
          <c:invertIfNegative val="0"/>
          <c:dLbls>
            <c:dLbl>
              <c:idx val="0"/>
              <c:showVal val="0"/>
            </c:dLbl>
            <c:dLbl>
              <c:idx val="2"/>
              <c:showVal val="0"/>
            </c:dLbl>
            <c:dLbl>
              <c:idx val="3"/>
              <c:showVal val="0"/>
            </c:dLbl>
            <c:numFmt formatCode="0" sourceLinked="0"/>
            <c:txPr>
              <a:bodyPr xmlns:a="http://schemas.openxmlformats.org/drawingml/2006/main" anchorCtr="1"/>
              <a:lstStyle xmlns:a="http://schemas.openxmlformats.org/drawingml/2006/main"/>
              <a:p xmlns:a="http://schemas.openxmlformats.org/drawingml/2006/main">
                <a:pPr>
                  <a:defRPr sz="2025" b="1">
                    <a:solidFill>
                      <a:srgbClr val="13243F"/>
                    </a:solidFill>
                    <a:latin typeface="Arial"/>
                    <a:ea typeface="Arial"/>
                    <a:cs typeface="Arial"/>
                  </a:defRPr>
                </a:pPr>
              </a:p>
            </c:txPr>
            <c:dLblPos val="ctr"/>
            <c:showLegendKey val="0"/>
            <c:showVal val="1"/>
            <c:showCatName val="0"/>
            <c:showSerName val="0"/>
            <c:showPercent val="0"/>
            <c:showBubbleSize val="0"/>
            <c:showLeaderLines val="0"/>
          </c:dLbls>
          <c:cat>
            <c:strRef>
              <c:f>'Chart Data'!$E$2:$E$5</c:f>
              <c:strCache>
                <c:ptCount val="4"/>
                <c:pt idx="0">
                  <c:v>Analyst</c:v>
                </c:pt>
                <c:pt idx="1">
                  <c:v>Treasurer</c:v>
                </c:pt>
                <c:pt idx="2">
                  <c:v>Borrower</c:v>
                </c:pt>
                <c:pt idx="3">
                  <c:v>Lender</c:v>
                </c:pt>
              </c:strCache>
            </c:strRef>
          </c:cat>
          <c:val>
            <c:numRef>
              <c:f>'Chart Data'!$F$2:$F$5</c:f>
              <c:numCache>
                <c:formatCode>0</c:formatCode>
                <c:ptCount val="4"/>
                <c:pt idx="0">
                  <c:v>0</c:v>
                </c:pt>
                <c:pt idx="1">
                  <c:v>3</c:v>
                </c:pt>
                <c:pt idx="2">
                  <c:v>0</c:v>
                </c:pt>
                <c:pt idx="3">
                  <c:v>0</c:v>
                </c:pt>
              </c:numCache>
            </c:numRef>
          </c:val>
        </c:ser>
        <c:dLbls>
          <c:numFmt formatCode="0" sourceLinked="0"/>
          <c:txPr>
            <a:bodyPr xmlns:a="http://schemas.openxmlformats.org/drawingml/2006/main" anchorCtr="1"/>
            <a:lstStyle xmlns:a="http://schemas.openxmlformats.org/drawingml/2006/main"/>
            <a:p xmlns:a="http://schemas.openxmlformats.org/drawingml/2006/main">
              <a:pPr>
                <a:defRPr sz="2025" b="1">
                  <a:solidFill>
                    <a:srgbClr val="FFFFFF"/>
                  </a:solidFill>
                  <a:latin typeface="Arial"/>
                  <a:ea typeface="Arial"/>
                  <a:cs typeface="Arial"/>
                </a:defRPr>
              </a:pPr>
            </a:p>
          </c:txPr>
          <c:dLblPos val="ctr"/>
          <c:showLegendKey val="0"/>
          <c:showVal val="1"/>
          <c:showCatName val="0"/>
          <c:showSerName val="0"/>
          <c:showPercent val="0"/>
          <c:showBubbleSize val="0"/>
          <c:showLeaderLines val="0"/>
        </c:dLbls>
        <c:gapWidth val="70"/>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950">
                <a:solidFill>
                  <a:srgbClr val="13243F"/>
                </a:solidFill>
                <a:latin typeface="Arial"/>
                <a:ea typeface="Arial"/>
                <a:cs typeface="Arial"/>
              </a:defRPr>
            </a:pPr>
          </a:p>
        </c:txPr>
        <c:crossAx val="48672768"/>
      </c:catAx>
      <c:valAx>
        <c:axId val="48672768"/>
        <c:scaling>
          <c:orientation val="minMax"/>
          <c:max val="3"/>
          <c:min val="0"/>
        </c:scaling>
        <c:delete val="1"/>
        <c:axPos val="b"/>
        <c:numFmt formatCode="0"/>
        <c:majorTickMark val="none"/>
        <c:minorTickMark val="none"/>
        <c:spPr>
          <a:ln xmlns:a="http://schemas.openxmlformats.org/drawingml/2006/main" w="0">
            <a:noFill/>
          </a:ln>
        </c:spPr>
        <c:txPr>
          <a:bodyPr xmlns:a="http://schemas.openxmlformats.org/drawingml/2006/main" anchorCtr="1"/>
          <a:lstStyle xmlns:a="http://schemas.openxmlformats.org/drawingml/2006/main"/>
          <a:p xmlns:a="http://schemas.openxmlformats.org/drawingml/2006/main">
            <a:pPr>
              <a:defRPr sz="1875">
                <a:solidFill>
                  <a:srgbClr val="13243F"/>
                </a:solidFill>
                <a:latin typeface="Arial"/>
                <a:ea typeface="Arial"/>
                <a:cs typeface="Arial"/>
              </a:defRPr>
            </a:pPr>
          </a:p>
        </c:txPr>
        <c:crossAx val="48650112"/>
        <c:crossBetween val="between"/>
        <c:majorUnit val="1"/>
      </c:valAx>
      <c:spPr>
        <a:solidFill xmlns:a="http://schemas.openxmlformats.org/drawingml/2006/main">
          <a:srgbClr val="F6F8FC"/>
        </a:solidFill>
        <a:ln xmlns:a="http://schemas.openxmlformats.org/drawingml/2006/main" w="0">
          <a:noFill/>
        </a:ln>
      </c:spPr>
    </c:plotArea>
    <c:legend>
      <c:legendPos val="b"/>
      <c:overlay val="0"/>
      <c:txPr>
        <a:bodyPr xmlns:a="http://schemas.openxmlformats.org/drawingml/2006/main" anchorCtr="1"/>
        <a:lstStyle xmlns:a="http://schemas.openxmlformats.org/drawingml/2006/main"/>
        <a:p xmlns:a="http://schemas.openxmlformats.org/drawingml/2006/main">
          <a:pPr>
            <a:defRPr sz="1800">
              <a:solidFill>
                <a:srgbClr val="13243F"/>
              </a:solidFill>
              <a:latin typeface="Arial"/>
              <a:ea typeface="Arial"/>
              <a:cs typeface="Arial"/>
            </a:defRPr>
          </a:pPr>
        </a:p>
      </c:txPr>
    </c:legend>
    <c:plotVisOnly val="1"/>
  </c:chart>
  <c:spPr>
    <a:solidFill xmlns:a="http://schemas.openxmlformats.org/drawingml/2006/main">
      <a:srgbClr val="F6F8FC"/>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sp>
        <p:nvSpPr>
          <p:cNvPr id="10" name="BizWizard">
            <a:extLst xmlns:a="http://schemas.openxmlformats.org/drawingml/2006/main">
              <a:ext uri="{FF2B5EF4-FFF2-40B4-BE49-F238E27FC236}">
                <a16:creationId xmlns:a16="http://schemas.microsoft.com/office/drawing/2014/main" id="{BC5875DE-CE68-4DCE-85EC-93BE2197D48C}"/>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1">
            <a:extLst xmlns:a="http://schemas.openxmlformats.org/drawingml/2006/main">
              <a:ext uri="{FF2B5EF4-FFF2-40B4-BE49-F238E27FC236}">
                <a16:creationId xmlns:a16="http://schemas.microsoft.com/office/drawing/2014/main" id="{5D4927F3-7EA6-4656-9AE4-BAE0256952C5}"/>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01</a:t>
            </a:r>
          </a:p>
        </p:txBody>
      </p:sp>
      <p:sp>
        <p:nvSpPr>
          <p:cNvPr id="3" name="SME FINANCE COPILOT">
            <a:extLst xmlns:a="http://schemas.openxmlformats.org/drawingml/2006/main">
              <a:ext uri="{FF2B5EF4-FFF2-40B4-BE49-F238E27FC236}">
                <a16:creationId xmlns:a16="http://schemas.microsoft.com/office/drawing/2014/main" id="{665B7FBC-43BB-4E5B-8A27-CC9ADCBC8938}"/>
              </a:ext>
            </a:extLst>
          </p:cNvPr>
          <p:cNvSpPr>
            <a:spLocks xmlns:a="http://schemas.openxmlformats.org/drawingml/2006/main" noGrp="1"/>
          </p:cNvSpPr>
          <p:nvPr/>
        </p:nvSpPr>
        <p:spPr>
          <a:xfrm xmlns:a="http://schemas.openxmlformats.org/drawingml/2006/main">
            <a:off x="685800" y="1524000"/>
            <a:ext cx="6191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1">
                <a:solidFill>
                  <a:srgbClr val="94B6FF"/>
                </a:solidFill>
                <a:latin typeface="Arial"/>
                <a:ea typeface="Arial"/>
                <a:cs typeface="Arial"/>
              </a:defRPr>
            </a:defPPr>
          </a:lstStyle>
          <a:p xmlns:a="http://schemas.openxmlformats.org/drawingml/2006/main">
            <a:pPr algn="l">
              <a:defRPr sz="1650" b="1">
                <a:solidFill>
                  <a:srgbClr val="94B6FF"/>
                </a:solidFill>
                <a:latin typeface="Arial"/>
                <a:ea typeface="Arial"/>
                <a:cs typeface="Arial"/>
              </a:defRPr>
            </a:pPr>
            <a:r>
              <a:rPr sz="1650" b="1">
                <a:solidFill>
                  <a:srgbClr val="94B6FF"/>
                </a:solidFill>
                <a:latin typeface="Arial"/>
                <a:ea typeface="Arial"/>
                <a:cs typeface="Arial"/>
              </a:rPr>
              <a:t>SME FINANCE COPILOT</a:t>
            </a:r>
          </a:p>
        </p:txBody>
      </p:sp>
      <p:sp>
        <p:nvSpPr>
          <p:cNvPr id="4" name="BizWizard">
            <a:extLst xmlns:a="http://schemas.openxmlformats.org/drawingml/2006/main">
              <a:ext uri="{FF2B5EF4-FFF2-40B4-BE49-F238E27FC236}">
                <a16:creationId xmlns:a16="http://schemas.microsoft.com/office/drawing/2014/main" id="{5EC22386-2F98-4A9F-B106-11CB63CA9128}"/>
              </a:ext>
            </a:extLst>
          </p:cNvPr>
          <p:cNvSpPr>
            <a:spLocks xmlns:a="http://schemas.openxmlformats.org/drawingml/2006/main" noGrp="1"/>
          </p:cNvSpPr>
          <p:nvPr/>
        </p:nvSpPr>
        <p:spPr>
          <a:xfrm xmlns:a="http://schemas.openxmlformats.org/drawingml/2006/main">
            <a:off x="685800" y="2238375"/>
            <a:ext cx="65722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7950" b="1">
                <a:solidFill>
                  <a:srgbClr val="FFFFFF"/>
                </a:solidFill>
                <a:latin typeface="Arial"/>
                <a:ea typeface="Arial"/>
                <a:cs typeface="Arial"/>
              </a:defRPr>
            </a:defPPr>
          </a:lstStyle>
          <a:p xmlns:a="http://schemas.openxmlformats.org/drawingml/2006/main">
            <a:pPr algn="l">
              <a:defRPr sz="7950" b="1">
                <a:solidFill>
                  <a:srgbClr val="FFFFFF"/>
                </a:solidFill>
                <a:latin typeface="Arial"/>
                <a:ea typeface="Arial"/>
                <a:cs typeface="Arial"/>
              </a:defRPr>
            </a:pPr>
            <a:r>
              <a:rPr sz="7950" b="1">
                <a:solidFill>
                  <a:srgbClr val="FFFFFF"/>
                </a:solidFill>
                <a:latin typeface="Arial"/>
                <a:ea typeface="Arial"/>
                <a:cs typeface="Arial"/>
              </a:rPr>
              <a:t>BizWizard</a:t>
            </a:r>
          </a:p>
        </p:txBody>
      </p:sp>
      <p:sp>
        <p:nvSpPr>
          <p:cNvPr id="5" name="Financial decisions for the shop owner">
            <a:extLst xmlns:a="http://schemas.openxmlformats.org/drawingml/2006/main">
              <a:ext uri="{FF2B5EF4-FFF2-40B4-BE49-F238E27FC236}">
                <a16:creationId xmlns:a16="http://schemas.microsoft.com/office/drawing/2014/main" id="{885AE325-839E-4D23-B520-61B925D30939}"/>
              </a:ext>
            </a:extLst>
          </p:cNvPr>
          <p:cNvSpPr>
            <a:spLocks xmlns:a="http://schemas.openxmlformats.org/drawingml/2006/main" noGrp="1"/>
          </p:cNvSpPr>
          <p:nvPr/>
        </p:nvSpPr>
        <p:spPr>
          <a:xfrm xmlns:a="http://schemas.openxmlformats.org/drawingml/2006/main">
            <a:off x="685800" y="3667125"/>
            <a:ext cx="638175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350" b="1">
                <a:solidFill>
                  <a:srgbClr val="FFFFFF"/>
                </a:solidFill>
                <a:latin typeface="Arial"/>
                <a:ea typeface="Arial"/>
                <a:cs typeface="Arial"/>
              </a:defRPr>
            </a:defPPr>
          </a:lstStyle>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Financial decisions</a:t>
            </a:r>
          </a:p>
          <a:p xmlns:a="http://schemas.openxmlformats.org/drawingml/2006/main">
            <a:pPr algn="l">
              <a:defRPr sz="4350" b="1">
                <a:solidFill>
                  <a:srgbClr val="FFFFFF"/>
                </a:solidFill>
                <a:latin typeface="Arial"/>
                <a:ea typeface="Arial"/>
                <a:cs typeface="Arial"/>
              </a:defRPr>
            </a:pPr>
            <a:r>
              <a:rPr sz="4350" b="1">
                <a:solidFill>
                  <a:srgbClr val="FFFFFF"/>
                </a:solidFill>
                <a:latin typeface="Arial"/>
                <a:ea typeface="Arial"/>
                <a:cs typeface="Arial"/>
              </a:rPr>
              <a:t>for the shop owner</a:t>
            </a:r>
          </a:p>
        </p:txBody>
      </p:sp>
      <p:sp>
        <p:nvSpPr>
          <p:cNvPr id="6" name="Financing options, cash alerts and business analysis in one ">
            <a:extLst xmlns:a="http://schemas.openxmlformats.org/drawingml/2006/main">
              <a:ext uri="{FF2B5EF4-FFF2-40B4-BE49-F238E27FC236}">
                <a16:creationId xmlns:a16="http://schemas.microsoft.com/office/drawing/2014/main" id="{30E39D90-B6B3-4FB9-B4E6-79D2F3E315EB}"/>
              </a:ext>
            </a:extLst>
          </p:cNvPr>
          <p:cNvSpPr>
            <a:spLocks xmlns:a="http://schemas.openxmlformats.org/drawingml/2006/main" noGrp="1"/>
          </p:cNvSpPr>
          <p:nvPr/>
        </p:nvSpPr>
        <p:spPr>
          <a:xfrm xmlns:a="http://schemas.openxmlformats.org/drawingml/2006/main">
            <a:off x="723900" y="5429250"/>
            <a:ext cx="61912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ADBBD2"/>
                </a:solidFill>
                <a:latin typeface="Arial"/>
                <a:ea typeface="Arial"/>
                <a:cs typeface="Arial"/>
              </a:defRPr>
            </a:defPPr>
          </a:lstStyle>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Financing options, cash alerts</a:t>
            </a:r>
          </a:p>
          <a:p xmlns:a="http://schemas.openxmlformats.org/drawingml/2006/main">
            <a:pPr algn="l">
              <a:defRPr sz="2175" b="0">
                <a:solidFill>
                  <a:srgbClr val="ADBBD2"/>
                </a:solidFill>
                <a:latin typeface="Arial"/>
                <a:ea typeface="Arial"/>
                <a:cs typeface="Arial"/>
              </a:defRPr>
            </a:pPr>
            <a:r>
              <a:rPr sz="2175" b="0">
                <a:solidFill>
                  <a:srgbClr val="ADBBD2"/>
                </a:solidFill>
                <a:latin typeface="Arial"/>
                <a:ea typeface="Arial"/>
                <a:cs typeface="Arial"/>
              </a:rPr>
              <a:t>and business analysis in one workspace.</a:t>
            </a:r>
          </a:p>
        </p:txBody>
      </p:sp>
      <p:pic>
        <p:nvPicPr>
          <p:cNvPr id="7" name="">
            <a:extLst xmlns:a="http://schemas.openxmlformats.org/drawingml/2006/main">
              <a:ext uri="{FF2B5EF4-FFF2-40B4-BE49-F238E27FC236}">
                <a16:creationId xmlns:a16="http://schemas.microsoft.com/office/drawing/2014/main" id="{01EF039A-30D7-4267-9811-831FDEE220F2}"/>
              </a:ext>
            </a:extLst>
          </p:cNvPr>
          <p:cNvPicPr>
            <a:picLocks xmlns:a="http://schemas.openxmlformats.org/drawingml/2006/main" noChangeAspect="1"/>
          </p:cNvPicPr>
          <p:nvPr/>
        </p:nvPicPr>
        <p:blipFill>
          <a:blip xmlns:r="http://schemas.openxmlformats.org/officeDocument/2006/relationships" xmlns:a="http://schemas.openxmlformats.org/drawingml/2006/main" r:embed="R867a97d5d7c8455b"/>
          <a:stretch xmlns:a="http://schemas.openxmlformats.org/drawingml/2006/main"/>
        </p:blipFill>
        <p:spPr>
          <a:xfrm xmlns:a="http://schemas.openxmlformats.org/drawingml/2006/main">
            <a:off x="7574563" y="1790700"/>
            <a:ext cx="6977449" cy="4610100"/>
          </a:xfrm>
          <a:prstGeom xmlns:a="http://schemas.openxmlformats.org/drawingml/2006/main" prst="rect">
            <a:avLst/>
          </a:prstGeom>
        </p:spPr>
      </p:pic>
      <p:sp>
        <p:nvSpPr>
          <p:cNvPr id="8" name="Current product UI with illustrative demo data">
            <a:extLst xmlns:a="http://schemas.openxmlformats.org/drawingml/2006/main">
              <a:ext uri="{FF2B5EF4-FFF2-40B4-BE49-F238E27FC236}">
                <a16:creationId xmlns:a16="http://schemas.microsoft.com/office/drawing/2014/main" id="{FDC73EF3-61DE-4514-AAB2-B4AC92334982}"/>
              </a:ext>
            </a:extLst>
          </p:cNvPr>
          <p:cNvSpPr>
            <a:spLocks xmlns:a="http://schemas.openxmlformats.org/drawingml/2006/main" noGrp="1"/>
          </p:cNvSpPr>
          <p:nvPr/>
        </p:nvSpPr>
        <p:spPr>
          <a:xfrm xmlns:a="http://schemas.openxmlformats.org/drawingml/2006/main">
            <a:off x="7572375" y="6638925"/>
            <a:ext cx="69532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Current product UI with illustrative demo data</a:t>
            </a:r>
          </a:p>
        </p:txBody>
      </p:sp>
      <p:sp>
        <p:nvSpPr>
          <p:cNvPr id="9" name="2026 FinTechathon International Track">
            <a:extLst xmlns:a="http://schemas.openxmlformats.org/drawingml/2006/main">
              <a:ext uri="{FF2B5EF4-FFF2-40B4-BE49-F238E27FC236}">
                <a16:creationId xmlns:a16="http://schemas.microsoft.com/office/drawing/2014/main" id="{E9A9DAD3-88D8-4286-BE6C-86D6575C022D}"/>
              </a:ext>
            </a:extLst>
          </p:cNvPr>
          <p:cNvSpPr>
            <a:spLocks xmlns:a="http://schemas.openxmlformats.org/drawingml/2006/main" noGrp="1"/>
          </p:cNvSpPr>
          <p:nvPr/>
        </p:nvSpPr>
        <p:spPr>
          <a:xfrm xmlns:a="http://schemas.openxmlformats.org/drawingml/2006/main">
            <a:off x="723900" y="7820025"/>
            <a:ext cx="9525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ADBBD2"/>
                </a:solidFill>
                <a:latin typeface="Arial"/>
                <a:ea typeface="Arial"/>
                <a:cs typeface="Arial"/>
              </a:defRPr>
            </a:defPPr>
          </a:lstStyle>
          <a:p xmlns:a="http://schemas.openxmlformats.org/drawingml/2006/main">
            <a:pPr algn="l">
              <a:defRPr sz="1650" b="0">
                <a:solidFill>
                  <a:srgbClr val="ADBBD2"/>
                </a:solidFill>
                <a:latin typeface="Arial"/>
                <a:ea typeface="Arial"/>
                <a:cs typeface="Arial"/>
              </a:defRPr>
            </a:pPr>
            <a:r>
              <a:rPr sz="1650" b="0">
                <a:solidFill>
                  <a:srgbClr val="ADBBD2"/>
                </a:solidFill>
                <a:latin typeface="Arial"/>
                <a:ea typeface="Arial"/>
                <a:cs typeface="Arial"/>
              </a:rPr>
              <a:t>2026 FinTechathon International Track</a:t>
            </a:r>
          </a:p>
        </p:txBody>
      </p:sp>
    </p:spTree>
    <p:extLst>
      <p:ext uri="{BB962C8B-B14F-4D97-AF65-F5344CB8AC3E}">
        <p14:creationId xmlns:p14="http://schemas.microsoft.com/office/powerpoint/2010/main" val="1794823850"/>
      </p:ext>
    </p:extLst>
  </p:cSld>
</p:sld>
</file>

<file path=ppt/slides/slide2.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cxnSp>
        <p:nvCxnSpPr>
          <p:cNvPr id="15" name="">
            <a:extLst xmlns:a="http://schemas.openxmlformats.org/drawingml/2006/main">
              <a:ext uri="{FF2B5EF4-FFF2-40B4-BE49-F238E27FC236}">
                <a16:creationId xmlns:a16="http://schemas.microsoft.com/office/drawing/2014/main" id="{A82A6E5C-1CCE-485E-B17A-8D73D26E5777}"/>
              </a:ext>
            </a:extLst>
          </p:cNvPr>
          <p:cNvCxnSpPr>
            <a:stCxn xmlns:a="http://schemas.openxmlformats.org/drawingml/2006/main" id="8" idx="3"/>
            <a:endCxn xmlns:a="http://schemas.openxmlformats.org/drawingml/2006/main" id="11" idx="1"/>
          </p:cNvCxnSpPr>
          <p:nvPr/>
        </p:nvCxnSpPr>
        <p:spPr>
          <a:xfrm xmlns:a="http://schemas.openxmlformats.org/drawingml/2006/main">
            <a:off x="7286625" y="4210050"/>
            <a:ext cx="657225"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14" name="">
            <a:extLst xmlns:a="http://schemas.openxmlformats.org/drawingml/2006/main">
              <a:ext uri="{FF2B5EF4-FFF2-40B4-BE49-F238E27FC236}">
                <a16:creationId xmlns:a16="http://schemas.microsoft.com/office/drawing/2014/main" id="{98031BF8-93B0-4FC5-BBEA-BF178FB7ECA8}"/>
              </a:ext>
            </a:extLst>
          </p:cNvPr>
          <p:cNvCxnSpPr>
            <a:stCxn xmlns:a="http://schemas.openxmlformats.org/drawingml/2006/main" id="5" idx="3"/>
            <a:endCxn xmlns:a="http://schemas.openxmlformats.org/drawingml/2006/main" id="8" idx="1"/>
          </p:cNvCxnSpPr>
          <p:nvPr/>
        </p:nvCxnSpPr>
        <p:spPr>
          <a:xfrm xmlns:a="http://schemas.openxmlformats.org/drawingml/2006/main">
            <a:off x="3676650" y="4210050"/>
            <a:ext cx="657225"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sp>
        <p:nvSpPr>
          <p:cNvPr id="21" name="BizWizard">
            <a:extLst xmlns:a="http://schemas.openxmlformats.org/drawingml/2006/main">
              <a:ext uri="{FF2B5EF4-FFF2-40B4-BE49-F238E27FC236}">
                <a16:creationId xmlns:a16="http://schemas.microsoft.com/office/drawing/2014/main" id="{0A6B0C75-41F7-46CB-84C6-C1AD58C06B56}"/>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2">
            <a:extLst xmlns:a="http://schemas.openxmlformats.org/drawingml/2006/main">
              <a:ext uri="{FF2B5EF4-FFF2-40B4-BE49-F238E27FC236}">
                <a16:creationId xmlns:a16="http://schemas.microsoft.com/office/drawing/2014/main" id="{3FA13A59-DFB6-4648-A7FD-F3590A587F13}"/>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02</a:t>
            </a:r>
          </a:p>
        </p:txBody>
      </p:sp>
      <p:sp>
        <p:nvSpPr>
          <p:cNvPr id="3" name="Slide heading">
            <a:extLst xmlns:a="http://schemas.openxmlformats.org/drawingml/2006/main">
              <a:ext uri="{FF2B5EF4-FFF2-40B4-BE49-F238E27FC236}">
                <a16:creationId xmlns:a16="http://schemas.microsoft.com/office/drawing/2014/main" id="{CCC6AD52-C7AB-4754-A206-4829DF9F0471}"/>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 busy shop can still run short of cash</a:t>
            </a:r>
          </a:p>
        </p:txBody>
      </p:sp>
      <p:sp>
        <p:nvSpPr>
          <p:cNvPr id="4" name="An illustrative owner scenario">
            <a:extLst xmlns:a="http://schemas.openxmlformats.org/drawingml/2006/main">
              <a:ext uri="{FF2B5EF4-FFF2-40B4-BE49-F238E27FC236}">
                <a16:creationId xmlns:a16="http://schemas.microsoft.com/office/drawing/2014/main" id="{E98E89C8-A7C7-4235-9413-A06CC5978C03}"/>
              </a:ext>
            </a:extLst>
          </p:cNvPr>
          <p:cNvSpPr>
            <a:spLocks xmlns:a="http://schemas.openxmlformats.org/drawingml/2006/main" noGrp="1"/>
          </p:cNvSpPr>
          <p:nvPr/>
        </p:nvSpPr>
        <p:spPr>
          <a:xfrm xmlns:a="http://schemas.openxmlformats.org/drawingml/2006/main">
            <a:off x="723900" y="2266950"/>
            <a:ext cx="12382500" cy="409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An illustrative owner scenario</a:t>
            </a:r>
          </a:p>
        </p:txBody>
      </p:sp>
      <p:sp>
        <p:nvSpPr>
          <p:cNvPr id="5" name="Stock on the shelf">
            <a:extLst xmlns:a="http://schemas.openxmlformats.org/drawingml/2006/main">
              <a:ext uri="{FF2B5EF4-FFF2-40B4-BE49-F238E27FC236}">
                <a16:creationId xmlns:a16="http://schemas.microsoft.com/office/drawing/2014/main" id="{0A9728B8-BC84-4FF3-8F46-2E18F87223C8}"/>
              </a:ext>
            </a:extLst>
          </p:cNvPr>
          <p:cNvSpPr>
            <a:spLocks xmlns:a="http://schemas.openxmlformats.org/drawingml/2006/main" noGrp="1"/>
          </p:cNvSpPr>
          <p:nvPr/>
        </p:nvSpPr>
        <p:spPr>
          <a:xfrm xmlns:a="http://schemas.openxmlformats.org/drawingml/2006/main">
            <a:off x="723900"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6" name="Stock on the shelf">
            <a:extLst xmlns:a="http://schemas.openxmlformats.org/drawingml/2006/main">
              <a:ext uri="{FF2B5EF4-FFF2-40B4-BE49-F238E27FC236}">
                <a16:creationId xmlns:a16="http://schemas.microsoft.com/office/drawing/2014/main" id="{0E068780-2ED2-421E-9000-FF28FBF18213}"/>
              </a:ext>
            </a:extLst>
          </p:cNvPr>
          <p:cNvSpPr>
            <a:spLocks xmlns:a="http://schemas.openxmlformats.org/drawingml/2006/main" noGrp="1"/>
          </p:cNvSpPr>
          <p:nvPr/>
        </p:nvSpPr>
        <p:spPr>
          <a:xfrm xmlns:a="http://schemas.openxmlformats.org/drawingml/2006/main">
            <a:off x="933450"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Stock on the shelf</a:t>
            </a:r>
          </a:p>
        </p:txBody>
      </p:sp>
      <p:sp>
        <p:nvSpPr>
          <p:cNvPr id="7" name="Cash has already paid for inventory">
            <a:extLst xmlns:a="http://schemas.openxmlformats.org/drawingml/2006/main">
              <a:ext uri="{FF2B5EF4-FFF2-40B4-BE49-F238E27FC236}">
                <a16:creationId xmlns:a16="http://schemas.microsoft.com/office/drawing/2014/main" id="{8CFAF69A-14B0-4C4E-9D4E-0C62AE4F2386}"/>
              </a:ext>
            </a:extLst>
          </p:cNvPr>
          <p:cNvSpPr>
            <a:spLocks xmlns:a="http://schemas.openxmlformats.org/drawingml/2006/main" noGrp="1"/>
          </p:cNvSpPr>
          <p:nvPr/>
        </p:nvSpPr>
        <p:spPr>
          <a:xfrm xmlns:a="http://schemas.openxmlformats.org/drawingml/2006/main">
            <a:off x="933450"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Cash has already</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paid for inventory</a:t>
            </a:r>
          </a:p>
        </p:txBody>
      </p:sp>
      <p:sp>
        <p:nvSpPr>
          <p:cNvPr id="8" name="Sales on credit">
            <a:extLst xmlns:a="http://schemas.openxmlformats.org/drawingml/2006/main">
              <a:ext uri="{FF2B5EF4-FFF2-40B4-BE49-F238E27FC236}">
                <a16:creationId xmlns:a16="http://schemas.microsoft.com/office/drawing/2014/main" id="{393B1C08-DEAD-4ECD-9A44-51A4E802196C}"/>
              </a:ext>
            </a:extLst>
          </p:cNvPr>
          <p:cNvSpPr>
            <a:spLocks xmlns:a="http://schemas.openxmlformats.org/drawingml/2006/main" noGrp="1"/>
          </p:cNvSpPr>
          <p:nvPr/>
        </p:nvSpPr>
        <p:spPr>
          <a:xfrm xmlns:a="http://schemas.openxmlformats.org/drawingml/2006/main">
            <a:off x="4333875"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9" name="Sales on credit">
            <a:extLst xmlns:a="http://schemas.openxmlformats.org/drawingml/2006/main">
              <a:ext uri="{FF2B5EF4-FFF2-40B4-BE49-F238E27FC236}">
                <a16:creationId xmlns:a16="http://schemas.microsoft.com/office/drawing/2014/main" id="{1C645857-BC72-41A9-BC9E-525BAFD75C58}"/>
              </a:ext>
            </a:extLst>
          </p:cNvPr>
          <p:cNvSpPr>
            <a:spLocks xmlns:a="http://schemas.openxmlformats.org/drawingml/2006/main" noGrp="1"/>
          </p:cNvSpPr>
          <p:nvPr/>
        </p:nvSpPr>
        <p:spPr>
          <a:xfrm xmlns:a="http://schemas.openxmlformats.org/drawingml/2006/main">
            <a:off x="4543425"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Sales on credit</a:t>
            </a:r>
          </a:p>
        </p:txBody>
      </p:sp>
      <p:sp>
        <p:nvSpPr>
          <p:cNvPr id="10" name="Customers still owe the shop">
            <a:extLst xmlns:a="http://schemas.openxmlformats.org/drawingml/2006/main">
              <a:ext uri="{FF2B5EF4-FFF2-40B4-BE49-F238E27FC236}">
                <a16:creationId xmlns:a16="http://schemas.microsoft.com/office/drawing/2014/main" id="{6D451124-F4C0-4527-83C9-A6CA00859E6A}"/>
              </a:ext>
            </a:extLst>
          </p:cNvPr>
          <p:cNvSpPr>
            <a:spLocks xmlns:a="http://schemas.openxmlformats.org/drawingml/2006/main" noGrp="1"/>
          </p:cNvSpPr>
          <p:nvPr/>
        </p:nvSpPr>
        <p:spPr>
          <a:xfrm xmlns:a="http://schemas.openxmlformats.org/drawingml/2006/main">
            <a:off x="4543425"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Customers still</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owe the shop</a:t>
            </a:r>
          </a:p>
        </p:txBody>
      </p:sp>
      <p:sp>
        <p:nvSpPr>
          <p:cNvPr id="11" name="Bills approaching">
            <a:extLst xmlns:a="http://schemas.openxmlformats.org/drawingml/2006/main">
              <a:ext uri="{FF2B5EF4-FFF2-40B4-BE49-F238E27FC236}">
                <a16:creationId xmlns:a16="http://schemas.microsoft.com/office/drawing/2014/main" id="{6D5F2D4F-A0E9-417C-B86A-D7AE19DA13F2}"/>
              </a:ext>
            </a:extLst>
          </p:cNvPr>
          <p:cNvSpPr>
            <a:spLocks xmlns:a="http://schemas.openxmlformats.org/drawingml/2006/main" noGrp="1"/>
          </p:cNvSpPr>
          <p:nvPr/>
        </p:nvSpPr>
        <p:spPr>
          <a:xfrm xmlns:a="http://schemas.openxmlformats.org/drawingml/2006/main">
            <a:off x="7943850" y="3352800"/>
            <a:ext cx="2952750" cy="1714500"/>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2" name="Bills approaching">
            <a:extLst xmlns:a="http://schemas.openxmlformats.org/drawingml/2006/main">
              <a:ext uri="{FF2B5EF4-FFF2-40B4-BE49-F238E27FC236}">
                <a16:creationId xmlns:a16="http://schemas.microsoft.com/office/drawing/2014/main" id="{70D51A0E-2336-403A-A247-B66E198B5801}"/>
              </a:ext>
            </a:extLst>
          </p:cNvPr>
          <p:cNvSpPr>
            <a:spLocks xmlns:a="http://schemas.openxmlformats.org/drawingml/2006/main" noGrp="1"/>
          </p:cNvSpPr>
          <p:nvPr/>
        </p:nvSpPr>
        <p:spPr>
          <a:xfrm xmlns:a="http://schemas.openxmlformats.org/drawingml/2006/main">
            <a:off x="8153400" y="3543300"/>
            <a:ext cx="25336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Bills approaching</a:t>
            </a:r>
          </a:p>
        </p:txBody>
      </p:sp>
      <p:sp>
        <p:nvSpPr>
          <p:cNvPr id="13" name="Rent and suppliers need payment">
            <a:extLst xmlns:a="http://schemas.openxmlformats.org/drawingml/2006/main">
              <a:ext uri="{FF2B5EF4-FFF2-40B4-BE49-F238E27FC236}">
                <a16:creationId xmlns:a16="http://schemas.microsoft.com/office/drawing/2014/main" id="{AB352CC3-1075-41DD-90F9-9159A608A92E}"/>
              </a:ext>
            </a:extLst>
          </p:cNvPr>
          <p:cNvSpPr>
            <a:spLocks xmlns:a="http://schemas.openxmlformats.org/drawingml/2006/main" noGrp="1"/>
          </p:cNvSpPr>
          <p:nvPr/>
        </p:nvSpPr>
        <p:spPr>
          <a:xfrm xmlns:a="http://schemas.openxmlformats.org/drawingml/2006/main">
            <a:off x="8153400" y="4171950"/>
            <a:ext cx="2533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Rent and suppliers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need payment</a:t>
            </a:r>
          </a:p>
        </p:txBody>
      </p:sp>
      <p:sp>
        <p:nvSpPr>
          <p:cNvPr id="16" name="The owner’s question">
            <a:extLst xmlns:a="http://schemas.openxmlformats.org/drawingml/2006/main">
              <a:ext uri="{FF2B5EF4-FFF2-40B4-BE49-F238E27FC236}">
                <a16:creationId xmlns:a16="http://schemas.microsoft.com/office/drawing/2014/main" id="{EBE07B24-7DCA-4A78-BB05-3AC590899DB1}"/>
              </a:ext>
            </a:extLst>
          </p:cNvPr>
          <p:cNvSpPr>
            <a:spLocks xmlns:a="http://schemas.openxmlformats.org/drawingml/2006/main" noGrp="1"/>
          </p:cNvSpPr>
          <p:nvPr/>
        </p:nvSpPr>
        <p:spPr>
          <a:xfrm xmlns:a="http://schemas.openxmlformats.org/drawingml/2006/main">
            <a:off x="11458575" y="3352800"/>
            <a:ext cx="2952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1">
                <a:solidFill>
                  <a:srgbClr val="2463EB"/>
                </a:solidFill>
                <a:latin typeface="Arial"/>
                <a:ea typeface="Arial"/>
                <a:cs typeface="Arial"/>
              </a:defRPr>
            </a:defPPr>
          </a:lstStyle>
          <a:p xmlns:a="http://schemas.openxmlformats.org/drawingml/2006/main">
            <a:pPr algn="l">
              <a:defRPr sz="1875" b="1">
                <a:solidFill>
                  <a:srgbClr val="2463EB"/>
                </a:solidFill>
                <a:latin typeface="Arial"/>
                <a:ea typeface="Arial"/>
                <a:cs typeface="Arial"/>
              </a:defRPr>
            </a:pPr>
            <a:r>
              <a:rPr sz="1875" b="1">
                <a:solidFill>
                  <a:srgbClr val="2463EB"/>
                </a:solidFill>
                <a:latin typeface="Arial"/>
                <a:ea typeface="Arial"/>
                <a:cs typeface="Arial"/>
              </a:rPr>
              <a:t>The owner’s question</a:t>
            </a:r>
          </a:p>
        </p:txBody>
      </p:sp>
      <p:sp>
        <p:nvSpPr>
          <p:cNvPr id="17" name="“Can I pay and restock?”">
            <a:extLst xmlns:a="http://schemas.openxmlformats.org/drawingml/2006/main">
              <a:ext uri="{FF2B5EF4-FFF2-40B4-BE49-F238E27FC236}">
                <a16:creationId xmlns:a16="http://schemas.microsoft.com/office/drawing/2014/main" id="{FA932AA6-80CD-42D7-AFDA-BEA871CBCD32}"/>
              </a:ext>
            </a:extLst>
          </p:cNvPr>
          <p:cNvSpPr>
            <a:spLocks xmlns:a="http://schemas.openxmlformats.org/drawingml/2006/main" noGrp="1"/>
          </p:cNvSpPr>
          <p:nvPr/>
        </p:nvSpPr>
        <p:spPr>
          <a:xfrm xmlns:a="http://schemas.openxmlformats.org/drawingml/2006/main">
            <a:off x="11458575" y="3905250"/>
            <a:ext cx="3048000" cy="1162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3243F"/>
                </a:solidFill>
                <a:latin typeface="Arial"/>
                <a:ea typeface="Arial"/>
                <a:cs typeface="Arial"/>
              </a:defRPr>
            </a:defPPr>
          </a:lstStyle>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“Can I pay</a:t>
            </a:r>
          </a:p>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and restock?”</a:t>
            </a:r>
          </a:p>
        </p:txBody>
      </p:sp>
      <p:sp>
        <p:nvSpPr>
          <p:cNvPr id="18" name="Section rule">
            <a:extLst xmlns:a="http://schemas.openxmlformats.org/drawingml/2006/main">
              <a:ext uri="{FF2B5EF4-FFF2-40B4-BE49-F238E27FC236}">
                <a16:creationId xmlns:a16="http://schemas.microsoft.com/office/drawing/2014/main" id="{A5D96862-1D3D-4C36-B7EF-1FBFEDA18DB7}"/>
              </a:ext>
            </a:extLst>
          </p:cNvPr>
          <p:cNvSpPr>
            <a:spLocks xmlns:a="http://schemas.openxmlformats.org/drawingml/2006/main" noGrp="1"/>
          </p:cNvSpPr>
          <p:nvPr/>
        </p:nvSpPr>
        <p:spPr>
          <a:xfrm xmlns:a="http://schemas.openxmlformats.org/drawingml/2006/main">
            <a:off x="723900" y="5829300"/>
            <a:ext cx="13792200"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19" name="Sales, stock and cash answer different questions.">
            <a:extLst xmlns:a="http://schemas.openxmlformats.org/drawingml/2006/main">
              <a:ext uri="{FF2B5EF4-FFF2-40B4-BE49-F238E27FC236}">
                <a16:creationId xmlns:a16="http://schemas.microsoft.com/office/drawing/2014/main" id="{38D47F28-C924-45C4-8A28-25DEF4D4A73C}"/>
              </a:ext>
            </a:extLst>
          </p:cNvPr>
          <p:cNvSpPr>
            <a:spLocks xmlns:a="http://schemas.openxmlformats.org/drawingml/2006/main" noGrp="1"/>
          </p:cNvSpPr>
          <p:nvPr/>
        </p:nvSpPr>
        <p:spPr>
          <a:xfrm xmlns:a="http://schemas.openxmlformats.org/drawingml/2006/main">
            <a:off x="723900" y="6229350"/>
            <a:ext cx="137922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1">
                <a:solidFill>
                  <a:srgbClr val="13243F"/>
                </a:solidFill>
                <a:latin typeface="Arial"/>
                <a:ea typeface="Arial"/>
                <a:cs typeface="Arial"/>
              </a:defRPr>
            </a:defPPr>
          </a:lstStyle>
          <a:p xmlns:a="http://schemas.openxmlformats.org/drawingml/2006/main">
            <a:pPr algn="l">
              <a:defRPr sz="2925" b="1">
                <a:solidFill>
                  <a:srgbClr val="13243F"/>
                </a:solidFill>
                <a:latin typeface="Arial"/>
                <a:ea typeface="Arial"/>
                <a:cs typeface="Arial"/>
              </a:defRPr>
            </a:pPr>
            <a:r>
              <a:rPr sz="2925" b="1">
                <a:solidFill>
                  <a:srgbClr val="13243F"/>
                </a:solidFill>
                <a:latin typeface="Arial"/>
                <a:ea typeface="Arial"/>
                <a:cs typeface="Arial"/>
              </a:rPr>
              <a:t>Sales, stock and cash answer different questions.</a:t>
            </a:r>
          </a:p>
        </p:txBody>
      </p:sp>
      <p:sp>
        <p:nvSpPr>
          <p:cNvPr id="20" name="The decision needs payment timing, financing terms and produ">
            <a:extLst xmlns:a="http://schemas.openxmlformats.org/drawingml/2006/main">
              <a:ext uri="{FF2B5EF4-FFF2-40B4-BE49-F238E27FC236}">
                <a16:creationId xmlns:a16="http://schemas.microsoft.com/office/drawing/2014/main" id="{B598D0C6-EFD2-4801-BEBE-5DB15B16344E}"/>
              </a:ext>
            </a:extLst>
          </p:cNvPr>
          <p:cNvSpPr>
            <a:spLocks xmlns:a="http://schemas.openxmlformats.org/drawingml/2006/main" noGrp="1"/>
          </p:cNvSpPr>
          <p:nvPr/>
        </p:nvSpPr>
        <p:spPr>
          <a:xfrm xmlns:a="http://schemas.openxmlformats.org/drawingml/2006/main">
            <a:off x="723900" y="6981825"/>
            <a:ext cx="13620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The decision needs payment timing, financing terms and product economics together.</a:t>
            </a:r>
          </a:p>
        </p:txBody>
      </p:sp>
    </p:spTree>
    <p:extLst>
      <p:ext uri="{BB962C8B-B14F-4D97-AF65-F5344CB8AC3E}">
        <p14:creationId xmlns:p14="http://schemas.microsoft.com/office/powerpoint/2010/main" val="1256559149"/>
      </p:ext>
    </p:extLst>
  </p:cSld>
</p:sld>
</file>

<file path=ppt/slides/slide3.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5C1846B8-ACE8-4956-AA3E-26E6B98A6971}"/>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3">
            <a:extLst xmlns:a="http://schemas.openxmlformats.org/drawingml/2006/main">
              <a:ext uri="{FF2B5EF4-FFF2-40B4-BE49-F238E27FC236}">
                <a16:creationId xmlns:a16="http://schemas.microsoft.com/office/drawing/2014/main" id="{33435572-4E93-4795-8933-9DC4EA40B193}"/>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03</a:t>
            </a:r>
          </a:p>
        </p:txBody>
      </p:sp>
      <p:sp>
        <p:nvSpPr>
          <p:cNvPr id="3" name="Slide heading">
            <a:extLst xmlns:a="http://schemas.openxmlformats.org/drawingml/2006/main">
              <a:ext uri="{FF2B5EF4-FFF2-40B4-BE49-F238E27FC236}">
                <a16:creationId xmlns:a16="http://schemas.microsoft.com/office/drawing/2014/main" id="{C86CE4CA-36D1-48DF-B1A2-C813326F782F}"/>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Three finance questions, one set of records</a:t>
            </a:r>
          </a:p>
        </p:txBody>
      </p:sp>
      <p:sp>
        <p:nvSpPr>
          <p:cNvPr id="4" name="Which financing fits?">
            <a:extLst xmlns:a="http://schemas.openxmlformats.org/drawingml/2006/main">
              <a:ext uri="{FF2B5EF4-FFF2-40B4-BE49-F238E27FC236}">
                <a16:creationId xmlns:a16="http://schemas.microsoft.com/office/drawing/2014/main" id="{3896D2BC-D1CA-4EC0-8E35-BF163A34CCE5}"/>
              </a:ext>
            </a:extLst>
          </p:cNvPr>
          <p:cNvSpPr>
            <a:spLocks xmlns:a="http://schemas.openxmlformats.org/drawingml/2006/main" noGrp="1"/>
          </p:cNvSpPr>
          <p:nvPr/>
        </p:nvSpPr>
        <p:spPr>
          <a:xfrm xmlns:a="http://schemas.openxmlformats.org/drawingml/2006/main">
            <a:off x="723900" y="2514600"/>
            <a:ext cx="433387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Which financing fits?</a:t>
            </a:r>
          </a:p>
        </p:txBody>
      </p:sp>
      <p:sp>
        <p:nvSpPr>
          <p:cNvPr id="5" name="Compare eligibility, cost and repayment capacity.">
            <a:extLst xmlns:a="http://schemas.openxmlformats.org/drawingml/2006/main">
              <a:ext uri="{FF2B5EF4-FFF2-40B4-BE49-F238E27FC236}">
                <a16:creationId xmlns:a16="http://schemas.microsoft.com/office/drawing/2014/main" id="{30B308BC-946D-49A6-97B0-E2AAA1892A52}"/>
              </a:ext>
            </a:extLst>
          </p:cNvPr>
          <p:cNvSpPr>
            <a:spLocks xmlns:a="http://schemas.openxmlformats.org/drawingml/2006/main" noGrp="1"/>
          </p:cNvSpPr>
          <p:nvPr/>
        </p:nvSpPr>
        <p:spPr>
          <a:xfrm xmlns:a="http://schemas.openxmlformats.org/drawingml/2006/main">
            <a:off x="723900" y="3048000"/>
            <a:ext cx="433387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Compare eligibility, cost</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repayment capacity.</a:t>
            </a:r>
          </a:p>
        </p:txBody>
      </p:sp>
      <p:sp>
        <p:nvSpPr>
          <p:cNvPr id="6" name="Will cash run short?">
            <a:extLst xmlns:a="http://schemas.openxmlformats.org/drawingml/2006/main">
              <a:ext uri="{FF2B5EF4-FFF2-40B4-BE49-F238E27FC236}">
                <a16:creationId xmlns:a16="http://schemas.microsoft.com/office/drawing/2014/main" id="{5E907727-6702-4EE4-A5C7-14BD7EB106AE}"/>
              </a:ext>
            </a:extLst>
          </p:cNvPr>
          <p:cNvSpPr>
            <a:spLocks xmlns:a="http://schemas.openxmlformats.org/drawingml/2006/main" noGrp="1"/>
          </p:cNvSpPr>
          <p:nvPr/>
        </p:nvSpPr>
        <p:spPr>
          <a:xfrm xmlns:a="http://schemas.openxmlformats.org/drawingml/2006/main">
            <a:off x="5410200" y="2514600"/>
            <a:ext cx="4381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Will cash run short?</a:t>
            </a:r>
          </a:p>
        </p:txBody>
      </p:sp>
      <p:sp>
        <p:nvSpPr>
          <p:cNvPr id="7" name="Project dated balances and review alerts.">
            <a:extLst xmlns:a="http://schemas.openxmlformats.org/drawingml/2006/main">
              <a:ext uri="{FF2B5EF4-FFF2-40B4-BE49-F238E27FC236}">
                <a16:creationId xmlns:a16="http://schemas.microsoft.com/office/drawing/2014/main" id="{736A29AF-9EE5-450B-BE24-65F3207E4C2D}"/>
              </a:ext>
            </a:extLst>
          </p:cNvPr>
          <p:cNvSpPr>
            <a:spLocks xmlns:a="http://schemas.openxmlformats.org/drawingml/2006/main" noGrp="1"/>
          </p:cNvSpPr>
          <p:nvPr/>
        </p:nvSpPr>
        <p:spPr>
          <a:xfrm xmlns:a="http://schemas.openxmlformats.org/drawingml/2006/main">
            <a:off x="5410200" y="3048000"/>
            <a:ext cx="4381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Project dated balances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review alerts.</a:t>
            </a:r>
          </a:p>
        </p:txBody>
      </p:sp>
      <p:sp>
        <p:nvSpPr>
          <p:cNvPr id="8" name="Where is cash tied up?">
            <a:extLst xmlns:a="http://schemas.openxmlformats.org/drawingml/2006/main">
              <a:ext uri="{FF2B5EF4-FFF2-40B4-BE49-F238E27FC236}">
                <a16:creationId xmlns:a16="http://schemas.microsoft.com/office/drawing/2014/main" id="{EE966902-BC2B-4627-84D2-956C3108F3FF}"/>
              </a:ext>
            </a:extLst>
          </p:cNvPr>
          <p:cNvSpPr>
            <a:spLocks xmlns:a="http://schemas.openxmlformats.org/drawingml/2006/main" noGrp="1"/>
          </p:cNvSpPr>
          <p:nvPr/>
        </p:nvSpPr>
        <p:spPr>
          <a:xfrm xmlns:a="http://schemas.openxmlformats.org/drawingml/2006/main">
            <a:off x="10115550" y="2514600"/>
            <a:ext cx="44291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Where is cash tied up?</a:t>
            </a:r>
          </a:p>
        </p:txBody>
      </p:sp>
      <p:sp>
        <p:nvSpPr>
          <p:cNvPr id="9" name="Inspect product margins and working capital.">
            <a:extLst xmlns:a="http://schemas.openxmlformats.org/drawingml/2006/main">
              <a:ext uri="{FF2B5EF4-FFF2-40B4-BE49-F238E27FC236}">
                <a16:creationId xmlns:a16="http://schemas.microsoft.com/office/drawing/2014/main" id="{6095820D-1942-4149-AA46-C615161EE31A}"/>
              </a:ext>
            </a:extLst>
          </p:cNvPr>
          <p:cNvSpPr>
            <a:spLocks xmlns:a="http://schemas.openxmlformats.org/drawingml/2006/main" noGrp="1"/>
          </p:cNvSpPr>
          <p:nvPr/>
        </p:nvSpPr>
        <p:spPr>
          <a:xfrm xmlns:a="http://schemas.openxmlformats.org/drawingml/2006/main">
            <a:off x="10115550" y="3048000"/>
            <a:ext cx="44291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Inspect product margins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working capital.</a:t>
            </a:r>
          </a:p>
        </p:txBody>
      </p:sp>
      <p:pic>
        <p:nvPicPr>
          <p:cNvPr id="10" name="">
            <a:extLst xmlns:a="http://schemas.openxmlformats.org/drawingml/2006/main">
              <a:ext uri="{FF2B5EF4-FFF2-40B4-BE49-F238E27FC236}">
                <a16:creationId xmlns:a16="http://schemas.microsoft.com/office/drawing/2014/main" id="{55EDE245-D91D-42C7-AFCF-AD96C4AFE79C}"/>
              </a:ext>
            </a:extLst>
          </p:cNvPr>
          <p:cNvPicPr>
            <a:picLocks xmlns:a="http://schemas.openxmlformats.org/drawingml/2006/main" noChangeAspect="1"/>
          </p:cNvPicPr>
          <p:nvPr/>
        </p:nvPicPr>
        <p:blipFill>
          <a:blip xmlns:r="http://schemas.openxmlformats.org/officeDocument/2006/relationships" xmlns:a="http://schemas.openxmlformats.org/drawingml/2006/main" r:embed="R561934d884ec46f7"/>
          <a:stretch xmlns:a="http://schemas.openxmlformats.org/drawingml/2006/main"/>
        </p:blipFill>
        <p:spPr>
          <a:xfrm xmlns:a="http://schemas.openxmlformats.org/drawingml/2006/main">
            <a:off x="724989" y="4514850"/>
            <a:ext cx="10589623" cy="2895600"/>
          </a:xfrm>
          <a:prstGeom xmlns:a="http://schemas.openxmlformats.org/drawingml/2006/main" prst="rect">
            <a:avLst/>
          </a:prstGeom>
        </p:spPr>
      </p:pic>
      <p:pic>
        <p:nvPicPr>
          <p:cNvPr id="11" name="">
            <a:extLst xmlns:a="http://schemas.openxmlformats.org/drawingml/2006/main">
              <a:ext uri="{FF2B5EF4-FFF2-40B4-BE49-F238E27FC236}">
                <a16:creationId xmlns:a16="http://schemas.microsoft.com/office/drawing/2014/main" id="{DCA0861D-3DBA-4EAE-A47F-8C3AC102F7A8}"/>
              </a:ext>
            </a:extLst>
          </p:cNvPr>
          <p:cNvPicPr>
            <a:picLocks xmlns:a="http://schemas.openxmlformats.org/drawingml/2006/main" noChangeAspect="1"/>
          </p:cNvPicPr>
          <p:nvPr/>
        </p:nvPicPr>
        <p:blipFill>
          <a:blip xmlns:r="http://schemas.openxmlformats.org/officeDocument/2006/relationships" xmlns:a="http://schemas.openxmlformats.org/drawingml/2006/main" r:embed="R876ac1effd6946a4"/>
          <a:stretch xmlns:a="http://schemas.openxmlformats.org/drawingml/2006/main"/>
        </p:blipFill>
        <p:spPr>
          <a:xfrm xmlns:a="http://schemas.openxmlformats.org/drawingml/2006/main">
            <a:off x="12245565" y="4343400"/>
            <a:ext cx="1550219" cy="3352800"/>
          </a:xfrm>
          <a:prstGeom xmlns:a="http://schemas.openxmlformats.org/drawingml/2006/main" prst="rect">
            <a:avLst/>
          </a:prstGeom>
        </p:spPr>
      </p:pic>
      <p:sp>
        <p:nvSpPr>
          <p:cNvPr id="12" name="Existing shop records feed the finance workflows. Screens sh">
            <a:extLst xmlns:a="http://schemas.openxmlformats.org/drawingml/2006/main">
              <a:ext uri="{FF2B5EF4-FFF2-40B4-BE49-F238E27FC236}">
                <a16:creationId xmlns:a16="http://schemas.microsoft.com/office/drawing/2014/main" id="{468BE3EB-FB53-405D-AA0A-9C523C8AD6A7}"/>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Existing shop records feed the finance workflows. Screens show illustrative demo data.</a:t>
            </a:r>
          </a:p>
        </p:txBody>
      </p:sp>
    </p:spTree>
    <p:extLst>
      <p:ext uri="{BB962C8B-B14F-4D97-AF65-F5344CB8AC3E}">
        <p14:creationId xmlns:p14="http://schemas.microsoft.com/office/powerpoint/2010/main" val="1658363524"/>
      </p:ext>
    </p:extLst>
  </p:cSld>
</p:sld>
</file>

<file path=ppt/slides/slide4.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61940418-DA97-4FDC-BDB0-BDA67A1C7041}"/>
              </a:ext>
            </a:extLst>
          </p:cNvPr>
          <p:cNvCxnSpPr>
            <a:stCxn xmlns:a="http://schemas.openxmlformats.org/drawingml/2006/main" id="13" idx="3"/>
            <a:endCxn xmlns:a="http://schemas.openxmlformats.org/drawingml/2006/main" id="16" idx="1"/>
          </p:cNvCxnSpPr>
          <p:nvPr/>
        </p:nvCxnSpPr>
        <p:spPr>
          <a:xfrm xmlns:a="http://schemas.openxmlformats.org/drawingml/2006/main">
            <a:off x="116967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F4166191-0945-4505-8F84-0AD6A18DE941}"/>
              </a:ext>
            </a:extLst>
          </p:cNvPr>
          <p:cNvCxnSpPr>
            <a:stCxn xmlns:a="http://schemas.openxmlformats.org/drawingml/2006/main" id="10" idx="3"/>
            <a:endCxn xmlns:a="http://schemas.openxmlformats.org/drawingml/2006/main" id="13" idx="1"/>
          </p:cNvCxnSpPr>
          <p:nvPr/>
        </p:nvCxnSpPr>
        <p:spPr>
          <a:xfrm xmlns:a="http://schemas.openxmlformats.org/drawingml/2006/main">
            <a:off x="88773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0" name="">
            <a:extLst xmlns:a="http://schemas.openxmlformats.org/drawingml/2006/main">
              <a:ext uri="{FF2B5EF4-FFF2-40B4-BE49-F238E27FC236}">
                <a16:creationId xmlns:a16="http://schemas.microsoft.com/office/drawing/2014/main" id="{5DB95715-7C60-4F28-B84E-640C803AF5B1}"/>
              </a:ext>
            </a:extLst>
          </p:cNvPr>
          <p:cNvCxnSpPr>
            <a:stCxn xmlns:a="http://schemas.openxmlformats.org/drawingml/2006/main" id="7" idx="3"/>
            <a:endCxn xmlns:a="http://schemas.openxmlformats.org/drawingml/2006/main" id="10" idx="1"/>
          </p:cNvCxnSpPr>
          <p:nvPr/>
        </p:nvCxnSpPr>
        <p:spPr>
          <a:xfrm xmlns:a="http://schemas.openxmlformats.org/drawingml/2006/main">
            <a:off x="60579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19" name="">
            <a:extLst xmlns:a="http://schemas.openxmlformats.org/drawingml/2006/main">
              <a:ext uri="{FF2B5EF4-FFF2-40B4-BE49-F238E27FC236}">
                <a16:creationId xmlns:a16="http://schemas.microsoft.com/office/drawing/2014/main" id="{62A6BAAC-48B1-468C-A005-8CF3B8537D70}"/>
              </a:ext>
            </a:extLst>
          </p:cNvPr>
          <p:cNvCxnSpPr>
            <a:stCxn xmlns:a="http://schemas.openxmlformats.org/drawingml/2006/main" id="4" idx="3"/>
            <a:endCxn xmlns:a="http://schemas.openxmlformats.org/drawingml/2006/main" id="7" idx="1"/>
          </p:cNvCxnSpPr>
          <p:nvPr/>
        </p:nvCxnSpPr>
        <p:spPr>
          <a:xfrm xmlns:a="http://schemas.openxmlformats.org/drawingml/2006/main">
            <a:off x="3238500" y="3838575"/>
            <a:ext cx="304800"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sp>
        <p:nvSpPr>
          <p:cNvPr id="26" name="BizWizard">
            <a:extLst xmlns:a="http://schemas.openxmlformats.org/drawingml/2006/main">
              <a:ext uri="{FF2B5EF4-FFF2-40B4-BE49-F238E27FC236}">
                <a16:creationId xmlns:a16="http://schemas.microsoft.com/office/drawing/2014/main" id="{A8FE2A2B-13CA-40AD-9687-EAD50313C3F5}"/>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4">
            <a:extLst xmlns:a="http://schemas.openxmlformats.org/drawingml/2006/main">
              <a:ext uri="{FF2B5EF4-FFF2-40B4-BE49-F238E27FC236}">
                <a16:creationId xmlns:a16="http://schemas.microsoft.com/office/drawing/2014/main" id="{75E0B193-16B6-4A31-B8A2-7F3006FD5FC5}"/>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04</a:t>
            </a:r>
          </a:p>
        </p:txBody>
      </p:sp>
      <p:sp>
        <p:nvSpPr>
          <p:cNvPr id="3" name="Slide heading">
            <a:extLst xmlns:a="http://schemas.openxmlformats.org/drawingml/2006/main">
              <a:ext uri="{FF2B5EF4-FFF2-40B4-BE49-F238E27FC236}">
                <a16:creationId xmlns:a16="http://schemas.microsoft.com/office/drawing/2014/main" id="{C66110C4-00EF-4EDF-8557-075294068FCB}"/>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A decision stays connected to its records</a:t>
            </a:r>
          </a:p>
        </p:txBody>
      </p:sp>
      <p:sp>
        <p:nvSpPr>
          <p:cNvPr id="4" name="Shop records">
            <a:extLst xmlns:a="http://schemas.openxmlformats.org/drawingml/2006/main">
              <a:ext uri="{FF2B5EF4-FFF2-40B4-BE49-F238E27FC236}">
                <a16:creationId xmlns:a16="http://schemas.microsoft.com/office/drawing/2014/main" id="{52DE37A3-8193-460F-82B6-19CA052FAD4D}"/>
              </a:ext>
            </a:extLst>
          </p:cNvPr>
          <p:cNvSpPr>
            <a:spLocks xmlns:a="http://schemas.openxmlformats.org/drawingml/2006/main" noGrp="1"/>
          </p:cNvSpPr>
          <p:nvPr/>
        </p:nvSpPr>
        <p:spPr>
          <a:xfrm xmlns:a="http://schemas.openxmlformats.org/drawingml/2006/main">
            <a:off x="7239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5" name="Shop records">
            <a:extLst xmlns:a="http://schemas.openxmlformats.org/drawingml/2006/main">
              <a:ext uri="{FF2B5EF4-FFF2-40B4-BE49-F238E27FC236}">
                <a16:creationId xmlns:a16="http://schemas.microsoft.com/office/drawing/2014/main" id="{0E8B8866-A334-482C-BBE4-AA997615BAB3}"/>
              </a:ext>
            </a:extLst>
          </p:cNvPr>
          <p:cNvSpPr>
            <a:spLocks xmlns:a="http://schemas.openxmlformats.org/drawingml/2006/main" noGrp="1"/>
          </p:cNvSpPr>
          <p:nvPr/>
        </p:nvSpPr>
        <p:spPr>
          <a:xfrm xmlns:a="http://schemas.openxmlformats.org/drawingml/2006/main">
            <a:off x="9334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Shop records</a:t>
            </a:r>
          </a:p>
        </p:txBody>
      </p:sp>
      <p:sp>
        <p:nvSpPr>
          <p:cNvPr id="6" name="Sales, debt, stock and expenses">
            <a:extLst xmlns:a="http://schemas.openxmlformats.org/drawingml/2006/main">
              <a:ext uri="{FF2B5EF4-FFF2-40B4-BE49-F238E27FC236}">
                <a16:creationId xmlns:a16="http://schemas.microsoft.com/office/drawing/2014/main" id="{77AE9689-863E-407B-BBD1-C8F36BD7AF4E}"/>
              </a:ext>
            </a:extLst>
          </p:cNvPr>
          <p:cNvSpPr>
            <a:spLocks xmlns:a="http://schemas.openxmlformats.org/drawingml/2006/main" noGrp="1"/>
          </p:cNvSpPr>
          <p:nvPr/>
        </p:nvSpPr>
        <p:spPr>
          <a:xfrm xmlns:a="http://schemas.openxmlformats.org/drawingml/2006/main">
            <a:off x="9334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Sales, debt,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stock and expenses</a:t>
            </a:r>
          </a:p>
        </p:txBody>
      </p:sp>
      <p:sp>
        <p:nvSpPr>
          <p:cNvPr id="7" name="Finance engines">
            <a:extLst xmlns:a="http://schemas.openxmlformats.org/drawingml/2006/main">
              <a:ext uri="{FF2B5EF4-FFF2-40B4-BE49-F238E27FC236}">
                <a16:creationId xmlns:a16="http://schemas.microsoft.com/office/drawing/2014/main" id="{3C3BEC82-CC9E-42CA-A461-7ED434EB65F0}"/>
              </a:ext>
            </a:extLst>
          </p:cNvPr>
          <p:cNvSpPr>
            <a:spLocks xmlns:a="http://schemas.openxmlformats.org/drawingml/2006/main" noGrp="1"/>
          </p:cNvSpPr>
          <p:nvPr/>
        </p:nvSpPr>
        <p:spPr>
          <a:xfrm xmlns:a="http://schemas.openxmlformats.org/drawingml/2006/main">
            <a:off x="35433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8" name="Finance engines">
            <a:extLst xmlns:a="http://schemas.openxmlformats.org/drawingml/2006/main">
              <a:ext uri="{FF2B5EF4-FFF2-40B4-BE49-F238E27FC236}">
                <a16:creationId xmlns:a16="http://schemas.microsoft.com/office/drawing/2014/main" id="{331C7813-3A71-4710-9F63-11345EA8EC91}"/>
              </a:ext>
            </a:extLst>
          </p:cNvPr>
          <p:cNvSpPr>
            <a:spLocks xmlns:a="http://schemas.openxmlformats.org/drawingml/2006/main" noGrp="1"/>
          </p:cNvSpPr>
          <p:nvPr/>
        </p:nvSpPr>
        <p:spPr>
          <a:xfrm xmlns:a="http://schemas.openxmlformats.org/drawingml/2006/main">
            <a:off x="37528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Finance engines</a:t>
            </a:r>
          </a:p>
        </p:txBody>
      </p:sp>
      <p:sp>
        <p:nvSpPr>
          <p:cNvPr id="9" name="Cash forecast, metrics and eligibility">
            <a:extLst xmlns:a="http://schemas.openxmlformats.org/drawingml/2006/main">
              <a:ext uri="{FF2B5EF4-FFF2-40B4-BE49-F238E27FC236}">
                <a16:creationId xmlns:a16="http://schemas.microsoft.com/office/drawing/2014/main" id="{445445E3-694F-4E45-9233-5DE17CF7742C}"/>
              </a:ext>
            </a:extLst>
          </p:cNvPr>
          <p:cNvSpPr>
            <a:spLocks xmlns:a="http://schemas.openxmlformats.org/drawingml/2006/main" noGrp="1"/>
          </p:cNvSpPr>
          <p:nvPr/>
        </p:nvSpPr>
        <p:spPr>
          <a:xfrm xmlns:a="http://schemas.openxmlformats.org/drawingml/2006/main">
            <a:off x="37528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Cash forecast,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metrics and eligibility</a:t>
            </a:r>
          </a:p>
        </p:txBody>
      </p:sp>
      <p:sp>
        <p:nvSpPr>
          <p:cNvPr id="10" name="AI choice">
            <a:extLst xmlns:a="http://schemas.openxmlformats.org/drawingml/2006/main">
              <a:ext uri="{FF2B5EF4-FFF2-40B4-BE49-F238E27FC236}">
                <a16:creationId xmlns:a16="http://schemas.microsoft.com/office/drawing/2014/main" id="{FB7C8AE7-59D4-43B7-B3C0-748AF5467965}"/>
              </a:ext>
            </a:extLst>
          </p:cNvPr>
          <p:cNvSpPr>
            <a:spLocks xmlns:a="http://schemas.openxmlformats.org/drawingml/2006/main" noGrp="1"/>
          </p:cNvSpPr>
          <p:nvPr/>
        </p:nvSpPr>
        <p:spPr>
          <a:xfrm xmlns:a="http://schemas.openxmlformats.org/drawingml/2006/main">
            <a:off x="63627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1" name="AI choice">
            <a:extLst xmlns:a="http://schemas.openxmlformats.org/drawingml/2006/main">
              <a:ext uri="{FF2B5EF4-FFF2-40B4-BE49-F238E27FC236}">
                <a16:creationId xmlns:a16="http://schemas.microsoft.com/office/drawing/2014/main" id="{F822025B-35C5-4F89-B820-589720A22D1B}"/>
              </a:ext>
            </a:extLst>
          </p:cNvPr>
          <p:cNvSpPr>
            <a:spLocks xmlns:a="http://schemas.openxmlformats.org/drawingml/2006/main" noGrp="1"/>
          </p:cNvSpPr>
          <p:nvPr/>
        </p:nvSpPr>
        <p:spPr>
          <a:xfrm xmlns:a="http://schemas.openxmlformats.org/drawingml/2006/main">
            <a:off x="65722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AI choice</a:t>
            </a:r>
          </a:p>
        </p:txBody>
      </p:sp>
      <p:sp>
        <p:nvSpPr>
          <p:cNvPr id="12" name="Select or explain allowed options">
            <a:extLst xmlns:a="http://schemas.openxmlformats.org/drawingml/2006/main">
              <a:ext uri="{FF2B5EF4-FFF2-40B4-BE49-F238E27FC236}">
                <a16:creationId xmlns:a16="http://schemas.microsoft.com/office/drawing/2014/main" id="{D671E59C-DD9F-4BD0-BE7B-6A2AF66FBE99}"/>
              </a:ext>
            </a:extLst>
          </p:cNvPr>
          <p:cNvSpPr>
            <a:spLocks xmlns:a="http://schemas.openxmlformats.org/drawingml/2006/main" noGrp="1"/>
          </p:cNvSpPr>
          <p:nvPr/>
        </p:nvSpPr>
        <p:spPr>
          <a:xfrm xmlns:a="http://schemas.openxmlformats.org/drawingml/2006/main">
            <a:off x="65722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Select or explain</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allowed options</a:t>
            </a:r>
          </a:p>
        </p:txBody>
      </p:sp>
      <p:sp>
        <p:nvSpPr>
          <p:cNvPr id="13" name="Owner review">
            <a:extLst xmlns:a="http://schemas.openxmlformats.org/drawingml/2006/main">
              <a:ext uri="{FF2B5EF4-FFF2-40B4-BE49-F238E27FC236}">
                <a16:creationId xmlns:a16="http://schemas.microsoft.com/office/drawing/2014/main" id="{5783F45C-16D3-433F-ADB1-D2BC97968D0C}"/>
              </a:ext>
            </a:extLst>
          </p:cNvPr>
          <p:cNvSpPr>
            <a:spLocks xmlns:a="http://schemas.openxmlformats.org/drawingml/2006/main" noGrp="1"/>
          </p:cNvSpPr>
          <p:nvPr/>
        </p:nvSpPr>
        <p:spPr>
          <a:xfrm xmlns:a="http://schemas.openxmlformats.org/drawingml/2006/main">
            <a:off x="9182100" y="2933700"/>
            <a:ext cx="2514600" cy="1809750"/>
          </a:xfrm>
          <a:prstGeom xmlns:a="http://schemas.openxmlformats.org/drawingml/2006/main" prst="rect">
            <a:avLst/>
          </a:prstGeom>
          <a:solidFill xmlns:a="http://schemas.openxmlformats.org/drawingml/2006/main">
            <a:srgbClr val="2463EB"/>
          </a:solidFill>
          <a:ln xmlns:a="http://schemas.openxmlformats.org/drawingml/2006/main" w="14288">
            <a:solidFill>
              <a:srgbClr val="415779"/>
            </a:solidFill>
          </a:ln>
        </p:spPr>
      </p:sp>
      <p:sp>
        <p:nvSpPr>
          <p:cNvPr id="14" name="Owner review">
            <a:extLst xmlns:a="http://schemas.openxmlformats.org/drawingml/2006/main">
              <a:ext uri="{FF2B5EF4-FFF2-40B4-BE49-F238E27FC236}">
                <a16:creationId xmlns:a16="http://schemas.microsoft.com/office/drawing/2014/main" id="{C1085855-9933-4FDB-84F9-CE8A1BF54677}"/>
              </a:ext>
            </a:extLst>
          </p:cNvPr>
          <p:cNvSpPr>
            <a:spLocks xmlns:a="http://schemas.openxmlformats.org/drawingml/2006/main" noGrp="1"/>
          </p:cNvSpPr>
          <p:nvPr/>
        </p:nvSpPr>
        <p:spPr>
          <a:xfrm xmlns:a="http://schemas.openxmlformats.org/drawingml/2006/main">
            <a:off x="93916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Owner review</a:t>
            </a:r>
          </a:p>
        </p:txBody>
      </p:sp>
      <p:sp>
        <p:nvSpPr>
          <p:cNvPr id="15" name="Approve or reject a proposed plan">
            <a:extLst xmlns:a="http://schemas.openxmlformats.org/drawingml/2006/main">
              <a:ext uri="{FF2B5EF4-FFF2-40B4-BE49-F238E27FC236}">
                <a16:creationId xmlns:a16="http://schemas.microsoft.com/office/drawing/2014/main" id="{27777D7F-4B7A-4DF9-98B1-3829D06A941F}"/>
              </a:ext>
            </a:extLst>
          </p:cNvPr>
          <p:cNvSpPr>
            <a:spLocks xmlns:a="http://schemas.openxmlformats.org/drawingml/2006/main" noGrp="1"/>
          </p:cNvSpPr>
          <p:nvPr/>
        </p:nvSpPr>
        <p:spPr>
          <a:xfrm xmlns:a="http://schemas.openxmlformats.org/drawingml/2006/main">
            <a:off x="93916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Approve or reject</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 proposed plan</a:t>
            </a:r>
          </a:p>
        </p:txBody>
      </p:sp>
      <p:sp>
        <p:nvSpPr>
          <p:cNvPr id="16" name="Outcome record">
            <a:extLst xmlns:a="http://schemas.openxmlformats.org/drawingml/2006/main">
              <a:ext uri="{FF2B5EF4-FFF2-40B4-BE49-F238E27FC236}">
                <a16:creationId xmlns:a16="http://schemas.microsoft.com/office/drawing/2014/main" id="{557607F5-DE0B-430F-BADC-DA7621CD5BFE}"/>
              </a:ext>
            </a:extLst>
          </p:cNvPr>
          <p:cNvSpPr>
            <a:spLocks xmlns:a="http://schemas.openxmlformats.org/drawingml/2006/main" noGrp="1"/>
          </p:cNvSpPr>
          <p:nvPr/>
        </p:nvSpPr>
        <p:spPr>
          <a:xfrm xmlns:a="http://schemas.openxmlformats.org/drawingml/2006/main">
            <a:off x="12001500" y="2933700"/>
            <a:ext cx="2514600" cy="18097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7" name="Outcome record">
            <a:extLst xmlns:a="http://schemas.openxmlformats.org/drawingml/2006/main">
              <a:ext uri="{FF2B5EF4-FFF2-40B4-BE49-F238E27FC236}">
                <a16:creationId xmlns:a16="http://schemas.microsoft.com/office/drawing/2014/main" id="{103EFC8D-F5F9-4A24-A5AC-4736DCB3812E}"/>
              </a:ext>
            </a:extLst>
          </p:cNvPr>
          <p:cNvSpPr>
            <a:spLocks xmlns:a="http://schemas.openxmlformats.org/drawingml/2006/main" noGrp="1"/>
          </p:cNvSpPr>
          <p:nvPr/>
        </p:nvSpPr>
        <p:spPr>
          <a:xfrm xmlns:a="http://schemas.openxmlformats.org/drawingml/2006/main">
            <a:off x="12211050" y="3124200"/>
            <a:ext cx="20955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Outcome record</a:t>
            </a:r>
          </a:p>
        </p:txBody>
      </p:sp>
      <p:sp>
        <p:nvSpPr>
          <p:cNvPr id="18" name="Link recorded events and inspect results">
            <a:extLst xmlns:a="http://schemas.openxmlformats.org/drawingml/2006/main">
              <a:ext uri="{FF2B5EF4-FFF2-40B4-BE49-F238E27FC236}">
                <a16:creationId xmlns:a16="http://schemas.microsoft.com/office/drawing/2014/main" id="{28F1B8A4-664B-4324-8130-A398A90067FB}"/>
              </a:ext>
            </a:extLst>
          </p:cNvPr>
          <p:cNvSpPr>
            <a:spLocks xmlns:a="http://schemas.openxmlformats.org/drawingml/2006/main" noGrp="1"/>
          </p:cNvSpPr>
          <p:nvPr/>
        </p:nvSpPr>
        <p:spPr>
          <a:xfrm xmlns:a="http://schemas.openxmlformats.org/drawingml/2006/main">
            <a:off x="12211050" y="3752850"/>
            <a:ext cx="20955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Link recorded events</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and inspect results</a:t>
            </a:r>
          </a:p>
        </p:txBody>
      </p:sp>
      <p:sp>
        <p:nvSpPr>
          <p:cNvPr id="23" name="Example: overdue customer payment">
            <a:extLst xmlns:a="http://schemas.openxmlformats.org/drawingml/2006/main">
              <a:ext uri="{FF2B5EF4-FFF2-40B4-BE49-F238E27FC236}">
                <a16:creationId xmlns:a16="http://schemas.microsoft.com/office/drawing/2014/main" id="{19B0197D-E634-42FB-8DBF-9EBBA6041A7A}"/>
              </a:ext>
            </a:extLst>
          </p:cNvPr>
          <p:cNvSpPr>
            <a:spLocks xmlns:a="http://schemas.openxmlformats.org/drawingml/2006/main" noGrp="1"/>
          </p:cNvSpPr>
          <p:nvPr/>
        </p:nvSpPr>
        <p:spPr>
          <a:xfrm xmlns:a="http://schemas.openxmlformats.org/drawingml/2006/main">
            <a:off x="723900" y="5476875"/>
            <a:ext cx="13430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FFFFFF"/>
                </a:solidFill>
                <a:latin typeface="Arial"/>
                <a:ea typeface="Arial"/>
                <a:cs typeface="Arial"/>
              </a:defRPr>
            </a:defPPr>
          </a:lstStyle>
          <a:p xmlns:a="http://schemas.openxmlformats.org/drawingml/2006/main">
            <a:pPr algn="l">
              <a:defRPr sz="2625" b="1">
                <a:solidFill>
                  <a:srgbClr val="FFFFFF"/>
                </a:solidFill>
                <a:latin typeface="Arial"/>
                <a:ea typeface="Arial"/>
                <a:cs typeface="Arial"/>
              </a:defRPr>
            </a:pPr>
            <a:r>
              <a:rPr sz="2625" b="1">
                <a:solidFill>
                  <a:srgbClr val="FFFFFF"/>
                </a:solidFill>
                <a:latin typeface="Arial"/>
                <a:ea typeface="Arial"/>
                <a:cs typeface="Arial"/>
              </a:rPr>
              <a:t>Example: overdue customer payment</a:t>
            </a:r>
          </a:p>
        </p:txBody>
      </p:sp>
      <p:sp>
        <p:nvSpPr>
          <p:cNvPr id="24" name="A cash alert leads to a proposed collection plan. The owner ">
            <a:extLst xmlns:a="http://schemas.openxmlformats.org/drawingml/2006/main">
              <a:ext uri="{FF2B5EF4-FFF2-40B4-BE49-F238E27FC236}">
                <a16:creationId xmlns:a16="http://schemas.microsoft.com/office/drawing/2014/main" id="{846092E3-6096-45C9-A179-44DE0F513A44}"/>
              </a:ext>
            </a:extLst>
          </p:cNvPr>
          <p:cNvSpPr>
            <a:spLocks xmlns:a="http://schemas.openxmlformats.org/drawingml/2006/main" noGrp="1"/>
          </p:cNvSpPr>
          <p:nvPr/>
        </p:nvSpPr>
        <p:spPr>
          <a:xfrm xmlns:a="http://schemas.openxmlformats.org/drawingml/2006/main">
            <a:off x="723900" y="6162675"/>
            <a:ext cx="13430250" cy="1009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ADBBD2"/>
                </a:solidFill>
                <a:latin typeface="Arial"/>
                <a:ea typeface="Arial"/>
                <a:cs typeface="Arial"/>
              </a:defRPr>
            </a:defPPr>
          </a:lstStyle>
          <a:p xmlns:a="http://schemas.openxmlformats.org/drawingml/2006/main">
            <a:pPr algn="l">
              <a:defRPr sz="2400" b="0">
                <a:solidFill>
                  <a:srgbClr val="ADBBD2"/>
                </a:solidFill>
                <a:latin typeface="Arial"/>
                <a:ea typeface="Arial"/>
                <a:cs typeface="Arial"/>
              </a:defRPr>
            </a:pPr>
            <a:r>
              <a:rPr sz="2400" b="0">
                <a:solidFill>
                  <a:srgbClr val="ADBBD2"/>
                </a:solidFill>
                <a:latin typeface="Arial"/>
                <a:ea typeface="Arial"/>
                <a:cs typeface="Arial"/>
              </a:rPr>
              <a:t>A cash alert leads to a proposed collection plan. The owner reviews it.</a:t>
            </a:r>
          </a:p>
          <a:p xmlns:a="http://schemas.openxmlformats.org/drawingml/2006/main">
            <a:pPr algn="l">
              <a:defRPr sz="2400" b="0">
                <a:solidFill>
                  <a:srgbClr val="ADBBD2"/>
                </a:solidFill>
                <a:latin typeface="Arial"/>
                <a:ea typeface="Arial"/>
                <a:cs typeface="Arial"/>
              </a:defRPr>
            </a:pPr>
            <a:r>
              <a:rPr sz="2400" b="0">
                <a:solidFill>
                  <a:srgbClr val="ADBBD2"/>
                </a:solidFill>
                <a:latin typeface="Arial"/>
                <a:ea typeface="Arial"/>
                <a:cs typeface="Arial"/>
              </a:rPr>
              <a:t>A recorded payment can later supply evidence of collection.</a:t>
            </a:r>
          </a:p>
        </p:txBody>
      </p:sp>
      <p:sp>
        <p:nvSpPr>
          <p:cNvPr id="25" name="Approval records a decision. The application does not execut">
            <a:extLst xmlns:a="http://schemas.openxmlformats.org/drawingml/2006/main">
              <a:ext uri="{FF2B5EF4-FFF2-40B4-BE49-F238E27FC236}">
                <a16:creationId xmlns:a16="http://schemas.microsoft.com/office/drawing/2014/main" id="{3BBEF3A0-280F-4291-A4C1-98E46B75C1D3}"/>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Approval records a decision. The application does not execute a bank transfer.</a:t>
            </a:r>
          </a:p>
        </p:txBody>
      </p:sp>
    </p:spTree>
    <p:extLst>
      <p:ext uri="{BB962C8B-B14F-4D97-AF65-F5344CB8AC3E}">
        <p14:creationId xmlns:p14="http://schemas.microsoft.com/office/powerpoint/2010/main" val="1305696459"/>
      </p:ext>
    </p:extLst>
  </p:cSld>
</p:sld>
</file>

<file path=ppt/slides/slide5.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2" name="BizWizard">
            <a:extLst xmlns:a="http://schemas.openxmlformats.org/drawingml/2006/main">
              <a:ext uri="{FF2B5EF4-FFF2-40B4-BE49-F238E27FC236}">
                <a16:creationId xmlns:a16="http://schemas.microsoft.com/office/drawing/2014/main" id="{A0BCF7AA-73D2-4B5D-9326-8C04C04B7461}"/>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5">
            <a:extLst xmlns:a="http://schemas.openxmlformats.org/drawingml/2006/main">
              <a:ext uri="{FF2B5EF4-FFF2-40B4-BE49-F238E27FC236}">
                <a16:creationId xmlns:a16="http://schemas.microsoft.com/office/drawing/2014/main" id="{CB70E806-9468-4A67-922D-71AC409D5183}"/>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05</a:t>
            </a:r>
          </a:p>
        </p:txBody>
      </p:sp>
      <p:sp>
        <p:nvSpPr>
          <p:cNvPr id="3" name="Slide heading">
            <a:extLst xmlns:a="http://schemas.openxmlformats.org/drawingml/2006/main">
              <a:ext uri="{FF2B5EF4-FFF2-40B4-BE49-F238E27FC236}">
                <a16:creationId xmlns:a16="http://schemas.microsoft.com/office/drawing/2014/main" id="{C9D51FE1-C459-43F9-A6E7-42B5191F365A}"/>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Financing that starts with affordability</a:t>
            </a:r>
          </a:p>
        </p:txBody>
      </p:sp>
      <p:sp>
        <p:nvSpPr>
          <p:cNvPr id="4" name="1 Check eligibility">
            <a:extLst xmlns:a="http://schemas.openxmlformats.org/drawingml/2006/main">
              <a:ext uri="{FF2B5EF4-FFF2-40B4-BE49-F238E27FC236}">
                <a16:creationId xmlns:a16="http://schemas.microsoft.com/office/drawing/2014/main" id="{5E711AF8-7FAF-4E87-8992-42076D534421}"/>
              </a:ext>
            </a:extLst>
          </p:cNvPr>
          <p:cNvSpPr>
            <a:spLocks xmlns:a="http://schemas.openxmlformats.org/drawingml/2006/main" noGrp="1"/>
          </p:cNvSpPr>
          <p:nvPr/>
        </p:nvSpPr>
        <p:spPr>
          <a:xfrm xmlns:a="http://schemas.openxmlformats.org/drawingml/2006/main">
            <a:off x="723900" y="253365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1  Check eligibility</a:t>
            </a:r>
          </a:p>
        </p:txBody>
      </p:sp>
      <p:sp>
        <p:nvSpPr>
          <p:cNvPr id="5" name="Rules screen amount, tenor and business requirements.">
            <a:extLst xmlns:a="http://schemas.openxmlformats.org/drawingml/2006/main">
              <a:ext uri="{FF2B5EF4-FFF2-40B4-BE49-F238E27FC236}">
                <a16:creationId xmlns:a16="http://schemas.microsoft.com/office/drawing/2014/main" id="{4F6B2E44-9C93-40D5-BD06-F26850EA5010}"/>
              </a:ext>
            </a:extLst>
          </p:cNvPr>
          <p:cNvSpPr>
            <a:spLocks xmlns:a="http://schemas.openxmlformats.org/drawingml/2006/main" noGrp="1"/>
          </p:cNvSpPr>
          <p:nvPr/>
        </p:nvSpPr>
        <p:spPr>
          <a:xfrm xmlns:a="http://schemas.openxmlformats.org/drawingml/2006/main">
            <a:off x="723900" y="306705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Rules screen amount, tenor</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business requirements.</a:t>
            </a:r>
          </a:p>
        </p:txBody>
      </p:sp>
      <p:sp>
        <p:nvSpPr>
          <p:cNvPr id="6" name="2 Compare feasible options">
            <a:extLst xmlns:a="http://schemas.openxmlformats.org/drawingml/2006/main">
              <a:ext uri="{FF2B5EF4-FFF2-40B4-BE49-F238E27FC236}">
                <a16:creationId xmlns:a16="http://schemas.microsoft.com/office/drawing/2014/main" id="{29A1A0EF-8A12-4D77-A475-2FEEAA2DC945}"/>
              </a:ext>
            </a:extLst>
          </p:cNvPr>
          <p:cNvSpPr>
            <a:spLocks xmlns:a="http://schemas.openxmlformats.org/drawingml/2006/main" noGrp="1"/>
          </p:cNvSpPr>
          <p:nvPr/>
        </p:nvSpPr>
        <p:spPr>
          <a:xfrm xmlns:a="http://schemas.openxmlformats.org/drawingml/2006/main">
            <a:off x="723900" y="4200525"/>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2  Compare feasible options</a:t>
            </a:r>
          </a:p>
        </p:txBody>
      </p:sp>
      <p:sp>
        <p:nvSpPr>
          <p:cNvPr id="7" name="AI can enrich the ranking. Code prices the offer.">
            <a:extLst xmlns:a="http://schemas.openxmlformats.org/drawingml/2006/main">
              <a:ext uri="{FF2B5EF4-FFF2-40B4-BE49-F238E27FC236}">
                <a16:creationId xmlns:a16="http://schemas.microsoft.com/office/drawing/2014/main" id="{490E8BBB-0A7D-4B81-A883-5F7934F5022D}"/>
              </a:ext>
            </a:extLst>
          </p:cNvPr>
          <p:cNvSpPr>
            <a:spLocks xmlns:a="http://schemas.openxmlformats.org/drawingml/2006/main" noGrp="1"/>
          </p:cNvSpPr>
          <p:nvPr/>
        </p:nvSpPr>
        <p:spPr>
          <a:xfrm xmlns:a="http://schemas.openxmlformats.org/drawingml/2006/main">
            <a:off x="723900" y="4733925"/>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AI can enrich the ranking.</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Code prices the offer.</a:t>
            </a:r>
          </a:p>
        </p:txBody>
      </p:sp>
      <p:sp>
        <p:nvSpPr>
          <p:cNvPr id="8" name="3 Review the terms">
            <a:extLst xmlns:a="http://schemas.openxmlformats.org/drawingml/2006/main">
              <a:ext uri="{FF2B5EF4-FFF2-40B4-BE49-F238E27FC236}">
                <a16:creationId xmlns:a16="http://schemas.microsoft.com/office/drawing/2014/main" id="{3A282774-42CC-43C9-8CC4-4AB33D89C926}"/>
              </a:ext>
            </a:extLst>
          </p:cNvPr>
          <p:cNvSpPr>
            <a:spLocks xmlns:a="http://schemas.openxmlformats.org/drawingml/2006/main" noGrp="1"/>
          </p:cNvSpPr>
          <p:nvPr/>
        </p:nvSpPr>
        <p:spPr>
          <a:xfrm xmlns:a="http://schemas.openxmlformats.org/drawingml/2006/main">
            <a:off x="723900" y="5867400"/>
            <a:ext cx="4667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3  Review the terms</a:t>
            </a:r>
          </a:p>
        </p:txBody>
      </p:sp>
      <p:sp>
        <p:nvSpPr>
          <p:cNvPr id="9" name="Deterministic policies negotiate for up to three rounds.">
            <a:extLst xmlns:a="http://schemas.openxmlformats.org/drawingml/2006/main">
              <a:ext uri="{FF2B5EF4-FFF2-40B4-BE49-F238E27FC236}">
                <a16:creationId xmlns:a16="http://schemas.microsoft.com/office/drawing/2014/main" id="{60F4F367-F9FC-4544-A71F-C1D70BFE7E64}"/>
              </a:ext>
            </a:extLst>
          </p:cNvPr>
          <p:cNvSpPr>
            <a:spLocks xmlns:a="http://schemas.openxmlformats.org/drawingml/2006/main" noGrp="1"/>
          </p:cNvSpPr>
          <p:nvPr/>
        </p:nvSpPr>
        <p:spPr>
          <a:xfrm xmlns:a="http://schemas.openxmlformats.org/drawingml/2006/main">
            <a:off x="723900" y="6400800"/>
            <a:ext cx="46672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Deterministic policies negotiate</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for up to three rounds.</a:t>
            </a:r>
          </a:p>
        </p:txBody>
      </p:sp>
      <p:pic>
        <p:nvPicPr>
          <p:cNvPr id="10" name="">
            <a:extLst xmlns:a="http://schemas.openxmlformats.org/drawingml/2006/main">
              <a:ext uri="{FF2B5EF4-FFF2-40B4-BE49-F238E27FC236}">
                <a16:creationId xmlns:a16="http://schemas.microsoft.com/office/drawing/2014/main" id="{576CFE3A-DF06-4764-89A7-4A56ACACC542}"/>
              </a:ext>
            </a:extLst>
          </p:cNvPr>
          <p:cNvPicPr>
            <a:picLocks xmlns:a="http://schemas.openxmlformats.org/drawingml/2006/main" noChangeAspect="1"/>
          </p:cNvPicPr>
          <p:nvPr/>
        </p:nvPicPr>
        <p:blipFill>
          <a:blip xmlns:r="http://schemas.openxmlformats.org/officeDocument/2006/relationships" xmlns:a="http://schemas.openxmlformats.org/drawingml/2006/main" r:embed="R8addd21bf24c49ce"/>
          <a:stretch xmlns:a="http://schemas.openxmlformats.org/drawingml/2006/main"/>
        </p:blipFill>
        <p:spPr>
          <a:xfrm xmlns:a="http://schemas.openxmlformats.org/drawingml/2006/main">
            <a:off x="5724525" y="3326193"/>
            <a:ext cx="8829675" cy="2986913"/>
          </a:xfrm>
          <a:prstGeom xmlns:a="http://schemas.openxmlformats.org/drawingml/2006/main" prst="rect">
            <a:avLst/>
          </a:prstGeom>
        </p:spPr>
      </p:pic>
      <p:sp>
        <p:nvSpPr>
          <p:cNvPr id="11" name="Simulated lenders only. Acceptance creates an application an">
            <a:extLst xmlns:a="http://schemas.openxmlformats.org/drawingml/2006/main">
              <a:ext uri="{FF2B5EF4-FFF2-40B4-BE49-F238E27FC236}">
                <a16:creationId xmlns:a16="http://schemas.microsoft.com/office/drawing/2014/main" id="{FF09DBBE-6D3E-41B4-8355-2C282DC53AC5}"/>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Simulated lenders only. Acceptance creates an application and repayment schedule, with no disbursement.</a:t>
            </a:r>
          </a:p>
        </p:txBody>
      </p:sp>
    </p:spTree>
    <p:extLst>
      <p:ext uri="{BB962C8B-B14F-4D97-AF65-F5344CB8AC3E}">
        <p14:creationId xmlns:p14="http://schemas.microsoft.com/office/powerpoint/2010/main" val="1797367431"/>
      </p:ext>
    </p:extLst>
  </p:cSld>
</p:sld>
</file>

<file path=ppt/slides/slide6.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2" name="BizWizard">
            <a:extLst xmlns:a="http://schemas.openxmlformats.org/drawingml/2006/main">
              <a:ext uri="{FF2B5EF4-FFF2-40B4-BE49-F238E27FC236}">
                <a16:creationId xmlns:a16="http://schemas.microsoft.com/office/drawing/2014/main" id="{FE9613D3-EAF4-4520-94BB-A5B6C8D33E44}"/>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6">
            <a:extLst xmlns:a="http://schemas.openxmlformats.org/drawingml/2006/main">
              <a:ext uri="{FF2B5EF4-FFF2-40B4-BE49-F238E27FC236}">
                <a16:creationId xmlns:a16="http://schemas.microsoft.com/office/drawing/2014/main" id="{FAB3153D-1409-4DD7-9735-9A044E1BC478}"/>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06</a:t>
            </a:r>
          </a:p>
        </p:txBody>
      </p:sp>
      <p:sp>
        <p:nvSpPr>
          <p:cNvPr id="3" name="Slide heading">
            <a:extLst xmlns:a="http://schemas.openxmlformats.org/drawingml/2006/main">
              <a:ext uri="{FF2B5EF4-FFF2-40B4-BE49-F238E27FC236}">
                <a16:creationId xmlns:a16="http://schemas.microsoft.com/office/drawing/2014/main" id="{C02FB203-A633-477A-85CF-55FBBF752DE4}"/>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Cash flow before the next bill</a:t>
            </a:r>
          </a:p>
        </p:txBody>
      </p:sp>
      <p:pic>
        <p:nvPicPr>
          <p:cNvPr id="4" name="">
            <a:extLst xmlns:a="http://schemas.openxmlformats.org/drawingml/2006/main">
              <a:ext uri="{FF2B5EF4-FFF2-40B4-BE49-F238E27FC236}">
                <a16:creationId xmlns:a16="http://schemas.microsoft.com/office/drawing/2014/main" id="{B901E013-F350-49E7-AF53-90F5E2AF2D57}"/>
              </a:ext>
            </a:extLst>
          </p:cNvPr>
          <p:cNvPicPr>
            <a:picLocks xmlns:a="http://schemas.openxmlformats.org/drawingml/2006/main" noChangeAspect="1"/>
          </p:cNvPicPr>
          <p:nvPr/>
        </p:nvPicPr>
        <p:blipFill>
          <a:blip xmlns:r="http://schemas.openxmlformats.org/officeDocument/2006/relationships" xmlns:a="http://schemas.openxmlformats.org/drawingml/2006/main" r:embed="Rb4451bddf5f544fc"/>
          <a:stretch xmlns:a="http://schemas.openxmlformats.org/drawingml/2006/main"/>
        </p:blipFill>
        <p:spPr>
          <a:xfrm xmlns:a="http://schemas.openxmlformats.org/drawingml/2006/main">
            <a:off x="773766" y="2409825"/>
            <a:ext cx="9520518" cy="5057775"/>
          </a:xfrm>
          <a:prstGeom xmlns:a="http://schemas.openxmlformats.org/drawingml/2006/main" prst="rect">
            <a:avLst/>
          </a:prstGeom>
        </p:spPr>
      </p:pic>
      <p:sp>
        <p:nvSpPr>
          <p:cNvPr id="5" name="90-day projection">
            <a:extLst xmlns:a="http://schemas.openxmlformats.org/drawingml/2006/main">
              <a:ext uri="{FF2B5EF4-FFF2-40B4-BE49-F238E27FC236}">
                <a16:creationId xmlns:a16="http://schemas.microsoft.com/office/drawing/2014/main" id="{88DFF0B0-D02F-41CB-BD2E-2C2A0DC17898}"/>
              </a:ext>
            </a:extLst>
          </p:cNvPr>
          <p:cNvSpPr>
            <a:spLocks xmlns:a="http://schemas.openxmlformats.org/drawingml/2006/main" noGrp="1"/>
          </p:cNvSpPr>
          <p:nvPr/>
        </p:nvSpPr>
        <p:spPr>
          <a:xfrm xmlns:a="http://schemas.openxmlformats.org/drawingml/2006/main">
            <a:off x="10772775" y="259080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90-day projection</a:t>
            </a:r>
          </a:p>
        </p:txBody>
      </p:sp>
      <p:sp>
        <p:nvSpPr>
          <p:cNvPr id="6" name="History, dated commitments and weighted receivables.">
            <a:extLst xmlns:a="http://schemas.openxmlformats.org/drawingml/2006/main">
              <a:ext uri="{FF2B5EF4-FFF2-40B4-BE49-F238E27FC236}">
                <a16:creationId xmlns:a16="http://schemas.microsoft.com/office/drawing/2014/main" id="{8291DAE8-844C-4EBC-BD6D-D698D5CB4D2D}"/>
              </a:ext>
            </a:extLst>
          </p:cNvPr>
          <p:cNvSpPr>
            <a:spLocks xmlns:a="http://schemas.openxmlformats.org/drawingml/2006/main" noGrp="1"/>
          </p:cNvSpPr>
          <p:nvPr/>
        </p:nvSpPr>
        <p:spPr>
          <a:xfrm xmlns:a="http://schemas.openxmlformats.org/drawingml/2006/main">
            <a:off x="10772775" y="312420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History, dated commitments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weighted receivables.</a:t>
            </a:r>
          </a:p>
        </p:txBody>
      </p:sp>
      <p:sp>
        <p:nvSpPr>
          <p:cNvPr id="7" name="Nine alert conditions">
            <a:extLst xmlns:a="http://schemas.openxmlformats.org/drawingml/2006/main">
              <a:ext uri="{FF2B5EF4-FFF2-40B4-BE49-F238E27FC236}">
                <a16:creationId xmlns:a16="http://schemas.microsoft.com/office/drawing/2014/main" id="{AB540957-23DD-4F8A-A1DD-C3209EC7AE99}"/>
              </a:ext>
            </a:extLst>
          </p:cNvPr>
          <p:cNvSpPr>
            <a:spLocks xmlns:a="http://schemas.openxmlformats.org/drawingml/2006/main" noGrp="1"/>
          </p:cNvSpPr>
          <p:nvPr/>
        </p:nvSpPr>
        <p:spPr>
          <a:xfrm xmlns:a="http://schemas.openxmlformats.org/drawingml/2006/main">
            <a:off x="10772775" y="440055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Nine alert conditions</a:t>
            </a:r>
          </a:p>
        </p:txBody>
      </p:sp>
      <p:sp>
        <p:nvSpPr>
          <p:cNvPr id="8" name="Shortfalls, cash buffers, aging debt and unusual costs.">
            <a:extLst xmlns:a="http://schemas.openxmlformats.org/drawingml/2006/main">
              <a:ext uri="{FF2B5EF4-FFF2-40B4-BE49-F238E27FC236}">
                <a16:creationId xmlns:a16="http://schemas.microsoft.com/office/drawing/2014/main" id="{121CE733-B37D-4D52-B741-805864F9C32B}"/>
              </a:ext>
            </a:extLst>
          </p:cNvPr>
          <p:cNvSpPr>
            <a:spLocks xmlns:a="http://schemas.openxmlformats.org/drawingml/2006/main" noGrp="1"/>
          </p:cNvSpPr>
          <p:nvPr/>
        </p:nvSpPr>
        <p:spPr>
          <a:xfrm xmlns:a="http://schemas.openxmlformats.org/drawingml/2006/main">
            <a:off x="10772775" y="493395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Shortfalls, cash buffers,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aging debt and unusual costs.</a:t>
            </a:r>
          </a:p>
        </p:txBody>
      </p:sp>
      <p:sp>
        <p:nvSpPr>
          <p:cNvPr id="9" name="A reviewable next step">
            <a:extLst xmlns:a="http://schemas.openxmlformats.org/drawingml/2006/main">
              <a:ext uri="{FF2B5EF4-FFF2-40B4-BE49-F238E27FC236}">
                <a16:creationId xmlns:a16="http://schemas.microsoft.com/office/drawing/2014/main" id="{1A60171A-A83E-499B-9904-9B503E7FC9C2}"/>
              </a:ext>
            </a:extLst>
          </p:cNvPr>
          <p:cNvSpPr>
            <a:spLocks xmlns:a="http://schemas.openxmlformats.org/drawingml/2006/main" noGrp="1"/>
          </p:cNvSpPr>
          <p:nvPr/>
        </p:nvSpPr>
        <p:spPr>
          <a:xfrm xmlns:a="http://schemas.openxmlformats.org/drawingml/2006/main">
            <a:off x="10772775" y="6210300"/>
            <a:ext cx="3743325"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A reviewable next step</a:t>
            </a:r>
          </a:p>
        </p:txBody>
      </p:sp>
      <p:sp>
        <p:nvSpPr>
          <p:cNvPr id="10" name="The owner can inspect a plan before approving it.">
            <a:extLst xmlns:a="http://schemas.openxmlformats.org/drawingml/2006/main">
              <a:ext uri="{FF2B5EF4-FFF2-40B4-BE49-F238E27FC236}">
                <a16:creationId xmlns:a16="http://schemas.microsoft.com/office/drawing/2014/main" id="{DC79B34D-27E6-4456-A744-B94F18A0B8CB}"/>
              </a:ext>
            </a:extLst>
          </p:cNvPr>
          <p:cNvSpPr>
            <a:spLocks xmlns:a="http://schemas.openxmlformats.org/drawingml/2006/main" noGrp="1"/>
          </p:cNvSpPr>
          <p:nvPr/>
        </p:nvSpPr>
        <p:spPr>
          <a:xfrm xmlns:a="http://schemas.openxmlformats.org/drawingml/2006/main">
            <a:off x="10772775" y="6743700"/>
            <a:ext cx="37433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089"/>
                </a:solidFill>
                <a:latin typeface="Arial"/>
                <a:ea typeface="Arial"/>
                <a:cs typeface="Arial"/>
              </a:defRPr>
            </a:defPPr>
          </a:lstStyle>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The owner can inspect a plan</a:t>
            </a:r>
          </a:p>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before approving it.</a:t>
            </a:r>
          </a:p>
        </p:txBody>
      </p:sp>
      <p:sp>
        <p:nvSpPr>
          <p:cNvPr id="11" name="Illustrative demo data. Projected cash and proposed actions ">
            <a:extLst xmlns:a="http://schemas.openxmlformats.org/drawingml/2006/main">
              <a:ext uri="{FF2B5EF4-FFF2-40B4-BE49-F238E27FC236}">
                <a16:creationId xmlns:a16="http://schemas.microsoft.com/office/drawing/2014/main" id="{41F748B5-3870-4EBE-842C-8346A4112ED8}"/>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Illustrative demo data. Projected cash and proposed actions are forecasts, not realized gains.</a:t>
            </a:r>
          </a:p>
        </p:txBody>
      </p:sp>
    </p:spTree>
    <p:extLst>
      <p:ext uri="{BB962C8B-B14F-4D97-AF65-F5344CB8AC3E}">
        <p14:creationId xmlns:p14="http://schemas.microsoft.com/office/powerpoint/2010/main" val="1137616585"/>
      </p:ext>
    </p:extLst>
  </p:cSld>
</p:sld>
</file>

<file path=ppt/slides/slide7.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421EF0CF-F2FC-4A9D-89FA-0E78909EDC90}"/>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7">
            <a:extLst xmlns:a="http://schemas.openxmlformats.org/drawingml/2006/main">
              <a:ext uri="{FF2B5EF4-FFF2-40B4-BE49-F238E27FC236}">
                <a16:creationId xmlns:a16="http://schemas.microsoft.com/office/drawing/2014/main" id="{61490C73-63D3-41D1-BFB0-8DCF1A8F0FED}"/>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07</a:t>
            </a:r>
          </a:p>
        </p:txBody>
      </p:sp>
      <p:sp>
        <p:nvSpPr>
          <p:cNvPr id="3" name="Slide heading">
            <a:extLst xmlns:a="http://schemas.openxmlformats.org/drawingml/2006/main">
              <a:ext uri="{FF2B5EF4-FFF2-40B4-BE49-F238E27FC236}">
                <a16:creationId xmlns:a16="http://schemas.microsoft.com/office/drawing/2014/main" id="{8B42186E-EC3B-48A7-B61A-B4D6711BF420}"/>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An explanation has to match the numbers</a:t>
            </a:r>
          </a:p>
        </p:txBody>
      </p:sp>
      <p:pic>
        <p:nvPicPr>
          <p:cNvPr id="4" name="">
            <a:extLst xmlns:a="http://schemas.openxmlformats.org/drawingml/2006/main">
              <a:ext uri="{FF2B5EF4-FFF2-40B4-BE49-F238E27FC236}">
                <a16:creationId xmlns:a16="http://schemas.microsoft.com/office/drawing/2014/main" id="{090EB531-62C4-46AC-BA7E-92B8E06F3D91}"/>
              </a:ext>
            </a:extLst>
          </p:cNvPr>
          <p:cNvPicPr>
            <a:picLocks xmlns:a="http://schemas.openxmlformats.org/drawingml/2006/main" noChangeAspect="1"/>
          </p:cNvPicPr>
          <p:nvPr/>
        </p:nvPicPr>
        <p:blipFill>
          <a:blip xmlns:r="http://schemas.openxmlformats.org/officeDocument/2006/relationships" xmlns:a="http://schemas.openxmlformats.org/drawingml/2006/main" r:embed="R50748e91c0fa4993"/>
          <a:stretch xmlns:a="http://schemas.openxmlformats.org/drawingml/2006/main"/>
        </p:blipFill>
        <p:spPr>
          <a:xfrm xmlns:a="http://schemas.openxmlformats.org/drawingml/2006/main">
            <a:off x="723900" y="3112294"/>
            <a:ext cx="9144000" cy="3757613"/>
          </a:xfrm>
          <a:prstGeom xmlns:a="http://schemas.openxmlformats.org/drawingml/2006/main" prst="rect">
            <a:avLst/>
          </a:prstGeom>
        </p:spPr>
      </p:pic>
      <p:sp>
        <p:nvSpPr>
          <p:cNvPr id="5" name="Candidate explanation">
            <a:extLst xmlns:a="http://schemas.openxmlformats.org/drawingml/2006/main">
              <a:ext uri="{FF2B5EF4-FFF2-40B4-BE49-F238E27FC236}">
                <a16:creationId xmlns:a16="http://schemas.microsoft.com/office/drawing/2014/main" id="{D2A76BA2-2F79-47E1-84F3-72DF343389C4}"/>
              </a:ext>
            </a:extLst>
          </p:cNvPr>
          <p:cNvSpPr>
            <a:spLocks xmlns:a="http://schemas.openxmlformats.org/drawingml/2006/main" noGrp="1"/>
          </p:cNvSpPr>
          <p:nvPr/>
        </p:nvSpPr>
        <p:spPr>
          <a:xfrm xmlns:a="http://schemas.openxmlformats.org/drawingml/2006/main">
            <a:off x="10420350" y="2667000"/>
            <a:ext cx="4095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Candidate explanation</a:t>
            </a:r>
          </a:p>
        </p:txBody>
      </p:sp>
      <p:sp>
        <p:nvSpPr>
          <p:cNvPr id="6" name="Check the contribution to the observed gap">
            <a:extLst xmlns:a="http://schemas.openxmlformats.org/drawingml/2006/main">
              <a:ext uri="{FF2B5EF4-FFF2-40B4-BE49-F238E27FC236}">
                <a16:creationId xmlns:a16="http://schemas.microsoft.com/office/drawing/2014/main" id="{305626D2-D437-4DBC-B843-46F8EB4E484E}"/>
              </a:ext>
            </a:extLst>
          </p:cNvPr>
          <p:cNvSpPr>
            <a:spLocks xmlns:a="http://schemas.openxmlformats.org/drawingml/2006/main" noGrp="1"/>
          </p:cNvSpPr>
          <p:nvPr/>
        </p:nvSpPr>
        <p:spPr>
          <a:xfrm xmlns:a="http://schemas.openxmlformats.org/drawingml/2006/main">
            <a:off x="10420350" y="3343275"/>
            <a:ext cx="4095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2463EB"/>
                </a:solidFill>
                <a:latin typeface="Arial"/>
                <a:ea typeface="Arial"/>
                <a:cs typeface="Arial"/>
              </a:defRPr>
            </a:defPPr>
          </a:lstStyle>
          <a:p xmlns:a="http://schemas.openxmlformats.org/drawingml/2006/main">
            <a:pPr algn="l">
              <a:defRPr sz="2400" b="1">
                <a:solidFill>
                  <a:srgbClr val="2463EB"/>
                </a:solidFill>
                <a:latin typeface="Arial"/>
                <a:ea typeface="Arial"/>
                <a:cs typeface="Arial"/>
              </a:defRPr>
            </a:pPr>
            <a:r>
              <a:rPr sz="2400" b="1">
                <a:solidFill>
                  <a:srgbClr val="2463EB"/>
                </a:solidFill>
                <a:latin typeface="Arial"/>
                <a:ea typeface="Arial"/>
                <a:cs typeface="Arial"/>
              </a:rPr>
              <a:t>Check the contribution</a:t>
            </a:r>
          </a:p>
          <a:p xmlns:a="http://schemas.openxmlformats.org/drawingml/2006/main">
            <a:pPr algn="l">
              <a:defRPr sz="2400" b="1">
                <a:solidFill>
                  <a:srgbClr val="2463EB"/>
                </a:solidFill>
                <a:latin typeface="Arial"/>
                <a:ea typeface="Arial"/>
                <a:cs typeface="Arial"/>
              </a:defRPr>
            </a:pPr>
            <a:r>
              <a:rPr sz="2400" b="1">
                <a:solidFill>
                  <a:srgbClr val="2463EB"/>
                </a:solidFill>
                <a:latin typeface="Arial"/>
                <a:ea typeface="Arial"/>
                <a:cs typeface="Arial"/>
              </a:rPr>
              <a:t>to the observed gap</a:t>
            </a:r>
          </a:p>
        </p:txBody>
      </p:sp>
      <p:sp>
        <p:nvSpPr>
          <p:cNvPr id="7" name="Residual gap ≤10%">
            <a:extLst xmlns:a="http://schemas.openxmlformats.org/drawingml/2006/main">
              <a:ext uri="{FF2B5EF4-FFF2-40B4-BE49-F238E27FC236}">
                <a16:creationId xmlns:a16="http://schemas.microsoft.com/office/drawing/2014/main" id="{BD5DC6F9-4C8F-455A-AA4C-D4E0F814B24C}"/>
              </a:ext>
            </a:extLst>
          </p:cNvPr>
          <p:cNvSpPr>
            <a:spLocks xmlns:a="http://schemas.openxmlformats.org/drawingml/2006/main" noGrp="1"/>
          </p:cNvSpPr>
          <p:nvPr/>
        </p:nvSpPr>
        <p:spPr>
          <a:xfrm xmlns:a="http://schemas.openxmlformats.org/drawingml/2006/main">
            <a:off x="10420350" y="4762500"/>
            <a:ext cx="4095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625" b="1">
                <a:solidFill>
                  <a:srgbClr val="13243F"/>
                </a:solidFill>
                <a:latin typeface="Arial"/>
                <a:ea typeface="Arial"/>
                <a:cs typeface="Arial"/>
              </a:defRPr>
            </a:defPPr>
          </a:lstStyle>
          <a:p xmlns:a="http://schemas.openxmlformats.org/drawingml/2006/main">
            <a:pPr algn="l">
              <a:defRPr sz="2625" b="1">
                <a:solidFill>
                  <a:srgbClr val="13243F"/>
                </a:solidFill>
                <a:latin typeface="Arial"/>
                <a:ea typeface="Arial"/>
                <a:cs typeface="Arial"/>
              </a:defRPr>
            </a:pPr>
            <a:r>
              <a:rPr sz="2625" b="1">
                <a:solidFill>
                  <a:srgbClr val="13243F"/>
                </a:solidFill>
                <a:latin typeface="Arial"/>
                <a:ea typeface="Arial"/>
                <a:cs typeface="Arial"/>
              </a:rPr>
              <a:t>Residual gap ≤10%</a:t>
            </a:r>
          </a:p>
        </p:txBody>
      </p:sp>
      <p:sp>
        <p:nvSpPr>
          <p:cNvPr id="8" name="Accounting attribution supports the “verified” label.">
            <a:extLst xmlns:a="http://schemas.openxmlformats.org/drawingml/2006/main">
              <a:ext uri="{FF2B5EF4-FFF2-40B4-BE49-F238E27FC236}">
                <a16:creationId xmlns:a16="http://schemas.microsoft.com/office/drawing/2014/main" id="{5657927C-8A79-450F-9E89-CFE1E51A0A81}"/>
              </a:ext>
            </a:extLst>
          </p:cNvPr>
          <p:cNvSpPr>
            <a:spLocks xmlns:a="http://schemas.openxmlformats.org/drawingml/2006/main" noGrp="1"/>
          </p:cNvSpPr>
          <p:nvPr/>
        </p:nvSpPr>
        <p:spPr>
          <a:xfrm xmlns:a="http://schemas.openxmlformats.org/drawingml/2006/main">
            <a:off x="10420350" y="5419725"/>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Accounting attribution</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supports the “verified” label.</a:t>
            </a:r>
          </a:p>
        </p:txBody>
      </p:sp>
      <p:sp>
        <p:nvSpPr>
          <p:cNvPr id="9" name="Scenarios explore changes before the owner commits.">
            <a:extLst xmlns:a="http://schemas.openxmlformats.org/drawingml/2006/main">
              <a:ext uri="{FF2B5EF4-FFF2-40B4-BE49-F238E27FC236}">
                <a16:creationId xmlns:a16="http://schemas.microsoft.com/office/drawing/2014/main" id="{8BE70B2D-7BB4-4D28-9A48-85342BCD8F42}"/>
              </a:ext>
            </a:extLst>
          </p:cNvPr>
          <p:cNvSpPr>
            <a:spLocks xmlns:a="http://schemas.openxmlformats.org/drawingml/2006/main" noGrp="1"/>
          </p:cNvSpPr>
          <p:nvPr/>
        </p:nvSpPr>
        <p:spPr>
          <a:xfrm xmlns:a="http://schemas.openxmlformats.org/drawingml/2006/main">
            <a:off x="10420350" y="6686550"/>
            <a:ext cx="4095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Scenarios explore changes</a:t>
            </a:r>
          </a:p>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before the owner commits.</a:t>
            </a:r>
          </a:p>
        </p:txBody>
      </p:sp>
      <p:sp>
        <p:nvSpPr>
          <p:cNvPr id="10" name="Illustrative demo data. Verification checks accounting consi">
            <a:extLst xmlns:a="http://schemas.openxmlformats.org/drawingml/2006/main">
              <a:ext uri="{FF2B5EF4-FFF2-40B4-BE49-F238E27FC236}">
                <a16:creationId xmlns:a16="http://schemas.microsoft.com/office/drawing/2014/main" id="{5B9FBFC5-14E5-47A7-9C6C-59F4FFB44ADE}"/>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Illustrative demo data. Verification checks accounting consistency, not causation.</a:t>
            </a:r>
          </a:p>
        </p:txBody>
      </p:sp>
    </p:spTree>
    <p:extLst>
      <p:ext uri="{BB962C8B-B14F-4D97-AF65-F5344CB8AC3E}">
        <p14:creationId xmlns:p14="http://schemas.microsoft.com/office/powerpoint/2010/main" val="556848403"/>
      </p:ext>
    </p:extLst>
  </p:cSld>
</p:sld>
</file>

<file path=ppt/slides/slide8.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cxnSp>
        <p:nvCxnSpPr>
          <p:cNvPr id="25" name="">
            <a:extLst xmlns:a="http://schemas.openxmlformats.org/drawingml/2006/main">
              <a:ext uri="{FF2B5EF4-FFF2-40B4-BE49-F238E27FC236}">
                <a16:creationId xmlns:a16="http://schemas.microsoft.com/office/drawing/2014/main" id="{5996D56F-6D60-4367-9E85-37A4DFD56B84}"/>
              </a:ext>
            </a:extLst>
          </p:cNvPr>
          <p:cNvCxnSpPr>
            <a:stCxn xmlns:a="http://schemas.openxmlformats.org/drawingml/2006/main" id="16" idx="3"/>
            <a:endCxn xmlns:a="http://schemas.openxmlformats.org/drawingml/2006/main" id="19" idx="1"/>
          </p:cNvCxnSpPr>
          <p:nvPr/>
        </p:nvCxnSpPr>
        <p:spPr>
          <a:xfrm xmlns:a="http://schemas.openxmlformats.org/drawingml/2006/main">
            <a:off x="9429750" y="605313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4" name="">
            <a:extLst xmlns:a="http://schemas.openxmlformats.org/drawingml/2006/main">
              <a:ext uri="{FF2B5EF4-FFF2-40B4-BE49-F238E27FC236}">
                <a16:creationId xmlns:a16="http://schemas.microsoft.com/office/drawing/2014/main" id="{A1C8FF38-90A0-4032-86ED-417B6E5D601C}"/>
              </a:ext>
            </a:extLst>
          </p:cNvPr>
          <p:cNvCxnSpPr>
            <a:stCxn xmlns:a="http://schemas.openxmlformats.org/drawingml/2006/main" id="13" idx="3"/>
            <a:endCxn xmlns:a="http://schemas.openxmlformats.org/drawingml/2006/main" id="16" idx="1"/>
          </p:cNvCxnSpPr>
          <p:nvPr/>
        </p:nvCxnSpPr>
        <p:spPr>
          <a:xfrm xmlns:a="http://schemas.openxmlformats.org/drawingml/2006/main">
            <a:off x="4343400" y="605313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3" name="">
            <a:extLst xmlns:a="http://schemas.openxmlformats.org/drawingml/2006/main">
              <a:ext uri="{FF2B5EF4-FFF2-40B4-BE49-F238E27FC236}">
                <a16:creationId xmlns:a16="http://schemas.microsoft.com/office/drawing/2014/main" id="{A4981D86-1E45-42B5-99EE-32809CFAA5B8}"/>
              </a:ext>
            </a:extLst>
          </p:cNvPr>
          <p:cNvCxnSpPr>
            <a:stCxn xmlns:a="http://schemas.openxmlformats.org/drawingml/2006/main" id="7" idx="3"/>
            <a:endCxn xmlns:a="http://schemas.openxmlformats.org/drawingml/2006/main" id="10" idx="1"/>
          </p:cNvCxnSpPr>
          <p:nvPr/>
        </p:nvCxnSpPr>
        <p:spPr>
          <a:xfrm xmlns:a="http://schemas.openxmlformats.org/drawingml/2006/main">
            <a:off x="9429750" y="340518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cxnSp>
        <p:nvCxnSpPr>
          <p:cNvPr id="22" name="">
            <a:extLst xmlns:a="http://schemas.openxmlformats.org/drawingml/2006/main">
              <a:ext uri="{FF2B5EF4-FFF2-40B4-BE49-F238E27FC236}">
                <a16:creationId xmlns:a16="http://schemas.microsoft.com/office/drawing/2014/main" id="{19573EF4-7F67-4970-9F30-E20C189E1A8F}"/>
              </a:ext>
            </a:extLst>
          </p:cNvPr>
          <p:cNvCxnSpPr>
            <a:stCxn xmlns:a="http://schemas.openxmlformats.org/drawingml/2006/main" id="4" idx="3"/>
            <a:endCxn xmlns:a="http://schemas.openxmlformats.org/drawingml/2006/main" id="7" idx="1"/>
          </p:cNvCxnSpPr>
          <p:nvPr/>
        </p:nvCxnSpPr>
        <p:spPr>
          <a:xfrm xmlns:a="http://schemas.openxmlformats.org/drawingml/2006/main">
            <a:off x="4343400" y="3405188"/>
            <a:ext cx="1466850" cy="0"/>
          </a:xfrm>
          <a:prstGeom xmlns:a="http://schemas.openxmlformats.org/drawingml/2006/main" prst="straightConnector1">
            <a:avLst/>
          </a:prstGeom>
          <a:ln xmlns:a="http://schemas.openxmlformats.org/drawingml/2006/main" w="23813">
            <a:solidFill>
              <a:srgbClr val="2463EB"/>
            </a:solidFill>
            <a:prstDash val="solid"/>
            <a:tailEnd type="triangle" w="sm" len="sm"/>
          </a:ln>
        </p:spPr>
      </p:cxnSp>
      <p:sp>
        <p:nvSpPr>
          <p:cNvPr id="32" name="BizWizard">
            <a:extLst xmlns:a="http://schemas.openxmlformats.org/drawingml/2006/main">
              <a:ext uri="{FF2B5EF4-FFF2-40B4-BE49-F238E27FC236}">
                <a16:creationId xmlns:a16="http://schemas.microsoft.com/office/drawing/2014/main" id="{D5FD7B52-A1A4-42FA-8449-3D004155E9D8}"/>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08">
            <a:extLst xmlns:a="http://schemas.openxmlformats.org/drawingml/2006/main">
              <a:ext uri="{FF2B5EF4-FFF2-40B4-BE49-F238E27FC236}">
                <a16:creationId xmlns:a16="http://schemas.microsoft.com/office/drawing/2014/main" id="{AC5B7BD4-3CE2-44BB-80A3-77F3F3C40839}"/>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08</a:t>
            </a:r>
          </a:p>
        </p:txBody>
      </p:sp>
      <p:sp>
        <p:nvSpPr>
          <p:cNvPr id="3" name="Slide heading">
            <a:extLst xmlns:a="http://schemas.openxmlformats.org/drawingml/2006/main">
              <a:ext uri="{FF2B5EF4-FFF2-40B4-BE49-F238E27FC236}">
                <a16:creationId xmlns:a16="http://schemas.microsoft.com/office/drawing/2014/main" id="{1224513D-129B-42A1-9A28-F72A15964285}"/>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System architecture</a:t>
            </a:r>
          </a:p>
        </p:txBody>
      </p:sp>
      <p:sp>
        <p:nvSpPr>
          <p:cNvPr id="4" name="Next.js frontend">
            <a:extLst xmlns:a="http://schemas.openxmlformats.org/drawingml/2006/main">
              <a:ext uri="{FF2B5EF4-FFF2-40B4-BE49-F238E27FC236}">
                <a16:creationId xmlns:a16="http://schemas.microsoft.com/office/drawing/2014/main" id="{D186A3F7-1239-41D9-B847-EA87A84712B1}"/>
              </a:ext>
            </a:extLst>
          </p:cNvPr>
          <p:cNvSpPr>
            <a:spLocks xmlns:a="http://schemas.openxmlformats.org/drawingml/2006/main" noGrp="1"/>
          </p:cNvSpPr>
          <p:nvPr/>
        </p:nvSpPr>
        <p:spPr>
          <a:xfrm xmlns:a="http://schemas.openxmlformats.org/drawingml/2006/main">
            <a:off x="723900" y="271462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5" name="Next.js frontend">
            <a:extLst xmlns:a="http://schemas.openxmlformats.org/drawingml/2006/main">
              <a:ext uri="{FF2B5EF4-FFF2-40B4-BE49-F238E27FC236}">
                <a16:creationId xmlns:a16="http://schemas.microsoft.com/office/drawing/2014/main" id="{1FFD5306-D751-415E-935F-D805E1A40382}"/>
              </a:ext>
            </a:extLst>
          </p:cNvPr>
          <p:cNvSpPr>
            <a:spLocks xmlns:a="http://schemas.openxmlformats.org/drawingml/2006/main" noGrp="1"/>
          </p:cNvSpPr>
          <p:nvPr/>
        </p:nvSpPr>
        <p:spPr>
          <a:xfrm xmlns:a="http://schemas.openxmlformats.org/drawingml/2006/main">
            <a:off x="93345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Next.js frontend</a:t>
            </a:r>
          </a:p>
        </p:txBody>
      </p:sp>
      <p:sp>
        <p:nvSpPr>
          <p:cNvPr id="6" name="React / Tailwind Vercel deployment">
            <a:extLst xmlns:a="http://schemas.openxmlformats.org/drawingml/2006/main">
              <a:ext uri="{FF2B5EF4-FFF2-40B4-BE49-F238E27FC236}">
                <a16:creationId xmlns:a16="http://schemas.microsoft.com/office/drawing/2014/main" id="{A2C4AA68-2116-4881-96B1-21B22FE8DCB5}"/>
              </a:ext>
            </a:extLst>
          </p:cNvPr>
          <p:cNvSpPr>
            <a:spLocks xmlns:a="http://schemas.openxmlformats.org/drawingml/2006/main" noGrp="1"/>
          </p:cNvSpPr>
          <p:nvPr/>
        </p:nvSpPr>
        <p:spPr>
          <a:xfrm xmlns:a="http://schemas.openxmlformats.org/drawingml/2006/main">
            <a:off x="93345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React / Tailwind</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Vercel deployment</a:t>
            </a:r>
          </a:p>
        </p:txBody>
      </p:sp>
      <p:sp>
        <p:nvSpPr>
          <p:cNvPr id="7" name="Express API">
            <a:extLst xmlns:a="http://schemas.openxmlformats.org/drawingml/2006/main">
              <a:ext uri="{FF2B5EF4-FFF2-40B4-BE49-F238E27FC236}">
                <a16:creationId xmlns:a16="http://schemas.microsoft.com/office/drawing/2014/main" id="{E6EF25F0-43B1-405A-ACD2-45E7A77765AD}"/>
              </a:ext>
            </a:extLst>
          </p:cNvPr>
          <p:cNvSpPr>
            <a:spLocks xmlns:a="http://schemas.openxmlformats.org/drawingml/2006/main" noGrp="1"/>
          </p:cNvSpPr>
          <p:nvPr/>
        </p:nvSpPr>
        <p:spPr>
          <a:xfrm xmlns:a="http://schemas.openxmlformats.org/drawingml/2006/main">
            <a:off x="5810250" y="2714625"/>
            <a:ext cx="3619500" cy="1381125"/>
          </a:xfrm>
          <a:prstGeom xmlns:a="http://schemas.openxmlformats.org/drawingml/2006/main" prst="rect">
            <a:avLst/>
          </a:prstGeom>
          <a:solidFill xmlns:a="http://schemas.openxmlformats.org/drawingml/2006/main">
            <a:srgbClr val="2463EB"/>
          </a:solidFill>
          <a:ln xmlns:a="http://schemas.openxmlformats.org/drawingml/2006/main" w="14288">
            <a:solidFill>
              <a:srgbClr val="D8E0ED"/>
            </a:solidFill>
          </a:ln>
        </p:spPr>
      </p:sp>
      <p:sp>
        <p:nvSpPr>
          <p:cNvPr id="8" name="Express API">
            <a:extLst xmlns:a="http://schemas.openxmlformats.org/drawingml/2006/main">
              <a:ext uri="{FF2B5EF4-FFF2-40B4-BE49-F238E27FC236}">
                <a16:creationId xmlns:a16="http://schemas.microsoft.com/office/drawing/2014/main" id="{CE8F0E6D-C626-4EDE-AD75-B2479D597592}"/>
              </a:ext>
            </a:extLst>
          </p:cNvPr>
          <p:cNvSpPr>
            <a:spLocks xmlns:a="http://schemas.openxmlformats.org/drawingml/2006/main" noGrp="1"/>
          </p:cNvSpPr>
          <p:nvPr/>
        </p:nvSpPr>
        <p:spPr>
          <a:xfrm xmlns:a="http://schemas.openxmlformats.org/drawingml/2006/main">
            <a:off x="601980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Express API</a:t>
            </a:r>
          </a:p>
        </p:txBody>
      </p:sp>
      <p:sp>
        <p:nvSpPr>
          <p:cNvPr id="9" name="JWT, roles and scope Request validation">
            <a:extLst xmlns:a="http://schemas.openxmlformats.org/drawingml/2006/main">
              <a:ext uri="{FF2B5EF4-FFF2-40B4-BE49-F238E27FC236}">
                <a16:creationId xmlns:a16="http://schemas.microsoft.com/office/drawing/2014/main" id="{87647F6A-64DD-44C9-B2A2-CBAE76A282E5}"/>
              </a:ext>
            </a:extLst>
          </p:cNvPr>
          <p:cNvSpPr>
            <a:spLocks xmlns:a="http://schemas.openxmlformats.org/drawingml/2006/main" noGrp="1"/>
          </p:cNvSpPr>
          <p:nvPr/>
        </p:nvSpPr>
        <p:spPr>
          <a:xfrm xmlns:a="http://schemas.openxmlformats.org/drawingml/2006/main">
            <a:off x="601980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JWT, roles and scope</a:t>
            </a:r>
          </a:p>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Request validation</a:t>
            </a:r>
          </a:p>
        </p:txBody>
      </p:sp>
      <p:sp>
        <p:nvSpPr>
          <p:cNvPr id="10" name="PostgreSQL">
            <a:extLst xmlns:a="http://schemas.openxmlformats.org/drawingml/2006/main">
              <a:ext uri="{FF2B5EF4-FFF2-40B4-BE49-F238E27FC236}">
                <a16:creationId xmlns:a16="http://schemas.microsoft.com/office/drawing/2014/main" id="{54FDE856-238D-4895-89D7-CB76AA3BA626}"/>
              </a:ext>
            </a:extLst>
          </p:cNvPr>
          <p:cNvSpPr>
            <a:spLocks xmlns:a="http://schemas.openxmlformats.org/drawingml/2006/main" noGrp="1"/>
          </p:cNvSpPr>
          <p:nvPr/>
        </p:nvSpPr>
        <p:spPr>
          <a:xfrm xmlns:a="http://schemas.openxmlformats.org/drawingml/2006/main">
            <a:off x="10896600" y="271462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1" name="PostgreSQL">
            <a:extLst xmlns:a="http://schemas.openxmlformats.org/drawingml/2006/main">
              <a:ext uri="{FF2B5EF4-FFF2-40B4-BE49-F238E27FC236}">
                <a16:creationId xmlns:a16="http://schemas.microsoft.com/office/drawing/2014/main" id="{C4ECA7B7-12FB-4CC4-AE12-1EFAF707C7A5}"/>
              </a:ext>
            </a:extLst>
          </p:cNvPr>
          <p:cNvSpPr>
            <a:spLocks xmlns:a="http://schemas.openxmlformats.org/drawingml/2006/main" noGrp="1"/>
          </p:cNvSpPr>
          <p:nvPr/>
        </p:nvSpPr>
        <p:spPr>
          <a:xfrm xmlns:a="http://schemas.openxmlformats.org/drawingml/2006/main">
            <a:off x="11106150" y="290512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PostgreSQL</a:t>
            </a:r>
          </a:p>
        </p:txBody>
      </p:sp>
      <p:sp>
        <p:nvSpPr>
          <p:cNvPr id="12" name="Prisma migrations Scoped business records">
            <a:extLst xmlns:a="http://schemas.openxmlformats.org/drawingml/2006/main">
              <a:ext uri="{FF2B5EF4-FFF2-40B4-BE49-F238E27FC236}">
                <a16:creationId xmlns:a16="http://schemas.microsoft.com/office/drawing/2014/main" id="{299C7C81-A296-4AF5-B0B7-7F21B84865A5}"/>
              </a:ext>
            </a:extLst>
          </p:cNvPr>
          <p:cNvSpPr>
            <a:spLocks xmlns:a="http://schemas.openxmlformats.org/drawingml/2006/main" noGrp="1"/>
          </p:cNvSpPr>
          <p:nvPr/>
        </p:nvSpPr>
        <p:spPr>
          <a:xfrm xmlns:a="http://schemas.openxmlformats.org/drawingml/2006/main">
            <a:off x="11106150" y="353377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Prisma migrations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Scoped business records</a:t>
            </a:r>
          </a:p>
        </p:txBody>
      </p:sp>
      <p:sp>
        <p:nvSpPr>
          <p:cNvPr id="13" name="Finance engines">
            <a:extLst xmlns:a="http://schemas.openxmlformats.org/drawingml/2006/main">
              <a:ext uri="{FF2B5EF4-FFF2-40B4-BE49-F238E27FC236}">
                <a16:creationId xmlns:a16="http://schemas.microsoft.com/office/drawing/2014/main" id="{190F64F7-E02E-4E03-A748-04160BF576C6}"/>
              </a:ext>
            </a:extLst>
          </p:cNvPr>
          <p:cNvSpPr>
            <a:spLocks xmlns:a="http://schemas.openxmlformats.org/drawingml/2006/main" noGrp="1"/>
          </p:cNvSpPr>
          <p:nvPr/>
        </p:nvSpPr>
        <p:spPr>
          <a:xfrm xmlns:a="http://schemas.openxmlformats.org/drawingml/2006/main">
            <a:off x="72390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4" name="Finance engines">
            <a:extLst xmlns:a="http://schemas.openxmlformats.org/drawingml/2006/main">
              <a:ext uri="{FF2B5EF4-FFF2-40B4-BE49-F238E27FC236}">
                <a16:creationId xmlns:a16="http://schemas.microsoft.com/office/drawing/2014/main" id="{2691FA11-1673-45AF-851F-00611F69FD23}"/>
              </a:ext>
            </a:extLst>
          </p:cNvPr>
          <p:cNvSpPr>
            <a:spLocks xmlns:a="http://schemas.openxmlformats.org/drawingml/2006/main" noGrp="1"/>
          </p:cNvSpPr>
          <p:nvPr/>
        </p:nvSpPr>
        <p:spPr>
          <a:xfrm xmlns:a="http://schemas.openxmlformats.org/drawingml/2006/main">
            <a:off x="93345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Finance engines</a:t>
            </a:r>
          </a:p>
        </p:txBody>
      </p:sp>
      <p:sp>
        <p:nvSpPr>
          <p:cNvPr id="15" name="Calculations, forecasts and financial guards">
            <a:extLst xmlns:a="http://schemas.openxmlformats.org/drawingml/2006/main">
              <a:ext uri="{FF2B5EF4-FFF2-40B4-BE49-F238E27FC236}">
                <a16:creationId xmlns:a16="http://schemas.microsoft.com/office/drawing/2014/main" id="{2378375F-D213-4CE0-A8D5-9B5D5208787C}"/>
              </a:ext>
            </a:extLst>
          </p:cNvPr>
          <p:cNvSpPr>
            <a:spLocks xmlns:a="http://schemas.openxmlformats.org/drawingml/2006/main" noGrp="1"/>
          </p:cNvSpPr>
          <p:nvPr/>
        </p:nvSpPr>
        <p:spPr>
          <a:xfrm xmlns:a="http://schemas.openxmlformats.org/drawingml/2006/main">
            <a:off x="93345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Calculations, forecasts</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and financial guards</a:t>
            </a:r>
          </a:p>
        </p:txBody>
      </p:sp>
      <p:sp>
        <p:nvSpPr>
          <p:cNvPr id="16" name="AI runtime">
            <a:extLst xmlns:a="http://schemas.openxmlformats.org/drawingml/2006/main">
              <a:ext uri="{FF2B5EF4-FFF2-40B4-BE49-F238E27FC236}">
                <a16:creationId xmlns:a16="http://schemas.microsoft.com/office/drawing/2014/main" id="{893FC0AB-DD44-4851-A3E2-AF8982EE43FC}"/>
              </a:ext>
            </a:extLst>
          </p:cNvPr>
          <p:cNvSpPr>
            <a:spLocks xmlns:a="http://schemas.openxmlformats.org/drawingml/2006/main" noGrp="1"/>
          </p:cNvSpPr>
          <p:nvPr/>
        </p:nvSpPr>
        <p:spPr>
          <a:xfrm xmlns:a="http://schemas.openxmlformats.org/drawingml/2006/main">
            <a:off x="581025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17" name="AI runtime">
            <a:extLst xmlns:a="http://schemas.openxmlformats.org/drawingml/2006/main">
              <a:ext uri="{FF2B5EF4-FFF2-40B4-BE49-F238E27FC236}">
                <a16:creationId xmlns:a16="http://schemas.microsoft.com/office/drawing/2014/main" id="{07672956-F7BF-44BA-B29D-E4E436904617}"/>
              </a:ext>
            </a:extLst>
          </p:cNvPr>
          <p:cNvSpPr>
            <a:spLocks xmlns:a="http://schemas.openxmlformats.org/drawingml/2006/main" noGrp="1"/>
          </p:cNvSpPr>
          <p:nvPr/>
        </p:nvSpPr>
        <p:spPr>
          <a:xfrm xmlns:a="http://schemas.openxmlformats.org/drawingml/2006/main">
            <a:off x="601980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AI runtime</a:t>
            </a:r>
          </a:p>
        </p:txBody>
      </p:sp>
      <p:sp>
        <p:nvSpPr>
          <p:cNvPr id="18" name="Structured JSON Budget and fallback">
            <a:extLst xmlns:a="http://schemas.openxmlformats.org/drawingml/2006/main">
              <a:ext uri="{FF2B5EF4-FFF2-40B4-BE49-F238E27FC236}">
                <a16:creationId xmlns:a16="http://schemas.microsoft.com/office/drawing/2014/main" id="{A21AB269-C7F6-4521-9DE3-1F926509ECB0}"/>
              </a:ext>
            </a:extLst>
          </p:cNvPr>
          <p:cNvSpPr>
            <a:spLocks xmlns:a="http://schemas.openxmlformats.org/drawingml/2006/main" noGrp="1"/>
          </p:cNvSpPr>
          <p:nvPr/>
        </p:nvSpPr>
        <p:spPr>
          <a:xfrm xmlns:a="http://schemas.openxmlformats.org/drawingml/2006/main">
            <a:off x="601980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Structured JSON</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Budget and fallback</a:t>
            </a:r>
          </a:p>
        </p:txBody>
      </p:sp>
      <p:sp>
        <p:nvSpPr>
          <p:cNvPr id="19" name="Optional OpenAI">
            <a:extLst xmlns:a="http://schemas.openxmlformats.org/drawingml/2006/main">
              <a:ext uri="{FF2B5EF4-FFF2-40B4-BE49-F238E27FC236}">
                <a16:creationId xmlns:a16="http://schemas.microsoft.com/office/drawing/2014/main" id="{848C9B33-6D13-4E6B-9B10-DC577C1210CB}"/>
              </a:ext>
            </a:extLst>
          </p:cNvPr>
          <p:cNvSpPr>
            <a:spLocks xmlns:a="http://schemas.openxmlformats.org/drawingml/2006/main" noGrp="1"/>
          </p:cNvSpPr>
          <p:nvPr/>
        </p:nvSpPr>
        <p:spPr>
          <a:xfrm xmlns:a="http://schemas.openxmlformats.org/drawingml/2006/main">
            <a:off x="10896600" y="5362575"/>
            <a:ext cx="3619500" cy="1381125"/>
          </a:xfrm>
          <a:prstGeom xmlns:a="http://schemas.openxmlformats.org/drawingml/2006/main" prst="rect">
            <a:avLst/>
          </a:prstGeom>
          <a:solidFill xmlns:a="http://schemas.openxmlformats.org/drawingml/2006/main">
            <a:srgbClr val="FFFFFF"/>
          </a:solidFill>
          <a:ln xmlns:a="http://schemas.openxmlformats.org/drawingml/2006/main" w="14288">
            <a:solidFill>
              <a:srgbClr val="D8E0ED"/>
            </a:solidFill>
          </a:ln>
        </p:spPr>
      </p:sp>
      <p:sp>
        <p:nvSpPr>
          <p:cNvPr id="20" name="Optional OpenAI">
            <a:extLst xmlns:a="http://schemas.openxmlformats.org/drawingml/2006/main">
              <a:ext uri="{FF2B5EF4-FFF2-40B4-BE49-F238E27FC236}">
                <a16:creationId xmlns:a16="http://schemas.microsoft.com/office/drawing/2014/main" id="{A276E745-162E-4761-857F-062962D96662}"/>
              </a:ext>
            </a:extLst>
          </p:cNvPr>
          <p:cNvSpPr>
            <a:spLocks xmlns:a="http://schemas.openxmlformats.org/drawingml/2006/main" noGrp="1"/>
          </p:cNvSpPr>
          <p:nvPr/>
        </p:nvSpPr>
        <p:spPr>
          <a:xfrm xmlns:a="http://schemas.openxmlformats.org/drawingml/2006/main">
            <a:off x="11106150" y="5553075"/>
            <a:ext cx="3200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13243F"/>
                </a:solidFill>
                <a:latin typeface="Arial"/>
                <a:ea typeface="Arial"/>
                <a:cs typeface="Arial"/>
              </a:defRPr>
            </a:defPPr>
          </a:lstStyle>
          <a:p xmlns:a="http://schemas.openxmlformats.org/drawingml/2006/main">
            <a:pPr algn="l">
              <a:defRPr sz="1950" b="1">
                <a:solidFill>
                  <a:srgbClr val="13243F"/>
                </a:solidFill>
                <a:latin typeface="Arial"/>
                <a:ea typeface="Arial"/>
                <a:cs typeface="Arial"/>
              </a:defRPr>
            </a:pPr>
            <a:r>
              <a:rPr sz="1950" b="1">
                <a:solidFill>
                  <a:srgbClr val="13243F"/>
                </a:solidFill>
                <a:latin typeface="Arial"/>
                <a:ea typeface="Arial"/>
                <a:cs typeface="Arial"/>
              </a:rPr>
              <a:t>Optional OpenAI</a:t>
            </a:r>
          </a:p>
        </p:txBody>
      </p:sp>
      <p:sp>
        <p:nvSpPr>
          <p:cNvPr id="21" name="Select or explain constrained options">
            <a:extLst xmlns:a="http://schemas.openxmlformats.org/drawingml/2006/main">
              <a:ext uri="{FF2B5EF4-FFF2-40B4-BE49-F238E27FC236}">
                <a16:creationId xmlns:a16="http://schemas.microsoft.com/office/drawing/2014/main" id="{60730D12-5545-43BD-8F9E-3EB509F66718}"/>
              </a:ext>
            </a:extLst>
          </p:cNvPr>
          <p:cNvSpPr>
            <a:spLocks xmlns:a="http://schemas.openxmlformats.org/drawingml/2006/main" noGrp="1"/>
          </p:cNvSpPr>
          <p:nvPr/>
        </p:nvSpPr>
        <p:spPr>
          <a:xfrm xmlns:a="http://schemas.openxmlformats.org/drawingml/2006/main">
            <a:off x="11106150" y="6181725"/>
            <a:ext cx="32004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Select or explain</a:t>
            </a:r>
          </a:p>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constrained options</a:t>
            </a:r>
          </a:p>
        </p:txBody>
      </p:sp>
      <p:cxnSp>
        <p:nvCxnSpPr>
          <p:cNvPr id="26" name="API to finance engines">
            <a:extLst xmlns:a="http://schemas.openxmlformats.org/drawingml/2006/main">
              <a:ext uri="{FF2B5EF4-FFF2-40B4-BE49-F238E27FC236}">
                <a16:creationId xmlns:a16="http://schemas.microsoft.com/office/drawing/2014/main" id="{D7631231-0F63-4A63-BEF5-AC6532371D2D}"/>
              </a:ext>
            </a:extLst>
          </p:cNvPr>
          <p:cNvCxnSpPr/>
          <p:nvPr/>
        </p:nvCxnSpPr>
        <p:spPr>
          <a:xfrm xmlns:a="http://schemas.openxmlformats.org/drawingml/2006/main">
            <a:off x="7620000" y="4095750"/>
            <a:ext cx="0" cy="762000"/>
          </a:xfrm>
          <a:prstGeom xmlns:a="http://schemas.openxmlformats.org/drawingml/2006/main" prst="straightConnector1">
            <a:avLst/>
          </a:prstGeom>
          <a:ln xmlns:a="http://schemas.openxmlformats.org/drawingml/2006/main" w="23813">
            <a:solidFill>
              <a:srgbClr val="2463EB"/>
            </a:solidFill>
          </a:ln>
        </p:spPr>
      </p:cxnSp>
      <p:cxnSp>
        <p:nvCxnSpPr>
          <p:cNvPr id="27" name="API to finance engines">
            <a:extLst xmlns:a="http://schemas.openxmlformats.org/drawingml/2006/main">
              <a:ext uri="{FF2B5EF4-FFF2-40B4-BE49-F238E27FC236}">
                <a16:creationId xmlns:a16="http://schemas.microsoft.com/office/drawing/2014/main" id="{76C42F75-6C2C-4538-9415-7BCDDAB85BD2}"/>
              </a:ext>
            </a:extLst>
          </p:cNvPr>
          <p:cNvCxnSpPr/>
          <p:nvPr/>
        </p:nvCxnSpPr>
        <p:spPr>
          <a:xfrm xmlns:a="http://schemas.openxmlformats.org/drawingml/2006/main">
            <a:off x="2533650" y="4857750"/>
            <a:ext cx="5086350" cy="0"/>
          </a:xfrm>
          <a:prstGeom xmlns:a="http://schemas.openxmlformats.org/drawingml/2006/main" prst="straightConnector1">
            <a:avLst/>
          </a:prstGeom>
          <a:ln xmlns:a="http://schemas.openxmlformats.org/drawingml/2006/main" w="23813">
            <a:solidFill>
              <a:srgbClr val="2463EB"/>
            </a:solidFill>
          </a:ln>
        </p:spPr>
      </p:cxnSp>
      <p:cxnSp>
        <p:nvCxnSpPr>
          <p:cNvPr id="28" name="API to finance engines">
            <a:extLst xmlns:a="http://schemas.openxmlformats.org/drawingml/2006/main">
              <a:ext uri="{FF2B5EF4-FFF2-40B4-BE49-F238E27FC236}">
                <a16:creationId xmlns:a16="http://schemas.microsoft.com/office/drawing/2014/main" id="{60F4BE38-AC7E-421C-9A21-08E4427AFDBF}"/>
              </a:ext>
            </a:extLst>
          </p:cNvPr>
          <p:cNvCxnSpPr/>
          <p:nvPr/>
        </p:nvCxnSpPr>
        <p:spPr>
          <a:xfrm xmlns:a="http://schemas.openxmlformats.org/drawingml/2006/main">
            <a:off x="2533650" y="4857750"/>
            <a:ext cx="0" cy="504825"/>
          </a:xfrm>
          <a:prstGeom xmlns:a="http://schemas.openxmlformats.org/drawingml/2006/main" prst="straightConnector1">
            <a:avLst/>
          </a:prstGeom>
          <a:ln xmlns:a="http://schemas.openxmlformats.org/drawingml/2006/main" w="23813">
            <a:solidFill>
              <a:srgbClr val="2463EB"/>
            </a:solidFill>
            <a:tailEnd type="triangle" w="sm" len="sm"/>
          </a:ln>
        </p:spPr>
      </p:cxnSp>
      <p:sp>
        <p:nvSpPr>
          <p:cNvPr id="29" name="Same-origin API proxy">
            <a:extLst xmlns:a="http://schemas.openxmlformats.org/drawingml/2006/main">
              <a:ext uri="{FF2B5EF4-FFF2-40B4-BE49-F238E27FC236}">
                <a16:creationId xmlns:a16="http://schemas.microsoft.com/office/drawing/2014/main" id="{B4908935-3B7A-4FF7-AF4A-0F68A6FBE0A9}"/>
              </a:ext>
            </a:extLst>
          </p:cNvPr>
          <p:cNvSpPr>
            <a:spLocks xmlns:a="http://schemas.openxmlformats.org/drawingml/2006/main" noGrp="1"/>
          </p:cNvSpPr>
          <p:nvPr/>
        </p:nvSpPr>
        <p:spPr>
          <a:xfrm xmlns:a="http://schemas.openxmlformats.org/drawingml/2006/main">
            <a:off x="733425" y="4324350"/>
            <a:ext cx="4286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637089"/>
                </a:solidFill>
                <a:latin typeface="Arial"/>
                <a:ea typeface="Arial"/>
                <a:cs typeface="Arial"/>
              </a:defRPr>
            </a:defPPr>
          </a:lstStyle>
          <a:p xmlns:a="http://schemas.openxmlformats.org/drawingml/2006/main">
            <a:pPr algn="l">
              <a:defRPr sz="1650" b="0">
                <a:solidFill>
                  <a:srgbClr val="637089"/>
                </a:solidFill>
                <a:latin typeface="Arial"/>
                <a:ea typeface="Arial"/>
                <a:cs typeface="Arial"/>
              </a:defRPr>
            </a:pPr>
            <a:r>
              <a:rPr sz="1650" b="0">
                <a:solidFill>
                  <a:srgbClr val="637089"/>
                </a:solidFill>
                <a:latin typeface="Arial"/>
                <a:ea typeface="Arial"/>
                <a:cs typeface="Arial"/>
              </a:rPr>
              <a:t>Same-origin API proxy</a:t>
            </a:r>
          </a:p>
        </p:txBody>
      </p:sp>
      <p:sp>
        <p:nvSpPr>
          <p:cNvPr id="30" name="Backend authorization">
            <a:extLst xmlns:a="http://schemas.openxmlformats.org/drawingml/2006/main">
              <a:ext uri="{FF2B5EF4-FFF2-40B4-BE49-F238E27FC236}">
                <a16:creationId xmlns:a16="http://schemas.microsoft.com/office/drawing/2014/main" id="{31B28A40-6DAF-479E-9ABA-BA83E18AE328}"/>
              </a:ext>
            </a:extLst>
          </p:cNvPr>
          <p:cNvSpPr>
            <a:spLocks xmlns:a="http://schemas.openxmlformats.org/drawingml/2006/main" noGrp="1"/>
          </p:cNvSpPr>
          <p:nvPr/>
        </p:nvSpPr>
        <p:spPr>
          <a:xfrm xmlns:a="http://schemas.openxmlformats.org/drawingml/2006/main">
            <a:off x="10382250" y="4324350"/>
            <a:ext cx="41338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2463EB"/>
                </a:solidFill>
                <a:latin typeface="Arial"/>
                <a:ea typeface="Arial"/>
                <a:cs typeface="Arial"/>
              </a:defRPr>
            </a:defPPr>
          </a:lstStyle>
          <a:p xmlns:a="http://schemas.openxmlformats.org/drawingml/2006/main">
            <a:pPr algn="l">
              <a:defRPr sz="1650" b="0">
                <a:solidFill>
                  <a:srgbClr val="2463EB"/>
                </a:solidFill>
                <a:latin typeface="Arial"/>
                <a:ea typeface="Arial"/>
                <a:cs typeface="Arial"/>
              </a:defRPr>
            </a:pPr>
            <a:r>
              <a:rPr sz="1650" b="0">
                <a:solidFill>
                  <a:srgbClr val="2463EB"/>
                </a:solidFill>
                <a:latin typeface="Arial"/>
                <a:ea typeface="Arial"/>
                <a:cs typeface="Arial"/>
              </a:rPr>
              <a:t>Backend authorization</a:t>
            </a:r>
          </a:p>
        </p:txBody>
      </p:sp>
      <p:sp>
        <p:nvSpPr>
          <p:cNvPr id="31" name="Browser, application, database and external AI form separate">
            <a:extLst xmlns:a="http://schemas.openxmlformats.org/drawingml/2006/main">
              <a:ext uri="{FF2B5EF4-FFF2-40B4-BE49-F238E27FC236}">
                <a16:creationId xmlns:a16="http://schemas.microsoft.com/office/drawing/2014/main" id="{79625D91-369C-405C-A82E-54E58E281CBF}"/>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Browser, application, database and external AI form separate trust boundaries.</a:t>
            </a:r>
          </a:p>
        </p:txBody>
      </p:sp>
    </p:spTree>
    <p:extLst>
      <p:ext uri="{BB962C8B-B14F-4D97-AF65-F5344CB8AC3E}">
        <p14:creationId xmlns:p14="http://schemas.microsoft.com/office/powerpoint/2010/main" val="1603033466"/>
      </p:ext>
    </p:extLst>
  </p:cSld>
</p:sld>
</file>

<file path=ppt/slides/slide9.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cxnSp>
        <p:nvCxnSpPr>
          <p:cNvPr id="22" name="">
            <a:extLst xmlns:a="http://schemas.openxmlformats.org/drawingml/2006/main">
              <a:ext uri="{FF2B5EF4-FFF2-40B4-BE49-F238E27FC236}">
                <a16:creationId xmlns:a16="http://schemas.microsoft.com/office/drawing/2014/main" id="{5ADCB5B1-1D77-4AD8-B2C5-DF291E9534AA}"/>
              </a:ext>
            </a:extLst>
          </p:cNvPr>
          <p:cNvCxnSpPr>
            <a:stCxn xmlns:a="http://schemas.openxmlformats.org/drawingml/2006/main" id="14" idx="3"/>
            <a:endCxn xmlns:a="http://schemas.openxmlformats.org/drawingml/2006/main" id="17" idx="1"/>
          </p:cNvCxnSpPr>
          <p:nvPr/>
        </p:nvCxnSpPr>
        <p:spPr>
          <a:xfrm xmlns:a="http://schemas.openxmlformats.org/drawingml/2006/main">
            <a:off x="9105900"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1" name="">
            <a:extLst xmlns:a="http://schemas.openxmlformats.org/drawingml/2006/main">
              <a:ext uri="{FF2B5EF4-FFF2-40B4-BE49-F238E27FC236}">
                <a16:creationId xmlns:a16="http://schemas.microsoft.com/office/drawing/2014/main" id="{76F45E76-25F7-421D-8959-BEB07BCC9608}"/>
              </a:ext>
            </a:extLst>
          </p:cNvPr>
          <p:cNvCxnSpPr>
            <a:stCxn xmlns:a="http://schemas.openxmlformats.org/drawingml/2006/main" id="11" idx="3"/>
            <a:endCxn xmlns:a="http://schemas.openxmlformats.org/drawingml/2006/main" id="14" idx="1"/>
          </p:cNvCxnSpPr>
          <p:nvPr/>
        </p:nvCxnSpPr>
        <p:spPr>
          <a:xfrm xmlns:a="http://schemas.openxmlformats.org/drawingml/2006/main">
            <a:off x="6181725"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cxnSp>
        <p:nvCxnSpPr>
          <p:cNvPr id="20" name="">
            <a:extLst xmlns:a="http://schemas.openxmlformats.org/drawingml/2006/main">
              <a:ext uri="{FF2B5EF4-FFF2-40B4-BE49-F238E27FC236}">
                <a16:creationId xmlns:a16="http://schemas.microsoft.com/office/drawing/2014/main" id="{6CD3535C-3846-436F-BEF0-D579716539BD}"/>
              </a:ext>
            </a:extLst>
          </p:cNvPr>
          <p:cNvCxnSpPr>
            <a:stCxn xmlns:a="http://schemas.openxmlformats.org/drawingml/2006/main" id="8" idx="3"/>
            <a:endCxn xmlns:a="http://schemas.openxmlformats.org/drawingml/2006/main" id="11" idx="1"/>
          </p:cNvCxnSpPr>
          <p:nvPr/>
        </p:nvCxnSpPr>
        <p:spPr>
          <a:xfrm xmlns:a="http://schemas.openxmlformats.org/drawingml/2006/main">
            <a:off x="3257550" y="5991225"/>
            <a:ext cx="390525" cy="0"/>
          </a:xfrm>
          <a:prstGeom xmlns:a="http://schemas.openxmlformats.org/drawingml/2006/main" prst="straightConnector1">
            <a:avLst/>
          </a:prstGeom>
          <a:ln xmlns:a="http://schemas.openxmlformats.org/drawingml/2006/main" w="23813">
            <a:solidFill>
              <a:srgbClr val="7FA5FF"/>
            </a:solidFill>
            <a:prstDash val="solid"/>
            <a:tailEnd type="triangle" w="sm" len="sm"/>
          </a:ln>
        </p:spPr>
      </p:cxnSp>
      <p:sp>
        <p:nvSpPr>
          <p:cNvPr id="24" name="BizWizard">
            <a:extLst xmlns:a="http://schemas.openxmlformats.org/drawingml/2006/main">
              <a:ext uri="{FF2B5EF4-FFF2-40B4-BE49-F238E27FC236}">
                <a16:creationId xmlns:a16="http://schemas.microsoft.com/office/drawing/2014/main" id="{60B33E8D-66C8-4FEB-A9D5-0945D43422AD}"/>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09">
            <a:extLst xmlns:a="http://schemas.openxmlformats.org/drawingml/2006/main">
              <a:ext uri="{FF2B5EF4-FFF2-40B4-BE49-F238E27FC236}">
                <a16:creationId xmlns:a16="http://schemas.microsoft.com/office/drawing/2014/main" id="{88136782-4A51-42FD-AC24-FA6EBAEF9B47}"/>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09</a:t>
            </a:r>
          </a:p>
        </p:txBody>
      </p:sp>
      <p:sp>
        <p:nvSpPr>
          <p:cNvPr id="3" name="Slide heading">
            <a:extLst xmlns:a="http://schemas.openxmlformats.org/drawingml/2006/main">
              <a:ext uri="{FF2B5EF4-FFF2-40B4-BE49-F238E27FC236}">
                <a16:creationId xmlns:a16="http://schemas.microsoft.com/office/drawing/2014/main" id="{78560CC5-2A8E-4FB5-A55D-F5758F9D52B7}"/>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Where AI participates</a:t>
            </a:r>
          </a:p>
        </p:txBody>
      </p:sp>
      <p:sp>
        <p:nvSpPr>
          <p:cNvPr id="4" name="AI can select and explain">
            <a:extLst xmlns:a="http://schemas.openxmlformats.org/drawingml/2006/main">
              <a:ext uri="{FF2B5EF4-FFF2-40B4-BE49-F238E27FC236}">
                <a16:creationId xmlns:a16="http://schemas.microsoft.com/office/drawing/2014/main" id="{EA259918-6DEA-44EA-9CE2-DE57F2F9258E}"/>
              </a:ext>
            </a:extLst>
          </p:cNvPr>
          <p:cNvSpPr>
            <a:spLocks xmlns:a="http://schemas.openxmlformats.org/drawingml/2006/main" noGrp="1"/>
          </p:cNvSpPr>
          <p:nvPr/>
        </p:nvSpPr>
        <p:spPr>
          <a:xfrm xmlns:a="http://schemas.openxmlformats.org/drawingml/2006/main">
            <a:off x="723900" y="2533650"/>
            <a:ext cx="66675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FFFFFF"/>
                </a:solidFill>
                <a:latin typeface="Arial"/>
                <a:ea typeface="Arial"/>
                <a:cs typeface="Arial"/>
              </a:defRPr>
            </a:def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AI can select and explain</a:t>
            </a:r>
          </a:p>
        </p:txBody>
      </p:sp>
      <p:sp>
        <p:nvSpPr>
          <p:cNvPr id="5" name="Product ranking, treasury choices, analysis hypotheses and e">
            <a:extLst xmlns:a="http://schemas.openxmlformats.org/drawingml/2006/main">
              <a:ext uri="{FF2B5EF4-FFF2-40B4-BE49-F238E27FC236}">
                <a16:creationId xmlns:a16="http://schemas.microsoft.com/office/drawing/2014/main" id="{FD4EC060-88D4-4F86-86E8-0B6BF4B99161}"/>
              </a:ext>
            </a:extLst>
          </p:cNvPr>
          <p:cNvSpPr>
            <a:spLocks xmlns:a="http://schemas.openxmlformats.org/drawingml/2006/main" noGrp="1"/>
          </p:cNvSpPr>
          <p:nvPr/>
        </p:nvSpPr>
        <p:spPr>
          <a:xfrm xmlns:a="http://schemas.openxmlformats.org/drawingml/2006/main">
            <a:off x="723900" y="3228975"/>
            <a:ext cx="66770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ADBBD2"/>
                </a:solidFill>
                <a:latin typeface="Arial"/>
                <a:ea typeface="Arial"/>
                <a:cs typeface="Arial"/>
              </a:defRPr>
            </a:defPPr>
          </a:lstStyle>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Product ranking, treasury choices,</a:t>
            </a:r>
          </a:p>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analysis hypotheses and evaluation policies.</a:t>
            </a:r>
          </a:p>
        </p:txBody>
      </p:sp>
      <p:sp>
        <p:nvSpPr>
          <p:cNvPr id="6" name="Code keeps the financial contract">
            <a:extLst xmlns:a="http://schemas.openxmlformats.org/drawingml/2006/main">
              <a:ext uri="{FF2B5EF4-FFF2-40B4-BE49-F238E27FC236}">
                <a16:creationId xmlns:a16="http://schemas.microsoft.com/office/drawing/2014/main" id="{E90C0286-F703-410A-A681-D07D5DFB0021}"/>
              </a:ext>
            </a:extLst>
          </p:cNvPr>
          <p:cNvSpPr>
            <a:spLocks xmlns:a="http://schemas.openxmlformats.org/drawingml/2006/main" noGrp="1"/>
          </p:cNvSpPr>
          <p:nvPr/>
        </p:nvSpPr>
        <p:spPr>
          <a:xfrm xmlns:a="http://schemas.openxmlformats.org/drawingml/2006/main">
            <a:off x="8143875" y="2533650"/>
            <a:ext cx="6410325"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850" b="1">
                <a:solidFill>
                  <a:srgbClr val="FFFFFF"/>
                </a:solidFill>
                <a:latin typeface="Arial"/>
                <a:ea typeface="Arial"/>
                <a:cs typeface="Arial"/>
              </a:defRPr>
            </a:defPPr>
          </a:lstStyle>
          <a:p xmlns:a="http://schemas.openxmlformats.org/drawingml/2006/main">
            <a:pPr algn="l">
              <a:defRPr sz="2850" b="1">
                <a:solidFill>
                  <a:srgbClr val="FFFFFF"/>
                </a:solidFill>
                <a:latin typeface="Arial"/>
                <a:ea typeface="Arial"/>
                <a:cs typeface="Arial"/>
              </a:defRPr>
            </a:pPr>
            <a:r>
              <a:rPr sz="2850" b="1">
                <a:solidFill>
                  <a:srgbClr val="FFFFFF"/>
                </a:solidFill>
                <a:latin typeface="Arial"/>
                <a:ea typeface="Arial"/>
                <a:cs typeface="Arial"/>
              </a:rPr>
              <a:t>Code keeps the financial contract</a:t>
            </a:r>
          </a:p>
        </p:txBody>
      </p:sp>
      <p:sp>
        <p:nvSpPr>
          <p:cNvPr id="7" name="Eligibility, pricing, negotiation policies, repayment math a">
            <a:extLst xmlns:a="http://schemas.openxmlformats.org/drawingml/2006/main">
              <a:ext uri="{FF2B5EF4-FFF2-40B4-BE49-F238E27FC236}">
                <a16:creationId xmlns:a16="http://schemas.microsoft.com/office/drawing/2014/main" id="{F9369C51-D86C-4F77-8B35-7C82BF0BD70F}"/>
              </a:ext>
            </a:extLst>
          </p:cNvPr>
          <p:cNvSpPr>
            <a:spLocks xmlns:a="http://schemas.openxmlformats.org/drawingml/2006/main" noGrp="1"/>
          </p:cNvSpPr>
          <p:nvPr/>
        </p:nvSpPr>
        <p:spPr>
          <a:xfrm xmlns:a="http://schemas.openxmlformats.org/drawingml/2006/main">
            <a:off x="8143875" y="3228975"/>
            <a:ext cx="6410325"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ADBBD2"/>
                </a:solidFill>
                <a:latin typeface="Arial"/>
                <a:ea typeface="Arial"/>
                <a:cs typeface="Arial"/>
              </a:defRPr>
            </a:defPPr>
          </a:lstStyle>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Eligibility, pricing, negotiation policies,</a:t>
            </a:r>
          </a:p>
          <a:p xmlns:a="http://schemas.openxmlformats.org/drawingml/2006/main">
            <a:pPr algn="l">
              <a:defRPr sz="2325" b="0">
                <a:solidFill>
                  <a:srgbClr val="ADBBD2"/>
                </a:solidFill>
                <a:latin typeface="Arial"/>
                <a:ea typeface="Arial"/>
                <a:cs typeface="Arial"/>
              </a:defRPr>
            </a:pPr>
            <a:r>
              <a:rPr sz="2325" b="0">
                <a:solidFill>
                  <a:srgbClr val="ADBBD2"/>
                </a:solidFill>
                <a:latin typeface="Arial"/>
                <a:ea typeface="Arial"/>
                <a:cs typeface="Arial"/>
              </a:rPr>
              <a:t>repayment math and outcome calculations.</a:t>
            </a:r>
          </a:p>
        </p:txBody>
      </p:sp>
      <p:sp>
        <p:nvSpPr>
          <p:cNvPr id="8" name="Scoped inputs">
            <a:extLst xmlns:a="http://schemas.openxmlformats.org/drawingml/2006/main">
              <a:ext uri="{FF2B5EF4-FFF2-40B4-BE49-F238E27FC236}">
                <a16:creationId xmlns:a16="http://schemas.microsoft.com/office/drawing/2014/main" id="{9DD5A0DB-238E-4C08-8324-6B27C1C72AE5}"/>
              </a:ext>
            </a:extLst>
          </p:cNvPr>
          <p:cNvSpPr>
            <a:spLocks xmlns:a="http://schemas.openxmlformats.org/drawingml/2006/main" noGrp="1"/>
          </p:cNvSpPr>
          <p:nvPr/>
        </p:nvSpPr>
        <p:spPr>
          <a:xfrm xmlns:a="http://schemas.openxmlformats.org/drawingml/2006/main">
            <a:off x="723900"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9" name="Scoped inputs">
            <a:extLst xmlns:a="http://schemas.openxmlformats.org/drawingml/2006/main">
              <a:ext uri="{FF2B5EF4-FFF2-40B4-BE49-F238E27FC236}">
                <a16:creationId xmlns:a16="http://schemas.microsoft.com/office/drawing/2014/main" id="{1CFD45F8-0278-432F-A8AD-620EE56AE33A}"/>
              </a:ext>
            </a:extLst>
          </p:cNvPr>
          <p:cNvSpPr>
            <a:spLocks xmlns:a="http://schemas.openxmlformats.org/drawingml/2006/main" noGrp="1"/>
          </p:cNvSpPr>
          <p:nvPr/>
        </p:nvSpPr>
        <p:spPr>
          <a:xfrm xmlns:a="http://schemas.openxmlformats.org/drawingml/2006/main">
            <a:off x="933450"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Scoped inputs</a:t>
            </a:r>
          </a:p>
        </p:txBody>
      </p:sp>
      <p:sp>
        <p:nvSpPr>
          <p:cNvPr id="10" name="Only the relevant shop">
            <a:extLst xmlns:a="http://schemas.openxmlformats.org/drawingml/2006/main">
              <a:ext uri="{FF2B5EF4-FFF2-40B4-BE49-F238E27FC236}">
                <a16:creationId xmlns:a16="http://schemas.microsoft.com/office/drawing/2014/main" id="{89041128-8408-4379-8503-1DD92A642612}"/>
              </a:ext>
            </a:extLst>
          </p:cNvPr>
          <p:cNvSpPr>
            <a:spLocks xmlns:a="http://schemas.openxmlformats.org/drawingml/2006/main" noGrp="1"/>
          </p:cNvSpPr>
          <p:nvPr/>
        </p:nvSpPr>
        <p:spPr>
          <a:xfrm xmlns:a="http://schemas.openxmlformats.org/drawingml/2006/main">
            <a:off x="933450"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Only the relevant shop</a:t>
            </a:r>
          </a:p>
        </p:txBody>
      </p:sp>
      <p:sp>
        <p:nvSpPr>
          <p:cNvPr id="11" name="JSON choice">
            <a:extLst xmlns:a="http://schemas.openxmlformats.org/drawingml/2006/main">
              <a:ext uri="{FF2B5EF4-FFF2-40B4-BE49-F238E27FC236}">
                <a16:creationId xmlns:a16="http://schemas.microsoft.com/office/drawing/2014/main" id="{105C81CF-109D-4191-9A52-2D70FC6405E7}"/>
              </a:ext>
            </a:extLst>
          </p:cNvPr>
          <p:cNvSpPr>
            <a:spLocks xmlns:a="http://schemas.openxmlformats.org/drawingml/2006/main" noGrp="1"/>
          </p:cNvSpPr>
          <p:nvPr/>
        </p:nvSpPr>
        <p:spPr>
          <a:xfrm xmlns:a="http://schemas.openxmlformats.org/drawingml/2006/main">
            <a:off x="3648075"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2" name="JSON choice">
            <a:extLst xmlns:a="http://schemas.openxmlformats.org/drawingml/2006/main">
              <a:ext uri="{FF2B5EF4-FFF2-40B4-BE49-F238E27FC236}">
                <a16:creationId xmlns:a16="http://schemas.microsoft.com/office/drawing/2014/main" id="{C7CAB345-4EAD-4663-B0CA-4A7FF97084FA}"/>
              </a:ext>
            </a:extLst>
          </p:cNvPr>
          <p:cNvSpPr>
            <a:spLocks xmlns:a="http://schemas.openxmlformats.org/drawingml/2006/main" noGrp="1"/>
          </p:cNvSpPr>
          <p:nvPr/>
        </p:nvSpPr>
        <p:spPr>
          <a:xfrm xmlns:a="http://schemas.openxmlformats.org/drawingml/2006/main">
            <a:off x="3857625"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JSON choice</a:t>
            </a:r>
          </a:p>
        </p:txBody>
      </p:sp>
      <p:sp>
        <p:nvSpPr>
          <p:cNvPr id="13" name="Schema and allowed IDs">
            <a:extLst xmlns:a="http://schemas.openxmlformats.org/drawingml/2006/main">
              <a:ext uri="{FF2B5EF4-FFF2-40B4-BE49-F238E27FC236}">
                <a16:creationId xmlns:a16="http://schemas.microsoft.com/office/drawing/2014/main" id="{AF854C53-B2B0-47A3-BB74-7C02ACA093F4}"/>
              </a:ext>
            </a:extLst>
          </p:cNvPr>
          <p:cNvSpPr>
            <a:spLocks xmlns:a="http://schemas.openxmlformats.org/drawingml/2006/main" noGrp="1"/>
          </p:cNvSpPr>
          <p:nvPr/>
        </p:nvSpPr>
        <p:spPr>
          <a:xfrm xmlns:a="http://schemas.openxmlformats.org/drawingml/2006/main">
            <a:off x="3857625"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Schema and allowed IDs</a:t>
            </a:r>
          </a:p>
        </p:txBody>
      </p:sp>
      <p:sp>
        <p:nvSpPr>
          <p:cNvPr id="14" name="Guards">
            <a:extLst xmlns:a="http://schemas.openxmlformats.org/drawingml/2006/main">
              <a:ext uri="{FF2B5EF4-FFF2-40B4-BE49-F238E27FC236}">
                <a16:creationId xmlns:a16="http://schemas.microsoft.com/office/drawing/2014/main" id="{6E586CD7-DB22-4E77-89F5-6F7F9AA49647}"/>
              </a:ext>
            </a:extLst>
          </p:cNvPr>
          <p:cNvSpPr>
            <a:spLocks xmlns:a="http://schemas.openxmlformats.org/drawingml/2006/main" noGrp="1"/>
          </p:cNvSpPr>
          <p:nvPr/>
        </p:nvSpPr>
        <p:spPr>
          <a:xfrm xmlns:a="http://schemas.openxmlformats.org/drawingml/2006/main">
            <a:off x="6572250" y="5295900"/>
            <a:ext cx="2533650" cy="1390650"/>
          </a:xfrm>
          <a:prstGeom xmlns:a="http://schemas.openxmlformats.org/drawingml/2006/main" prst="rect">
            <a:avLst/>
          </a:prstGeom>
          <a:solidFill xmlns:a="http://schemas.openxmlformats.org/drawingml/2006/main">
            <a:srgbClr val="1C3154"/>
          </a:solidFill>
          <a:ln xmlns:a="http://schemas.openxmlformats.org/drawingml/2006/main" w="14288">
            <a:solidFill>
              <a:srgbClr val="415779"/>
            </a:solidFill>
          </a:ln>
        </p:spPr>
      </p:sp>
      <p:sp>
        <p:nvSpPr>
          <p:cNvPr id="15" name="Guards">
            <a:extLst xmlns:a="http://schemas.openxmlformats.org/drawingml/2006/main">
              <a:ext uri="{FF2B5EF4-FFF2-40B4-BE49-F238E27FC236}">
                <a16:creationId xmlns:a16="http://schemas.microsoft.com/office/drawing/2014/main" id="{1A721B80-1A28-41DE-BA73-CD3D50F4BB1F}"/>
              </a:ext>
            </a:extLst>
          </p:cNvPr>
          <p:cNvSpPr>
            <a:spLocks xmlns:a="http://schemas.openxmlformats.org/drawingml/2006/main" noGrp="1"/>
          </p:cNvSpPr>
          <p:nvPr/>
        </p:nvSpPr>
        <p:spPr>
          <a:xfrm xmlns:a="http://schemas.openxmlformats.org/drawingml/2006/main">
            <a:off x="6781800" y="5486400"/>
            <a:ext cx="21145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Guards</a:t>
            </a:r>
          </a:p>
        </p:txBody>
      </p:sp>
      <p:sp>
        <p:nvSpPr>
          <p:cNvPr id="16" name="Independent code checks">
            <a:extLst xmlns:a="http://schemas.openxmlformats.org/drawingml/2006/main">
              <a:ext uri="{FF2B5EF4-FFF2-40B4-BE49-F238E27FC236}">
                <a16:creationId xmlns:a16="http://schemas.microsoft.com/office/drawing/2014/main" id="{896EE680-8138-4E4E-8D16-B38049E6E9E6}"/>
              </a:ext>
            </a:extLst>
          </p:cNvPr>
          <p:cNvSpPr>
            <a:spLocks xmlns:a="http://schemas.openxmlformats.org/drawingml/2006/main" noGrp="1"/>
          </p:cNvSpPr>
          <p:nvPr/>
        </p:nvSpPr>
        <p:spPr>
          <a:xfrm xmlns:a="http://schemas.openxmlformats.org/drawingml/2006/main">
            <a:off x="6781800" y="6115050"/>
            <a:ext cx="21145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Independent code checks</a:t>
            </a:r>
          </a:p>
        </p:txBody>
      </p:sp>
      <p:sp>
        <p:nvSpPr>
          <p:cNvPr id="17" name="Decision or fallback">
            <a:extLst xmlns:a="http://schemas.openxmlformats.org/drawingml/2006/main">
              <a:ext uri="{FF2B5EF4-FFF2-40B4-BE49-F238E27FC236}">
                <a16:creationId xmlns:a16="http://schemas.microsoft.com/office/drawing/2014/main" id="{B625D0DB-A5B6-4C97-9BD8-827794729F7C}"/>
              </a:ext>
            </a:extLst>
          </p:cNvPr>
          <p:cNvSpPr>
            <a:spLocks xmlns:a="http://schemas.openxmlformats.org/drawingml/2006/main" noGrp="1"/>
          </p:cNvSpPr>
          <p:nvPr/>
        </p:nvSpPr>
        <p:spPr>
          <a:xfrm xmlns:a="http://schemas.openxmlformats.org/drawingml/2006/main">
            <a:off x="9496425" y="5295900"/>
            <a:ext cx="4105275" cy="1390650"/>
          </a:xfrm>
          <a:prstGeom xmlns:a="http://schemas.openxmlformats.org/drawingml/2006/main" prst="rect">
            <a:avLst/>
          </a:prstGeom>
          <a:solidFill xmlns:a="http://schemas.openxmlformats.org/drawingml/2006/main">
            <a:srgbClr val="2463EB"/>
          </a:solidFill>
          <a:ln xmlns:a="http://schemas.openxmlformats.org/drawingml/2006/main" w="14288">
            <a:solidFill>
              <a:srgbClr val="415779"/>
            </a:solidFill>
          </a:ln>
        </p:spPr>
      </p:sp>
      <p:sp>
        <p:nvSpPr>
          <p:cNvPr id="18" name="Decision or fallback">
            <a:extLst xmlns:a="http://schemas.openxmlformats.org/drawingml/2006/main">
              <a:ext uri="{FF2B5EF4-FFF2-40B4-BE49-F238E27FC236}">
                <a16:creationId xmlns:a16="http://schemas.microsoft.com/office/drawing/2014/main" id="{3C3AA414-0D36-430A-9F98-7E63DE3E6D20}"/>
              </a:ext>
            </a:extLst>
          </p:cNvPr>
          <p:cNvSpPr>
            <a:spLocks xmlns:a="http://schemas.openxmlformats.org/drawingml/2006/main" noGrp="1"/>
          </p:cNvSpPr>
          <p:nvPr/>
        </p:nvSpPr>
        <p:spPr>
          <a:xfrm xmlns:a="http://schemas.openxmlformats.org/drawingml/2006/main">
            <a:off x="9705975" y="5486400"/>
            <a:ext cx="36861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1">
                <a:solidFill>
                  <a:srgbClr val="FFFFFF"/>
                </a:solidFill>
                <a:latin typeface="Arial"/>
                <a:ea typeface="Arial"/>
                <a:cs typeface="Arial"/>
              </a:defRPr>
            </a:defPPr>
          </a:lstStyle>
          <a:p xmlns:a="http://schemas.openxmlformats.org/drawingml/2006/main">
            <a:pPr algn="l">
              <a:defRPr sz="1950" b="1">
                <a:solidFill>
                  <a:srgbClr val="FFFFFF"/>
                </a:solidFill>
                <a:latin typeface="Arial"/>
                <a:ea typeface="Arial"/>
                <a:cs typeface="Arial"/>
              </a:defRPr>
            </a:pPr>
            <a:r>
              <a:rPr sz="1950" b="1">
                <a:solidFill>
                  <a:srgbClr val="FFFFFF"/>
                </a:solidFill>
                <a:latin typeface="Arial"/>
                <a:ea typeface="Arial"/>
                <a:cs typeface="Arial"/>
              </a:rPr>
              <a:t>Decision or fallback</a:t>
            </a:r>
          </a:p>
        </p:txBody>
      </p:sp>
      <p:sp>
        <p:nvSpPr>
          <p:cNvPr id="19" name="Label the model used">
            <a:extLst xmlns:a="http://schemas.openxmlformats.org/drawingml/2006/main">
              <a:ext uri="{FF2B5EF4-FFF2-40B4-BE49-F238E27FC236}">
                <a16:creationId xmlns:a16="http://schemas.microsoft.com/office/drawing/2014/main" id="{85C7D40A-9026-43F2-8540-3EBABAE3E674}"/>
              </a:ext>
            </a:extLst>
          </p:cNvPr>
          <p:cNvSpPr>
            <a:spLocks xmlns:a="http://schemas.openxmlformats.org/drawingml/2006/main" noGrp="1"/>
          </p:cNvSpPr>
          <p:nvPr/>
        </p:nvSpPr>
        <p:spPr>
          <a:xfrm xmlns:a="http://schemas.openxmlformats.org/drawingml/2006/main">
            <a:off x="9705975" y="6115050"/>
            <a:ext cx="3686175"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650" b="0">
                <a:solidFill>
                  <a:srgbClr val="DCE6F7"/>
                </a:solidFill>
                <a:latin typeface="Arial"/>
                <a:ea typeface="Arial"/>
                <a:cs typeface="Arial"/>
              </a:defRPr>
            </a:defPPr>
          </a:lstStyle>
          <a:p xmlns:a="http://schemas.openxmlformats.org/drawingml/2006/main">
            <a:pPr algn="l">
              <a:defRPr sz="1650" b="0">
                <a:solidFill>
                  <a:srgbClr val="DCE6F7"/>
                </a:solidFill>
                <a:latin typeface="Arial"/>
                <a:ea typeface="Arial"/>
                <a:cs typeface="Arial"/>
              </a:defRPr>
            </a:pPr>
            <a:r>
              <a:rPr sz="1650" b="0">
                <a:solidFill>
                  <a:srgbClr val="DCE6F7"/>
                </a:solidFill>
                <a:latin typeface="Arial"/>
                <a:ea typeface="Arial"/>
                <a:cs typeface="Arial"/>
              </a:rPr>
              <a:t>Label the model used</a:t>
            </a:r>
          </a:p>
        </p:txBody>
      </p:sp>
      <p:sp>
        <p:nvSpPr>
          <p:cNvPr id="23" name="Missing keys, invalid responses, timeouts and budget denial ">
            <a:extLst xmlns:a="http://schemas.openxmlformats.org/drawingml/2006/main">
              <a:ext uri="{FF2B5EF4-FFF2-40B4-BE49-F238E27FC236}">
                <a16:creationId xmlns:a16="http://schemas.microsoft.com/office/drawing/2014/main" id="{C52EC96C-A320-49E8-A695-92D1D3693ED3}"/>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Missing keys, invalid responses, timeouts and budget denial use a labelled deterministic fallback.</a:t>
            </a:r>
          </a:p>
        </p:txBody>
      </p:sp>
    </p:spTree>
    <p:extLst>
      <p:ext uri="{BB962C8B-B14F-4D97-AF65-F5344CB8AC3E}">
        <p14:creationId xmlns:p14="http://schemas.microsoft.com/office/powerpoint/2010/main" val="336988885"/>
      </p:ext>
    </p:extLst>
  </p:cSld>
</p:sld>
</file>

<file path=ppt/slides/slide10.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F140F8E4-B202-4D87-BCE6-D53E83BFB2E9}"/>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0">
            <a:extLst xmlns:a="http://schemas.openxmlformats.org/drawingml/2006/main">
              <a:ext uri="{FF2B5EF4-FFF2-40B4-BE49-F238E27FC236}">
                <a16:creationId xmlns:a16="http://schemas.microsoft.com/office/drawing/2014/main" id="{310E9B74-BBB9-41FB-9F7B-CAC1734B28D5}"/>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10</a:t>
            </a:r>
          </a:p>
        </p:txBody>
      </p:sp>
      <p:sp>
        <p:nvSpPr>
          <p:cNvPr id="3" name="Slide heading">
            <a:extLst xmlns:a="http://schemas.openxmlformats.org/drawingml/2006/main">
              <a:ext uri="{FF2B5EF4-FFF2-40B4-BE49-F238E27FC236}">
                <a16:creationId xmlns:a16="http://schemas.microsoft.com/office/drawing/2014/main" id="{9F14A504-5535-4F66-B535-00FA5B8B1D0B}"/>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The owner keeps approval authority</a:t>
            </a:r>
          </a:p>
        </p:txBody>
      </p:sp>
      <p:graphicFrame>
        <p:nvGraphicFramePr>
          <p:cNvPr id="4" name="">
            <a:extLst xmlns:a="http://schemas.openxmlformats.org/drawingml/2006/main">
              <a:ext uri="{FF2B5EF4-FFF2-40B4-BE49-F238E27FC236}">
                <a16:creationId xmlns:a16="http://schemas.microsoft.com/office/drawing/2014/main" id="{490FF8D0-4CF3-408D-8ED8-E5D4F1259961}"/>
              </a:ext>
            </a:extLst>
          </p:cNvPr>
          <p:cNvGraphicFramePr/>
          <p:nvPr/>
        </p:nvGraphicFramePr>
        <p:xfrm>
          <a:off xmlns:a="http://schemas.openxmlformats.org/drawingml/2006/main" x="723900" y="2562225"/>
          <a:ext xmlns:a="http://schemas.openxmlformats.org/drawingml/2006/main" cx="9048750" cy="3667125"/>
        </p:xfrm>
        <a:graphic xmlns:a="http://schemas.openxmlformats.org/drawingml/2006/main">
          <a:graphicData uri="http://schemas.openxmlformats.org/drawingml/2006/table">
            <a:tbl>
              <a:tblPr firstRow="1" bandRow="0"/>
              <a:tblGrid>
                <a:gridCol w="4914900"/>
                <a:gridCol w="1809750"/>
                <a:gridCol w="2324100"/>
              </a:tblGrid>
              <a:tr h="733425">
                <a:tc>
                  <a:txBody>
                    <a:bodyPr lIns="133350" tIns="133350" rIns="133350" bIns="95250"/>
                    <a:lstStyle/>
                    <a:p>
                      <a:r>
                        <a:rPr sz="1875" b="1">
                          <a:solidFill>
                            <a:srgbClr val="FFFFFF"/>
                          </a:solidFill>
                          <a:latin typeface="Arial"/>
                          <a:ea typeface="Arial"/>
                          <a:cs typeface="Arial"/>
                        </a:rPr>
                        <a:t>Finance capability</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Employee</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Owner / admin</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33425">
                <a:tc>
                  <a:txBody>
                    <a:bodyPr lIns="133350" tIns="133350" rIns="133350" bIns="95250"/>
                    <a:lstStyle/>
                    <a:p>
                      <a:r>
                        <a:rPr sz="1875" b="0">
                          <a:solidFill>
                            <a:srgbClr val="13243F"/>
                          </a:solidFill>
                          <a:latin typeface="Arial"/>
                          <a:ea typeface="Arial"/>
                          <a:cs typeface="Arial"/>
                        </a:rPr>
                        <a:t>Read assigned-shop finance</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3425">
                <a:tc>
                  <a:txBody>
                    <a:bodyPr lIns="133350" tIns="133350" rIns="133350" bIns="95250"/>
                    <a:lstStyle/>
                    <a:p>
                      <a:r>
                        <a:rPr sz="1875" b="0">
                          <a:solidFill>
                            <a:srgbClr val="13243F"/>
                          </a:solidFill>
                          <a:latin typeface="Arial"/>
                          <a:ea typeface="Arial"/>
                          <a:cs typeface="Arial"/>
                        </a:rPr>
                        <a:t>Acknowledge or dismiss alerts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733425">
                <a:tc>
                  <a:txBody>
                    <a:bodyPr lIns="133350" tIns="133350" rIns="133350" bIns="95250"/>
                    <a:lstStyle/>
                    <a:p>
                      <a:r>
                        <a:rPr sz="1875" b="0">
                          <a:solidFill>
                            <a:srgbClr val="13243F"/>
                          </a:solidFill>
                          <a:latin typeface="Arial"/>
                          <a:ea typeface="Arial"/>
                          <a:cs typeface="Arial"/>
                        </a:rPr>
                        <a:t>Change mandates and run agents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Denied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3425">
                <a:tc>
                  <a:txBody>
                    <a:bodyPr lIns="133350" tIns="133350" rIns="133350" bIns="95250"/>
                    <a:lstStyle/>
                    <a:p>
                      <a:r>
                        <a:rPr sz="1875" b="0">
                          <a:solidFill>
                            <a:srgbClr val="13243F"/>
                          </a:solidFill>
                          <a:latin typeface="Arial"/>
                          <a:ea typeface="Arial"/>
                          <a:cs typeface="Arial"/>
                        </a:rPr>
                        <a:t>Accept offers or approve plans</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Denied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Allowed</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5" name="Backend checks">
            <a:extLst xmlns:a="http://schemas.openxmlformats.org/drawingml/2006/main">
              <a:ext uri="{FF2B5EF4-FFF2-40B4-BE49-F238E27FC236}">
                <a16:creationId xmlns:a16="http://schemas.microsoft.com/office/drawing/2014/main" id="{7E56629B-5BE9-4E56-AD11-8CC02BE6EF2D}"/>
              </a:ext>
            </a:extLst>
          </p:cNvPr>
          <p:cNvSpPr>
            <a:spLocks xmlns:a="http://schemas.openxmlformats.org/drawingml/2006/main" noGrp="1"/>
          </p:cNvSpPr>
          <p:nvPr/>
        </p:nvSpPr>
        <p:spPr>
          <a:xfrm xmlns:a="http://schemas.openxmlformats.org/drawingml/2006/main">
            <a:off x="10382250" y="2667000"/>
            <a:ext cx="417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Backend checks</a:t>
            </a:r>
          </a:p>
        </p:txBody>
      </p:sp>
      <p:sp>
        <p:nvSpPr>
          <p:cNvPr id="6" name="Token, role, tenant membership and employee shop assignment.">
            <a:extLst xmlns:a="http://schemas.openxmlformats.org/drawingml/2006/main">
              <a:ext uri="{FF2B5EF4-FFF2-40B4-BE49-F238E27FC236}">
                <a16:creationId xmlns:a16="http://schemas.microsoft.com/office/drawing/2014/main" id="{22D9E1EF-81BD-4213-B03F-682AC4596CB6}"/>
              </a:ext>
            </a:extLst>
          </p:cNvPr>
          <p:cNvSpPr>
            <a:spLocks xmlns:a="http://schemas.openxmlformats.org/drawingml/2006/main" noGrp="1"/>
          </p:cNvSpPr>
          <p:nvPr/>
        </p:nvSpPr>
        <p:spPr>
          <a:xfrm xmlns:a="http://schemas.openxmlformats.org/drawingml/2006/main">
            <a:off x="10382250" y="3200400"/>
            <a:ext cx="4171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Token, role, tenant membership</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employee shop assignment.</a:t>
            </a:r>
          </a:p>
        </p:txBody>
      </p:sp>
      <p:sp>
        <p:nvSpPr>
          <p:cNvPr id="7" name="Financial safeguards">
            <a:extLst xmlns:a="http://schemas.openxmlformats.org/drawingml/2006/main">
              <a:ext uri="{FF2B5EF4-FFF2-40B4-BE49-F238E27FC236}">
                <a16:creationId xmlns:a16="http://schemas.microsoft.com/office/drawing/2014/main" id="{F671B744-33D2-4D69-B766-68B8338DFB7D}"/>
              </a:ext>
            </a:extLst>
          </p:cNvPr>
          <p:cNvSpPr>
            <a:spLocks xmlns:a="http://schemas.openxmlformats.org/drawingml/2006/main" noGrp="1"/>
          </p:cNvSpPr>
          <p:nvPr/>
        </p:nvSpPr>
        <p:spPr>
          <a:xfrm xmlns:a="http://schemas.openxmlformats.org/drawingml/2006/main">
            <a:off x="10382250" y="4467225"/>
            <a:ext cx="41719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Financial safeguards</a:t>
            </a:r>
          </a:p>
        </p:txBody>
      </p:sp>
      <p:sp>
        <p:nvSpPr>
          <p:cNvPr id="8" name="Scoped references, allowed IDs and transactional state chang">
            <a:extLst xmlns:a="http://schemas.openxmlformats.org/drawingml/2006/main">
              <a:ext uri="{FF2B5EF4-FFF2-40B4-BE49-F238E27FC236}">
                <a16:creationId xmlns:a16="http://schemas.microsoft.com/office/drawing/2014/main" id="{FF3C2607-1E30-48B6-9BA2-2FDEE50C2CBA}"/>
              </a:ext>
            </a:extLst>
          </p:cNvPr>
          <p:cNvSpPr>
            <a:spLocks xmlns:a="http://schemas.openxmlformats.org/drawingml/2006/main" noGrp="1"/>
          </p:cNvSpPr>
          <p:nvPr/>
        </p:nvSpPr>
        <p:spPr>
          <a:xfrm xmlns:a="http://schemas.openxmlformats.org/drawingml/2006/main">
            <a:off x="10382250" y="5000625"/>
            <a:ext cx="417195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Scoped references, allowed IDs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and transactional state changes.</a:t>
            </a:r>
          </a:p>
        </p:txBody>
      </p:sp>
      <p:sp>
        <p:nvSpPr>
          <p:cNvPr id="9" name="Remaining risks">
            <a:extLst xmlns:a="http://schemas.openxmlformats.org/drawingml/2006/main">
              <a:ext uri="{FF2B5EF4-FFF2-40B4-BE49-F238E27FC236}">
                <a16:creationId xmlns:a16="http://schemas.microsoft.com/office/drawing/2014/main" id="{4D34FE24-88EF-4A2A-93E2-00AA344E0C30}"/>
              </a:ext>
            </a:extLst>
          </p:cNvPr>
          <p:cNvSpPr>
            <a:spLocks xmlns:a="http://schemas.openxmlformats.org/drawingml/2006/main" noGrp="1"/>
          </p:cNvSpPr>
          <p:nvPr/>
        </p:nvSpPr>
        <p:spPr>
          <a:xfrm xmlns:a="http://schemas.openxmlformats.org/drawingml/2006/main">
            <a:off x="723900" y="6715125"/>
            <a:ext cx="137922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Remaining risks</a:t>
            </a:r>
          </a:p>
        </p:txBody>
      </p:sp>
      <p:sp>
        <p:nvSpPr>
          <p:cNvPr id="10" name="Browser token storage, incomplete redaction, audit gaps and ">
            <a:extLst xmlns:a="http://schemas.openxmlformats.org/drawingml/2006/main">
              <a:ext uri="{FF2B5EF4-FFF2-40B4-BE49-F238E27FC236}">
                <a16:creationId xmlns:a16="http://schemas.microsoft.com/office/drawing/2014/main" id="{26EC666B-1033-434C-8D38-0A64025B6940}"/>
              </a:ext>
            </a:extLst>
          </p:cNvPr>
          <p:cNvSpPr>
            <a:spLocks xmlns:a="http://schemas.openxmlformats.org/drawingml/2006/main" noGrp="1"/>
          </p:cNvSpPr>
          <p:nvPr/>
        </p:nvSpPr>
        <p:spPr>
          <a:xfrm xmlns:a="http://schemas.openxmlformats.org/drawingml/2006/main">
            <a:off x="723900" y="7277100"/>
            <a:ext cx="13668375"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Browser token storage, incomplete redaction, audit gaps and unverified restore capability need further work.</a:t>
            </a:r>
          </a:p>
        </p:txBody>
      </p:sp>
    </p:spTree>
    <p:extLst>
      <p:ext uri="{BB962C8B-B14F-4D97-AF65-F5344CB8AC3E}">
        <p14:creationId xmlns:p14="http://schemas.microsoft.com/office/powerpoint/2010/main" val="873164030"/>
      </p:ext>
    </p:extLst>
  </p:cSld>
</p:sld>
</file>

<file path=ppt/slides/slide11.xml><?xml version="1.0" encoding="utf-8"?>
<p:sld xmlns:p="http://schemas.openxmlformats.org/presentationml/2006/main">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3" name="BizWizard">
            <a:extLst xmlns:a="http://schemas.openxmlformats.org/drawingml/2006/main">
              <a:ext uri="{FF2B5EF4-FFF2-40B4-BE49-F238E27FC236}">
                <a16:creationId xmlns:a16="http://schemas.microsoft.com/office/drawing/2014/main" id="{7C602470-984A-42A9-901E-9698D0D0F011}"/>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11">
            <a:extLst xmlns:a="http://schemas.openxmlformats.org/drawingml/2006/main">
              <a:ext uri="{FF2B5EF4-FFF2-40B4-BE49-F238E27FC236}">
                <a16:creationId xmlns:a16="http://schemas.microsoft.com/office/drawing/2014/main" id="{98A5F0AE-769F-42DD-AE4F-5B4236D57726}"/>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11</a:t>
            </a:r>
          </a:p>
        </p:txBody>
      </p:sp>
      <p:sp>
        <p:nvSpPr>
          <p:cNvPr id="3" name="Slide heading">
            <a:extLst xmlns:a="http://schemas.openxmlformats.org/drawingml/2006/main">
              <a:ext uri="{FF2B5EF4-FFF2-40B4-BE49-F238E27FC236}">
                <a16:creationId xmlns:a16="http://schemas.microsoft.com/office/drawing/2014/main" id="{4084EF4F-E74C-49DA-B3A8-555B85D4BAB6}"/>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What the evidence shows</a:t>
            </a:r>
          </a:p>
        </p:txBody>
      </p:sp>
      <p:sp>
        <p:nvSpPr>
          <p:cNvPr id="4" name="Live AI versus pinned rules">
            <a:extLst xmlns:a="http://schemas.openxmlformats.org/drawingml/2006/main">
              <a:ext uri="{FF2B5EF4-FFF2-40B4-BE49-F238E27FC236}">
                <a16:creationId xmlns:a16="http://schemas.microsoft.com/office/drawing/2014/main" id="{2CFEC3C3-48E7-40DC-B956-8DF4DE5D3A33}"/>
              </a:ext>
            </a:extLst>
          </p:cNvPr>
          <p:cNvSpPr>
            <a:spLocks xmlns:a="http://schemas.openxmlformats.org/drawingml/2006/main" noGrp="1"/>
          </p:cNvSpPr>
          <p:nvPr/>
        </p:nvSpPr>
        <p:spPr>
          <a:xfrm xmlns:a="http://schemas.openxmlformats.org/drawingml/2006/main">
            <a:off x="723900" y="2333625"/>
            <a:ext cx="9906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700" b="1">
                <a:solidFill>
                  <a:srgbClr val="13243F"/>
                </a:solidFill>
                <a:latin typeface="Arial"/>
                <a:ea typeface="Arial"/>
                <a:cs typeface="Arial"/>
              </a:defRPr>
            </a:defPPr>
          </a:lstStyle>
          <a:p xmlns:a="http://schemas.openxmlformats.org/drawingml/2006/main">
            <a:pPr algn="l">
              <a:defRPr sz="2700" b="1">
                <a:solidFill>
                  <a:srgbClr val="13243F"/>
                </a:solidFill>
                <a:latin typeface="Arial"/>
                <a:ea typeface="Arial"/>
                <a:cs typeface="Arial"/>
              </a:defRPr>
            </a:pPr>
            <a:r>
              <a:rPr sz="2700" b="1">
                <a:solidFill>
                  <a:srgbClr val="13243F"/>
                </a:solidFill>
                <a:latin typeface="Arial"/>
                <a:ea typeface="Arial"/>
                <a:cs typeface="Arial"/>
              </a:rPr>
              <a:t>Live AI versus pinned rules</a:t>
            </a:r>
          </a:p>
        </p:txBody>
      </p:sp>
      <p:sp>
        <p:nvSpPr>
          <p:cNvPr id="5" name="Three synthetic risk cases across four roles">
            <a:extLst xmlns:a="http://schemas.openxmlformats.org/drawingml/2006/main">
              <a:ext uri="{FF2B5EF4-FFF2-40B4-BE49-F238E27FC236}">
                <a16:creationId xmlns:a16="http://schemas.microsoft.com/office/drawing/2014/main" id="{39B2062F-EAF0-410F-ACEE-E75CF6D3CDBD}"/>
              </a:ext>
            </a:extLst>
          </p:cNvPr>
          <p:cNvSpPr>
            <a:spLocks xmlns:a="http://schemas.openxmlformats.org/drawingml/2006/main" noGrp="1"/>
          </p:cNvSpPr>
          <p:nvPr/>
        </p:nvSpPr>
        <p:spPr>
          <a:xfrm xmlns:a="http://schemas.openxmlformats.org/drawingml/2006/main">
            <a:off x="723900" y="2886075"/>
            <a:ext cx="981075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637089"/>
                </a:solidFill>
                <a:latin typeface="Arial"/>
                <a:ea typeface="Arial"/>
                <a:cs typeface="Arial"/>
              </a:defRPr>
            </a:defPPr>
          </a:lstStyle>
          <a:p xmlns:a="http://schemas.openxmlformats.org/drawingml/2006/main">
            <a:pPr algn="l">
              <a:defRPr sz="1950" b="0">
                <a:solidFill>
                  <a:srgbClr val="637089"/>
                </a:solidFill>
                <a:latin typeface="Arial"/>
                <a:ea typeface="Arial"/>
                <a:cs typeface="Arial"/>
              </a:defRPr>
            </a:pPr>
            <a:r>
              <a:rPr sz="1950" b="0">
                <a:solidFill>
                  <a:srgbClr val="637089"/>
                </a:solidFill>
                <a:latin typeface="Arial"/>
                <a:ea typeface="Arial"/>
                <a:cs typeface="Arial"/>
              </a:rPr>
              <a:t>Three synthetic risk cases across four roles</a:t>
            </a:r>
          </a:p>
        </p:txBody>
      </p:sp>
      <p:graphicFrame>
        <p:nvGraphicFramePr>
          <p:cNvPr id="6" name="Chart">
            <a:extLst xmlns:a="http://schemas.openxmlformats.org/drawingml/2006/main">
              <a:ext uri="{FF2B5EF4-FFF2-40B4-BE49-F238E27FC236}">
                <a16:creationId xmlns:a16="http://schemas.microsoft.com/office/drawing/2014/main" id="{F467B745-7DC6-43CE-9EE1-68E622ADC266}"/>
              </a:ext>
            </a:extLst>
          </p:cNvPr>
          <p:cNvGraphicFramePr/>
          <p:nvPr/>
        </p:nvGraphicFramePr>
        <p:xfrm>
          <a:off xmlns:a="http://schemas.openxmlformats.org/drawingml/2006/main" x="619125" y="3467100"/>
          <a:ext xmlns:a="http://schemas.openxmlformats.org/drawingml/2006/main" cx="9096375" cy="3714750"/>
        </p:xfrm>
        <a:graphic xmlns:a="http://schemas.openxmlformats.org/drawingml/2006/main">
          <a:graphicData uri="http://schemas.openxmlformats.org/drawingml/2006/chart">
            <c:chart xmlns:r="http://schemas.openxmlformats.org/officeDocument/2006/relationships" xmlns:c="http://schemas.openxmlformats.org/drawingml/2006/chart" r:id="Rb3a62fe5fe6c4924"/>
          </a:graphicData>
        </a:graphic>
      </p:graphicFrame>
      <p:sp>
        <p:nvSpPr>
          <p:cNvPr id="7" name="Section rule">
            <a:extLst xmlns:a="http://schemas.openxmlformats.org/drawingml/2006/main">
              <a:ext uri="{FF2B5EF4-FFF2-40B4-BE49-F238E27FC236}">
                <a16:creationId xmlns:a16="http://schemas.microsoft.com/office/drawing/2014/main" id="{9A26696C-4EE4-4191-83B1-F9980AE0A63C}"/>
              </a:ext>
            </a:extLst>
          </p:cNvPr>
          <p:cNvSpPr>
            <a:spLocks xmlns:a="http://schemas.openxmlformats.org/drawingml/2006/main" noGrp="1"/>
          </p:cNvSpPr>
          <p:nvPr/>
        </p:nvSpPr>
        <p:spPr>
          <a:xfrm xmlns:a="http://schemas.openxmlformats.org/drawingml/2006/main">
            <a:off x="10344150" y="2381250"/>
            <a:ext cx="9525"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8" name="11">
            <a:extLst xmlns:a="http://schemas.openxmlformats.org/drawingml/2006/main">
              <a:ext uri="{FF2B5EF4-FFF2-40B4-BE49-F238E27FC236}">
                <a16:creationId xmlns:a16="http://schemas.microsoft.com/office/drawing/2014/main" id="{C1C15AFF-38EC-40F7-8F72-978BC5DE1D0A}"/>
              </a:ext>
            </a:extLst>
          </p:cNvPr>
          <p:cNvSpPr>
            <a:spLocks xmlns:a="http://schemas.openxmlformats.org/drawingml/2006/main" noGrp="1"/>
          </p:cNvSpPr>
          <p:nvPr/>
        </p:nvSpPr>
        <p:spPr>
          <a:xfrm xmlns:a="http://schemas.openxmlformats.org/drawingml/2006/main">
            <a:off x="10953750" y="2428875"/>
            <a:ext cx="35242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8700" b="1">
                <a:solidFill>
                  <a:srgbClr val="2463EB"/>
                </a:solidFill>
                <a:latin typeface="Arial"/>
                <a:ea typeface="Arial"/>
                <a:cs typeface="Arial"/>
              </a:defRPr>
            </a:defPPr>
          </a:lstStyle>
          <a:p xmlns:a="http://schemas.openxmlformats.org/drawingml/2006/main">
            <a:pPr algn="l">
              <a:defRPr sz="8700" b="1">
                <a:solidFill>
                  <a:srgbClr val="2463EB"/>
                </a:solidFill>
                <a:latin typeface="Arial"/>
                <a:ea typeface="Arial"/>
                <a:cs typeface="Arial"/>
              </a:defRPr>
            </a:pPr>
            <a:r>
              <a:rPr sz="8700" b="1">
                <a:solidFill>
                  <a:srgbClr val="2463EB"/>
                </a:solidFill>
                <a:latin typeface="Arial"/>
                <a:ea typeface="Arial"/>
                <a:cs typeface="Arial"/>
              </a:rPr>
              <a:t>11</a:t>
            </a:r>
          </a:p>
        </p:txBody>
      </p:sp>
      <p:sp>
        <p:nvSpPr>
          <p:cNvPr id="9" name="integration tests passed">
            <a:extLst xmlns:a="http://schemas.openxmlformats.org/drawingml/2006/main">
              <a:ext uri="{FF2B5EF4-FFF2-40B4-BE49-F238E27FC236}">
                <a16:creationId xmlns:a16="http://schemas.microsoft.com/office/drawing/2014/main" id="{96FC47EB-02CF-4F77-B803-D5D0E07075A6}"/>
              </a:ext>
            </a:extLst>
          </p:cNvPr>
          <p:cNvSpPr>
            <a:spLocks xmlns:a="http://schemas.openxmlformats.org/drawingml/2006/main" noGrp="1"/>
          </p:cNvSpPr>
          <p:nvPr/>
        </p:nvSpPr>
        <p:spPr>
          <a:xfrm xmlns:a="http://schemas.openxmlformats.org/drawingml/2006/main">
            <a:off x="10982325" y="3752850"/>
            <a:ext cx="3476625"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550" b="1">
                <a:solidFill>
                  <a:srgbClr val="13243F"/>
                </a:solidFill>
                <a:latin typeface="Arial"/>
                <a:ea typeface="Arial"/>
                <a:cs typeface="Arial"/>
              </a:defRPr>
            </a:defPPr>
          </a:lstStyle>
          <a:p xmlns:a="http://schemas.openxmlformats.org/drawingml/2006/main">
            <a:pPr algn="l">
              <a:defRPr sz="2550" b="1">
                <a:solidFill>
                  <a:srgbClr val="13243F"/>
                </a:solidFill>
                <a:latin typeface="Arial"/>
                <a:ea typeface="Arial"/>
                <a:cs typeface="Arial"/>
              </a:defRPr>
            </a:pPr>
            <a:r>
              <a:rPr sz="2550" b="1">
                <a:solidFill>
                  <a:srgbClr val="13243F"/>
                </a:solidFill>
                <a:latin typeface="Arial"/>
                <a:ea typeface="Arial"/>
                <a:cs typeface="Arial"/>
              </a:rPr>
              <a:t>integration tests passed</a:t>
            </a:r>
          </a:p>
        </p:txBody>
      </p:sp>
      <p:sp>
        <p:nvSpPr>
          <p:cNvPr id="10" name="5 suites Zero failed or skipped Migrations applied">
            <a:extLst xmlns:a="http://schemas.openxmlformats.org/drawingml/2006/main">
              <a:ext uri="{FF2B5EF4-FFF2-40B4-BE49-F238E27FC236}">
                <a16:creationId xmlns:a16="http://schemas.microsoft.com/office/drawing/2014/main" id="{FCA82662-B4AA-4218-9D6D-B4AB2CDAB167}"/>
              </a:ext>
            </a:extLst>
          </p:cNvPr>
          <p:cNvSpPr>
            <a:spLocks xmlns:a="http://schemas.openxmlformats.org/drawingml/2006/main" noGrp="1"/>
          </p:cNvSpPr>
          <p:nvPr/>
        </p:nvSpPr>
        <p:spPr>
          <a:xfrm xmlns:a="http://schemas.openxmlformats.org/drawingml/2006/main">
            <a:off x="10982325" y="4914900"/>
            <a:ext cx="3476625"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637089"/>
                </a:solidFill>
                <a:latin typeface="Arial"/>
                <a:ea typeface="Arial"/>
                <a:cs typeface="Arial"/>
              </a:defRPr>
            </a:defPPr>
          </a:lstStyle>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5 suites</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Zero failed or skipped</a:t>
            </a:r>
          </a:p>
          <a:p xmlns:a="http://schemas.openxmlformats.org/drawingml/2006/main">
            <a:pPr algn="l">
              <a:defRPr sz="2100" b="0">
                <a:solidFill>
                  <a:srgbClr val="637089"/>
                </a:solidFill>
                <a:latin typeface="Arial"/>
                <a:ea typeface="Arial"/>
                <a:cs typeface="Arial"/>
              </a:defRPr>
            </a:pPr>
            <a:r>
              <a:rPr sz="2100" b="0">
                <a:solidFill>
                  <a:srgbClr val="637089"/>
                </a:solidFill>
                <a:latin typeface="Arial"/>
                <a:ea typeface="Arial"/>
                <a:cs typeface="Arial"/>
              </a:rPr>
              <a:t>Migrations applied</a:t>
            </a:r>
          </a:p>
        </p:txBody>
      </p:sp>
      <p:sp>
        <p:nvSpPr>
          <p:cNvPr id="11" name="Cash integrity, permissions, concurrency and isolation">
            <a:extLst xmlns:a="http://schemas.openxmlformats.org/drawingml/2006/main">
              <a:ext uri="{FF2B5EF4-FFF2-40B4-BE49-F238E27FC236}">
                <a16:creationId xmlns:a16="http://schemas.microsoft.com/office/drawing/2014/main" id="{704E8BD8-AD1E-4CB9-AE0A-C015D0D009D1}"/>
              </a:ext>
            </a:extLst>
          </p:cNvPr>
          <p:cNvSpPr>
            <a:spLocks xmlns:a="http://schemas.openxmlformats.org/drawingml/2006/main" noGrp="1"/>
          </p:cNvSpPr>
          <p:nvPr/>
        </p:nvSpPr>
        <p:spPr>
          <a:xfrm xmlns:a="http://schemas.openxmlformats.org/drawingml/2006/main">
            <a:off x="10982325" y="6534150"/>
            <a:ext cx="3476625"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37089"/>
                </a:solidFill>
                <a:latin typeface="Arial"/>
                <a:ea typeface="Arial"/>
                <a:cs typeface="Arial"/>
              </a:defRPr>
            </a:defPPr>
          </a:lstStyle>
          <a:p xmlns:a="http://schemas.openxmlformats.org/drawingml/2006/main">
            <a:pPr algn="l">
              <a:defRPr sz="1875" b="0">
                <a:solidFill>
                  <a:srgbClr val="637089"/>
                </a:solidFill>
                <a:latin typeface="Arial"/>
                <a:ea typeface="Arial"/>
                <a:cs typeface="Arial"/>
              </a:defRPr>
            </a:pPr>
            <a:r>
              <a:rPr sz="1875" b="0">
                <a:solidFill>
                  <a:srgbClr val="637089"/>
                </a:solidFill>
                <a:latin typeface="Arial"/>
                <a:ea typeface="Arial"/>
                <a:cs typeface="Arial"/>
              </a:rPr>
              <a:t>Cash integrity, permissions,</a:t>
            </a:r>
          </a:p>
          <a:p xmlns:a="http://schemas.openxmlformats.org/drawingml/2006/main">
            <a:pPr algn="l">
              <a:defRPr sz="1875" b="0">
                <a:solidFill>
                  <a:srgbClr val="637089"/>
                </a:solidFill>
                <a:latin typeface="Arial"/>
                <a:ea typeface="Arial"/>
                <a:cs typeface="Arial"/>
              </a:defRPr>
            </a:pPr>
            <a:r>
              <a:rPr sz="1875" b="0">
                <a:solidFill>
                  <a:srgbClr val="637089"/>
                </a:solidFill>
                <a:latin typeface="Arial"/>
                <a:ea typeface="Arial"/>
                <a:cs typeface="Arial"/>
              </a:rPr>
              <a:t>concurrency and isolation</a:t>
            </a:r>
          </a:p>
        </p:txBody>
      </p:sp>
      <p:sp>
        <p:nvSpPr>
          <p:cNvPr id="12" name="4 AI wins, 5 rules wins, 3 ties. Synthetic outcomes do not e">
            <a:extLst xmlns:a="http://schemas.openxmlformats.org/drawingml/2006/main">
              <a:ext uri="{FF2B5EF4-FFF2-40B4-BE49-F238E27FC236}">
                <a16:creationId xmlns:a16="http://schemas.microsoft.com/office/drawing/2014/main" id="{74B518CC-01F1-4746-A8E5-E10F2CE1DE25}"/>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4 AI wins, 5 rules wins, 3 ties. Synthetic outcomes do not establish real-world financial improvement.</a:t>
            </a:r>
          </a:p>
        </p:txBody>
      </p:sp>
    </p:spTree>
    <p:extLst>
      <p:ext uri="{BB962C8B-B14F-4D97-AF65-F5344CB8AC3E}">
        <p14:creationId xmlns:p14="http://schemas.microsoft.com/office/powerpoint/2010/main" val="1951789735"/>
      </p:ext>
    </p:extLst>
  </p:cSld>
</p:sld>
</file>

<file path=ppt/slides/slide12.xml><?xml version="1.0" encoding="utf-8"?>
<p:sld xmlns:p="http://schemas.openxmlformats.org/presentationml/2006/main">
  <p:cSld>
    <p:bg>
      <p:bgPr>
        <a:solidFill xmlns:a="http://schemas.openxmlformats.org/drawingml/2006/main">
          <a:srgbClr val="101F3C"/>
        </a:solidFill>
      </p:bgPr>
    </p:bg>
    <p:spTree>
      <p:nvGrpSpPr>
        <p:cNvPr id="1" name=""/>
        <p:cNvGrpSpPr/>
        <p:nvPr/>
      </p:nvGrpSpPr>
      <p:grpSpPr>
        <a:xfrm xmlns:a="http://schemas.openxmlformats.org/drawingml/2006/main"/>
      </p:grpSpPr>
      <p:sp>
        <p:nvSpPr>
          <p:cNvPr id="8" name="BizWizard">
            <a:extLst xmlns:a="http://schemas.openxmlformats.org/drawingml/2006/main">
              <a:ext uri="{FF2B5EF4-FFF2-40B4-BE49-F238E27FC236}">
                <a16:creationId xmlns:a16="http://schemas.microsoft.com/office/drawing/2014/main" id="{69FA8B06-1016-4720-A6D1-CB6F84149E10}"/>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FFFFFF"/>
                </a:solidFill>
                <a:latin typeface="Arial"/>
                <a:ea typeface="Arial"/>
                <a:cs typeface="Arial"/>
              </a:defRPr>
            </a:defPPr>
          </a:lstStyle>
          <a:p xmlns:a="http://schemas.openxmlformats.org/drawingml/2006/main">
            <a:pPr algn="l">
              <a:defRPr sz="1575" b="1">
                <a:solidFill>
                  <a:srgbClr val="FFFFFF"/>
                </a:solidFill>
                <a:latin typeface="Arial"/>
                <a:ea typeface="Arial"/>
                <a:cs typeface="Arial"/>
              </a:defRPr>
            </a:pPr>
            <a:r>
              <a:rPr sz="1575" b="1">
                <a:solidFill>
                  <a:srgbClr val="FFFFFF"/>
                </a:solidFill>
                <a:latin typeface="Arial"/>
                <a:ea typeface="Arial"/>
                <a:cs typeface="Arial"/>
              </a:rPr>
              <a:t>BizWizard</a:t>
            </a:r>
          </a:p>
        </p:txBody>
      </p:sp>
      <p:sp>
        <p:nvSpPr>
          <p:cNvPr id="2" name="12">
            <a:extLst xmlns:a="http://schemas.openxmlformats.org/drawingml/2006/main">
              <a:ext uri="{FF2B5EF4-FFF2-40B4-BE49-F238E27FC236}">
                <a16:creationId xmlns:a16="http://schemas.microsoft.com/office/drawing/2014/main" id="{96E1755F-9236-41A6-9A80-6C1F259A6349}"/>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ADBBD2"/>
                </a:solidFill>
                <a:latin typeface="Arial"/>
                <a:ea typeface="Arial"/>
                <a:cs typeface="Arial"/>
              </a:defRPr>
            </a:defPPr>
          </a:lstStyle>
          <a:p xmlns:a="http://schemas.openxmlformats.org/drawingml/2006/main">
            <a:pPr algn="r">
              <a:defRPr sz="1425" b="0">
                <a:solidFill>
                  <a:srgbClr val="ADBBD2"/>
                </a:solidFill>
                <a:latin typeface="Arial"/>
                <a:ea typeface="Arial"/>
                <a:cs typeface="Arial"/>
              </a:defRPr>
            </a:pPr>
            <a:r>
              <a:rPr sz="1425" b="0">
                <a:solidFill>
                  <a:srgbClr val="ADBBD2"/>
                </a:solidFill>
                <a:latin typeface="Arial"/>
                <a:ea typeface="Arial"/>
                <a:cs typeface="Arial"/>
              </a:rPr>
              <a:t>12</a:t>
            </a:r>
          </a:p>
        </p:txBody>
      </p:sp>
      <p:sp>
        <p:nvSpPr>
          <p:cNvPr id="3" name="Slide heading">
            <a:extLst xmlns:a="http://schemas.openxmlformats.org/drawingml/2006/main">
              <a:ext uri="{FF2B5EF4-FFF2-40B4-BE49-F238E27FC236}">
                <a16:creationId xmlns:a16="http://schemas.microsoft.com/office/drawing/2014/main" id="{006C4869-94B7-492B-AC43-776BC9A911ED}"/>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FFFFFF"/>
                </a:solidFill>
                <a:latin typeface="Arial"/>
                <a:ea typeface="Arial"/>
                <a:cs typeface="Arial"/>
              </a:defRPr>
            </a:defPPr>
          </a:lstStyle>
          <a:p xmlns:a="http://schemas.openxmlformats.org/drawingml/2006/main">
            <a:pPr algn="l">
              <a:defRPr sz="4500" b="1">
                <a:solidFill>
                  <a:srgbClr val="FFFFFF"/>
                </a:solidFill>
                <a:latin typeface="Arial"/>
                <a:ea typeface="Arial"/>
                <a:cs typeface="Arial"/>
              </a:defRPr>
            </a:pPr>
            <a:r>
              <a:rPr sz="4500" b="1">
                <a:solidFill>
                  <a:srgbClr val="FFFFFF"/>
                </a:solidFill>
                <a:latin typeface="Arial"/>
                <a:ea typeface="Arial"/>
                <a:cs typeface="Arial"/>
              </a:rPr>
              <a:t>BizWizard in practice</a:t>
            </a:r>
          </a:p>
        </p:txBody>
      </p:sp>
      <p:sp>
        <p:nvSpPr>
          <p:cNvPr id="4" name="Business records become a decision the owner can inspect.">
            <a:extLst xmlns:a="http://schemas.openxmlformats.org/drawingml/2006/main">
              <a:ext uri="{FF2B5EF4-FFF2-40B4-BE49-F238E27FC236}">
                <a16:creationId xmlns:a16="http://schemas.microsoft.com/office/drawing/2014/main" id="{23FC498F-A92E-4366-B6C9-D293840D2444}"/>
              </a:ext>
            </a:extLst>
          </p:cNvPr>
          <p:cNvSpPr>
            <a:spLocks xmlns:a="http://schemas.openxmlformats.org/drawingml/2006/main" noGrp="1"/>
          </p:cNvSpPr>
          <p:nvPr/>
        </p:nvSpPr>
        <p:spPr>
          <a:xfrm xmlns:a="http://schemas.openxmlformats.org/drawingml/2006/main">
            <a:off x="723900" y="2552700"/>
            <a:ext cx="13668375" cy="1666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950" b="1">
                <a:solidFill>
                  <a:srgbClr val="FFFFFF"/>
                </a:solidFill>
                <a:latin typeface="Arial"/>
                <a:ea typeface="Arial"/>
                <a:cs typeface="Arial"/>
              </a:defRPr>
            </a:defPPr>
          </a:lstStyle>
          <a:p xmlns:a="http://schemas.openxmlformats.org/drawingml/2006/main">
            <a:pPr algn="l">
              <a:defRPr sz="4950" b="1">
                <a:solidFill>
                  <a:srgbClr val="FFFFFF"/>
                </a:solidFill>
                <a:latin typeface="Arial"/>
                <a:ea typeface="Arial"/>
                <a:cs typeface="Arial"/>
              </a:defRPr>
            </a:pPr>
            <a:r>
              <a:rPr sz="4950" b="1">
                <a:solidFill>
                  <a:srgbClr val="FFFFFF"/>
                </a:solidFill>
                <a:latin typeface="Arial"/>
                <a:ea typeface="Arial"/>
                <a:cs typeface="Arial"/>
              </a:rPr>
              <a:t>Business records become</a:t>
            </a:r>
          </a:p>
          <a:p xmlns:a="http://schemas.openxmlformats.org/drawingml/2006/main">
            <a:pPr algn="l">
              <a:defRPr sz="4950" b="1">
                <a:solidFill>
                  <a:srgbClr val="FFFFFF"/>
                </a:solidFill>
                <a:latin typeface="Arial"/>
                <a:ea typeface="Arial"/>
                <a:cs typeface="Arial"/>
              </a:defRPr>
            </a:pPr>
            <a:r>
              <a:rPr sz="4950" b="1">
                <a:solidFill>
                  <a:srgbClr val="FFFFFF"/>
                </a:solidFill>
                <a:latin typeface="Arial"/>
                <a:ea typeface="Arial"/>
                <a:cs typeface="Arial"/>
              </a:rPr>
              <a:t>a decision the owner can inspect.</a:t>
            </a:r>
          </a:p>
        </p:txBody>
      </p:sp>
      <p:sp>
        <p:nvSpPr>
          <p:cNvPr id="5" name="Compare financing. Review a cash alert. Inspect the evidence">
            <a:extLst xmlns:a="http://schemas.openxmlformats.org/drawingml/2006/main">
              <a:ext uri="{FF2B5EF4-FFF2-40B4-BE49-F238E27FC236}">
                <a16:creationId xmlns:a16="http://schemas.microsoft.com/office/drawing/2014/main" id="{BB3B0ECE-EA17-4A81-805E-EB0D43503478}"/>
              </a:ext>
            </a:extLst>
          </p:cNvPr>
          <p:cNvSpPr>
            <a:spLocks xmlns:a="http://schemas.openxmlformats.org/drawingml/2006/main" noGrp="1"/>
          </p:cNvSpPr>
          <p:nvPr/>
        </p:nvSpPr>
        <p:spPr>
          <a:xfrm xmlns:a="http://schemas.openxmlformats.org/drawingml/2006/main">
            <a:off x="723900" y="4972050"/>
            <a:ext cx="13239750" cy="1200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925" b="0">
                <a:solidFill>
                  <a:srgbClr val="ADBBD2"/>
                </a:solidFill>
                <a:latin typeface="Arial"/>
                <a:ea typeface="Arial"/>
                <a:cs typeface="Arial"/>
              </a:defRPr>
            </a:defPPr>
          </a:lstStyle>
          <a:p xmlns:a="http://schemas.openxmlformats.org/drawingml/2006/main">
            <a:pPr algn="l">
              <a:defRPr sz="2925" b="0">
                <a:solidFill>
                  <a:srgbClr val="ADBBD2"/>
                </a:solidFill>
                <a:latin typeface="Arial"/>
                <a:ea typeface="Arial"/>
                <a:cs typeface="Arial"/>
              </a:defRPr>
            </a:pPr>
            <a:r>
              <a:rPr sz="2925" b="0">
                <a:solidFill>
                  <a:srgbClr val="ADBBD2"/>
                </a:solidFill>
                <a:latin typeface="Arial"/>
                <a:ea typeface="Arial"/>
                <a:cs typeface="Arial"/>
              </a:rPr>
              <a:t>Compare financing. Review a cash alert.</a:t>
            </a:r>
          </a:p>
          <a:p xmlns:a="http://schemas.openxmlformats.org/drawingml/2006/main">
            <a:pPr algn="l">
              <a:defRPr sz="2925" b="0">
                <a:solidFill>
                  <a:srgbClr val="ADBBD2"/>
                </a:solidFill>
                <a:latin typeface="Arial"/>
                <a:ea typeface="Arial"/>
                <a:cs typeface="Arial"/>
              </a:defRPr>
            </a:pPr>
            <a:r>
              <a:rPr sz="2925" b="0">
                <a:solidFill>
                  <a:srgbClr val="ADBBD2"/>
                </a:solidFill>
                <a:latin typeface="Arial"/>
                <a:ea typeface="Arial"/>
                <a:cs typeface="Arial"/>
              </a:rPr>
              <a:t>Inspect the evidence behind a recommendation.</a:t>
            </a:r>
          </a:p>
        </p:txBody>
      </p:sp>
      <p:sp>
        <p:nvSpPr>
          <p:cNvPr id="6" name="bizwizard.sadman.app">
            <a:extLst xmlns:a="http://schemas.openxmlformats.org/drawingml/2006/main">
              <a:ext uri="{FF2B5EF4-FFF2-40B4-BE49-F238E27FC236}">
                <a16:creationId xmlns:a16="http://schemas.microsoft.com/office/drawing/2014/main" id="{7B83ED1B-9DD8-4F38-ABD8-8694CFB80206}"/>
              </a:ext>
            </a:extLst>
          </p:cNvPr>
          <p:cNvSpPr>
            <a:spLocks xmlns:a="http://schemas.openxmlformats.org/drawingml/2006/main" noGrp="1"/>
          </p:cNvSpPr>
          <p:nvPr/>
        </p:nvSpPr>
        <p:spPr>
          <a:xfrm xmlns:a="http://schemas.openxmlformats.org/drawingml/2006/main">
            <a:off x="723900" y="6953250"/>
            <a:ext cx="10477500" cy="561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150" b="1">
                <a:solidFill>
                  <a:srgbClr val="93B5FF"/>
                </a:solidFill>
                <a:latin typeface="Arial"/>
                <a:ea typeface="Arial"/>
                <a:cs typeface="Arial"/>
              </a:defRPr>
            </a:defPPr>
          </a:lstStyle>
          <a:p xmlns:a="http://schemas.openxmlformats.org/drawingml/2006/main">
            <a:pPr algn="l">
              <a:defRPr sz="3150" b="1">
                <a:solidFill>
                  <a:srgbClr val="93B5FF"/>
                </a:solidFill>
                <a:latin typeface="Arial"/>
                <a:ea typeface="Arial"/>
                <a:cs typeface="Arial"/>
              </a:defRPr>
            </a:pPr>
            <a:r>
              <a:rPr sz="3150" b="1">
                <a:solidFill>
                  <a:srgbClr val="93B5FF"/>
                </a:solidFill>
                <a:latin typeface="Arial"/>
                <a:ea typeface="Arial"/>
                <a:cs typeface="Arial"/>
                <a:hlinkClick xmlns:r="http://schemas.openxmlformats.org/officeDocument/2006/relationships" r:id="R8f96833b18a24cbf"/>
              </a:rPr>
              <a:t>bizwizard.sadman.app</a:t>
            </a:r>
          </a:p>
        </p:txBody>
      </p:sp>
      <p:sp>
        <p:nvSpPr>
          <p:cNvPr id="7" name="Working sandbox. No external lender contact or bank transfer">
            <a:extLst xmlns:a="http://schemas.openxmlformats.org/drawingml/2006/main">
              <a:ext uri="{FF2B5EF4-FFF2-40B4-BE49-F238E27FC236}">
                <a16:creationId xmlns:a16="http://schemas.microsoft.com/office/drawing/2014/main" id="{3940F1C3-091A-4E2B-A474-500C3CF2DD3D}"/>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ADBBD2"/>
                </a:solidFill>
                <a:latin typeface="Arial"/>
                <a:ea typeface="Arial"/>
                <a:cs typeface="Arial"/>
              </a:defRPr>
            </a:defPPr>
          </a:lstStyle>
          <a:p xmlns:a="http://schemas.openxmlformats.org/drawingml/2006/main">
            <a:pPr algn="l">
              <a:defRPr sz="1425" b="0">
                <a:solidFill>
                  <a:srgbClr val="ADBBD2"/>
                </a:solidFill>
                <a:latin typeface="Arial"/>
                <a:ea typeface="Arial"/>
                <a:cs typeface="Arial"/>
              </a:defRPr>
            </a:pPr>
            <a:r>
              <a:rPr sz="1425" b="0">
                <a:solidFill>
                  <a:srgbClr val="ADBBD2"/>
                </a:solidFill>
                <a:latin typeface="Arial"/>
                <a:ea typeface="Arial"/>
                <a:cs typeface="Arial"/>
              </a:rPr>
              <a:t>Working sandbox. No external lender contact or bank transfer.</a:t>
            </a:r>
          </a:p>
        </p:txBody>
      </p:sp>
    </p:spTree>
    <p:extLst>
      <p:ext uri="{BB962C8B-B14F-4D97-AF65-F5344CB8AC3E}">
        <p14:creationId xmlns:p14="http://schemas.microsoft.com/office/powerpoint/2010/main" val="1811703638"/>
      </p:ext>
    </p:extLst>
  </p:cSld>
</p:sld>
</file>

<file path=ppt/slides/slide13.xml><?xml version="1.0" encoding="utf-8"?>
<p:sld xmlns:p="http://schemas.openxmlformats.org/presentationml/2006/main" show="0">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8" name="BizWizard">
            <a:extLst xmlns:a="http://schemas.openxmlformats.org/drawingml/2006/main">
              <a:ext uri="{FF2B5EF4-FFF2-40B4-BE49-F238E27FC236}">
                <a16:creationId xmlns:a16="http://schemas.microsoft.com/office/drawing/2014/main" id="{ABA4E24C-0AB2-436E-B733-DF38CD73C619}"/>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Technical backup">
            <a:extLst xmlns:a="http://schemas.openxmlformats.org/drawingml/2006/main">
              <a:ext uri="{FF2B5EF4-FFF2-40B4-BE49-F238E27FC236}">
                <a16:creationId xmlns:a16="http://schemas.microsoft.com/office/drawing/2014/main" id="{1CB112BE-AA65-4E2F-8FFF-AB6540DDF538}"/>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Technical backup</a:t>
            </a:r>
          </a:p>
        </p:txBody>
      </p:sp>
      <p:sp>
        <p:nvSpPr>
          <p:cNvPr id="3" name="Slide heading">
            <a:extLst xmlns:a="http://schemas.openxmlformats.org/drawingml/2006/main">
              <a:ext uri="{FF2B5EF4-FFF2-40B4-BE49-F238E27FC236}">
                <a16:creationId xmlns:a16="http://schemas.microsoft.com/office/drawing/2014/main" id="{F7456037-266F-4230-9F2A-138EDFA05D5B}"/>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A separate matched sandbox evaluation</a:t>
            </a:r>
          </a:p>
        </p:txBody>
      </p:sp>
      <p:sp>
        <p:nvSpPr>
          <p:cNvPr id="4" name="Eight paired paths on one frozen shop snapshot">
            <a:extLst xmlns:a="http://schemas.openxmlformats.org/drawingml/2006/main">
              <a:ext uri="{FF2B5EF4-FFF2-40B4-BE49-F238E27FC236}">
                <a16:creationId xmlns:a16="http://schemas.microsoft.com/office/drawing/2014/main" id="{0A44ED88-4F8B-41EA-91E6-3154CB0E5FC4}"/>
              </a:ext>
            </a:extLst>
          </p:cNvPr>
          <p:cNvSpPr>
            <a:spLocks xmlns:a="http://schemas.openxmlformats.org/drawingml/2006/main" noGrp="1"/>
          </p:cNvSpPr>
          <p:nvPr/>
        </p:nvSpPr>
        <p:spPr>
          <a:xfrm xmlns:a="http://schemas.openxmlformats.org/drawingml/2006/main">
            <a:off x="723900" y="2409825"/>
            <a:ext cx="133350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637089"/>
                </a:solidFill>
                <a:latin typeface="Arial"/>
                <a:ea typeface="Arial"/>
                <a:cs typeface="Arial"/>
              </a:defRPr>
            </a:defPPr>
          </a:lstStyle>
          <a:p xmlns:a="http://schemas.openxmlformats.org/drawingml/2006/main">
            <a:pPr algn="l">
              <a:defRPr sz="2400" b="0">
                <a:solidFill>
                  <a:srgbClr val="637089"/>
                </a:solidFill>
                <a:latin typeface="Arial"/>
                <a:ea typeface="Arial"/>
                <a:cs typeface="Arial"/>
              </a:defRPr>
            </a:pPr>
            <a:r>
              <a:rPr sz="2400" b="0">
                <a:solidFill>
                  <a:srgbClr val="637089"/>
                </a:solidFill>
                <a:latin typeface="Arial"/>
                <a:ea typeface="Arial"/>
                <a:cs typeface="Arial"/>
              </a:rPr>
              <a:t>Eight paired paths on one frozen shop snapshot</a:t>
            </a:r>
          </a:p>
        </p:txBody>
      </p:sp>
      <p:graphicFrame>
        <p:nvGraphicFramePr>
          <p:cNvPr id="5" name="">
            <a:extLst xmlns:a="http://schemas.openxmlformats.org/drawingml/2006/main">
              <a:ext uri="{FF2B5EF4-FFF2-40B4-BE49-F238E27FC236}">
                <a16:creationId xmlns:a16="http://schemas.microsoft.com/office/drawing/2014/main" id="{D0434E6D-61CA-428E-8DC6-69EB9D5BA1C5}"/>
              </a:ext>
            </a:extLst>
          </p:cNvPr>
          <p:cNvGraphicFramePr/>
          <p:nvPr/>
        </p:nvGraphicFramePr>
        <p:xfrm>
          <a:off xmlns:a="http://schemas.openxmlformats.org/drawingml/2006/main" x="723900" y="3257550"/>
          <a:ext xmlns:a="http://schemas.openxmlformats.org/drawingml/2006/main" cx="13792200" cy="3419475"/>
        </p:xfrm>
        <a:graphic xmlns:a="http://schemas.openxmlformats.org/drawingml/2006/main">
          <a:graphicData uri="http://schemas.openxmlformats.org/drawingml/2006/table">
            <a:tbl>
              <a:tblPr firstRow="1" bandRow="0"/>
              <a:tblGrid>
                <a:gridCol w="4667250"/>
                <a:gridCol w="3048000"/>
                <a:gridCol w="3048000"/>
                <a:gridCol w="3028950"/>
              </a:tblGrid>
              <a:tr h="683895">
                <a:tc>
                  <a:txBody>
                    <a:bodyPr lIns="133350" tIns="133350" rIns="133350" bIns="95250"/>
                    <a:lstStyle/>
                    <a:p>
                      <a:r>
                        <a:rPr sz="1875" b="1">
                          <a:solidFill>
                            <a:srgbClr val="FFFFFF"/>
                          </a:solidFill>
                          <a:latin typeface="Arial"/>
                          <a:ea typeface="Arial"/>
                          <a:cs typeface="Arial"/>
                        </a:rPr>
                        <a:t>Role / metric</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Rules baseline (BDT)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AI policy (BDT)</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75" b="1">
                          <a:solidFill>
                            <a:srgbClr val="FFFFFF"/>
                          </a:solidFill>
                          <a:latin typeface="Arial"/>
                          <a:ea typeface="Arial"/>
                          <a:cs typeface="Arial"/>
                        </a:rPr>
                        <a:t>AI-favouring delta</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683895">
                <a:tc>
                  <a:txBody>
                    <a:bodyPr lIns="133350" tIns="133350" rIns="133350" bIns="95250"/>
                    <a:lstStyle/>
                    <a:p>
                      <a:r>
                        <a:rPr sz="1875" b="0">
                          <a:solidFill>
                            <a:srgbClr val="13243F"/>
                          </a:solidFill>
                          <a:latin typeface="Arial"/>
                          <a:ea typeface="Arial"/>
                          <a:cs typeface="Arial"/>
                        </a:rPr>
                        <a:t>Lender / net credit return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665.94</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265.22</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−400.72</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83895">
                <a:tc>
                  <a:txBody>
                    <a:bodyPr lIns="133350" tIns="133350" rIns="133350" bIns="95250"/>
                    <a:lstStyle/>
                    <a:p>
                      <a:r>
                        <a:rPr sz="1875" b="0">
                          <a:solidFill>
                            <a:srgbClr val="13243F"/>
                          </a:solidFill>
                          <a:latin typeface="Arial"/>
                          <a:ea typeface="Arial"/>
                          <a:cs typeface="Arial"/>
                        </a:rPr>
                        <a:t>Borrower / borrowing cost</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705.82</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423.28</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+282.54</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683895">
                <a:tc>
                  <a:txBody>
                    <a:bodyPr lIns="133350" tIns="133350" rIns="133350" bIns="95250"/>
                    <a:lstStyle/>
                    <a:p>
                      <a:r>
                        <a:rPr sz="1875" b="0">
                          <a:solidFill>
                            <a:srgbClr val="13243F"/>
                          </a:solidFill>
                          <a:latin typeface="Arial"/>
                          <a:ea typeface="Arial"/>
                          <a:cs typeface="Arial"/>
                        </a:rPr>
                        <a:t>Treasurer / closing cash</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1,484,037.23</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1,484,037.23</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75" b="0">
                          <a:solidFill>
                            <a:srgbClr val="13243F"/>
                          </a:solidFill>
                          <a:latin typeface="Arial"/>
                          <a:ea typeface="Arial"/>
                          <a:cs typeface="Arial"/>
                        </a:rPr>
                        <a:t>0.00</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683895">
                <a:tc>
                  <a:txBody>
                    <a:bodyPr lIns="133350" tIns="133350" rIns="133350" bIns="95250"/>
                    <a:lstStyle/>
                    <a:p>
                      <a:r>
                        <a:rPr sz="1875" b="0">
                          <a:solidFill>
                            <a:srgbClr val="13243F"/>
                          </a:solidFill>
                          <a:latin typeface="Arial"/>
                          <a:ea typeface="Arial"/>
                          <a:cs typeface="Arial"/>
                        </a:rPr>
                        <a:t>Analyst / modeled margin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46,761.23</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46,761.23</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75" b="0">
                          <a:solidFill>
                            <a:srgbClr val="13243F"/>
                          </a:solidFill>
                          <a:latin typeface="Arial"/>
                          <a:ea typeface="Arial"/>
                          <a:cs typeface="Arial"/>
                        </a:rPr>
                        <a:t>0.00</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6" name="Lender and borrower use full loan terms. Treasurer and analy">
            <a:extLst xmlns:a="http://schemas.openxmlformats.org/drawingml/2006/main">
              <a:ext uri="{FF2B5EF4-FFF2-40B4-BE49-F238E27FC236}">
                <a16:creationId xmlns:a16="http://schemas.microsoft.com/office/drawing/2014/main" id="{EFFA9343-5FB5-48D9-B92B-F0B0403BAF56}"/>
              </a:ext>
            </a:extLst>
          </p:cNvPr>
          <p:cNvSpPr>
            <a:spLocks xmlns:a="http://schemas.openxmlformats.org/drawingml/2006/main" noGrp="1"/>
          </p:cNvSpPr>
          <p:nvPr/>
        </p:nvSpPr>
        <p:spPr>
          <a:xfrm xmlns:a="http://schemas.openxmlformats.org/drawingml/2006/main">
            <a:off x="723900" y="7067550"/>
            <a:ext cx="13620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637089"/>
                </a:solidFill>
                <a:latin typeface="Arial"/>
                <a:ea typeface="Arial"/>
                <a:cs typeface="Arial"/>
              </a:defRPr>
            </a:defPPr>
          </a:lstStyle>
          <a:p xmlns:a="http://schemas.openxmlformats.org/drawingml/2006/main">
            <a:pPr algn="l">
              <a:defRPr sz="2025" b="0">
                <a:solidFill>
                  <a:srgbClr val="637089"/>
                </a:solidFill>
                <a:latin typeface="Arial"/>
                <a:ea typeface="Arial"/>
                <a:cs typeface="Arial"/>
              </a:defRPr>
            </a:pPr>
            <a:r>
              <a:rPr sz="2025" b="0">
                <a:solidFill>
                  <a:srgbClr val="637089"/>
                </a:solidFill>
                <a:latin typeface="Arial"/>
                <a:ea typeface="Arial"/>
                <a:cs typeface="Arial"/>
              </a:rPr>
              <a:t>Lender and borrower use full loan terms. Treasurer and analyst use 30 days.</a:t>
            </a:r>
          </a:p>
        </p:txBody>
      </p:sp>
      <p:sp>
        <p:nvSpPr>
          <p:cNvPr id="7" name="Same draws for both policies. Offline replay matched the out">
            <a:extLst xmlns:a="http://schemas.openxmlformats.org/drawingml/2006/main">
              <a:ext uri="{FF2B5EF4-FFF2-40B4-BE49-F238E27FC236}">
                <a16:creationId xmlns:a16="http://schemas.microsoft.com/office/drawing/2014/main" id="{BFB90854-1FE7-4303-9043-1807543E29C5}"/>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Same draws for both policies. Offline replay matched the outcome hash. These metrics must remain separate.</a:t>
            </a:r>
          </a:p>
        </p:txBody>
      </p:sp>
    </p:spTree>
    <p:extLst>
      <p:ext uri="{BB962C8B-B14F-4D97-AF65-F5344CB8AC3E}">
        <p14:creationId xmlns:p14="http://schemas.microsoft.com/office/powerpoint/2010/main" val="386426641"/>
      </p:ext>
    </p:extLst>
  </p:cSld>
</p:sld>
</file>

<file path=ppt/slides/slide14.xml><?xml version="1.0" encoding="utf-8"?>
<p:sld xmlns:p="http://schemas.openxmlformats.org/presentationml/2006/main" show="0">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7" name="BizWizard">
            <a:extLst xmlns:a="http://schemas.openxmlformats.org/drawingml/2006/main">
              <a:ext uri="{FF2B5EF4-FFF2-40B4-BE49-F238E27FC236}">
                <a16:creationId xmlns:a16="http://schemas.microsoft.com/office/drawing/2014/main" id="{81F1512A-3428-4F95-BB7B-781ACA7631B8}"/>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Technical backup">
            <a:extLst xmlns:a="http://schemas.openxmlformats.org/drawingml/2006/main">
              <a:ext uri="{FF2B5EF4-FFF2-40B4-BE49-F238E27FC236}">
                <a16:creationId xmlns:a16="http://schemas.microsoft.com/office/drawing/2014/main" id="{4CE59E2B-3C01-440D-8B46-925CDD03219B}"/>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Technical backup</a:t>
            </a:r>
          </a:p>
        </p:txBody>
      </p:sp>
      <p:sp>
        <p:nvSpPr>
          <p:cNvPr id="3" name="Slide heading">
            <a:extLst xmlns:a="http://schemas.openxmlformats.org/drawingml/2006/main">
              <a:ext uri="{FF2B5EF4-FFF2-40B4-BE49-F238E27FC236}">
                <a16:creationId xmlns:a16="http://schemas.microsoft.com/office/drawing/2014/main" id="{E1548BE1-26FF-416D-AC86-7804A5E9D52B}"/>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How a reviewer can reproduce the evidence</a:t>
            </a:r>
          </a:p>
        </p:txBody>
      </p:sp>
      <p:graphicFrame>
        <p:nvGraphicFramePr>
          <p:cNvPr id="4" name="">
            <a:extLst xmlns:a="http://schemas.openxmlformats.org/drawingml/2006/main">
              <a:ext uri="{FF2B5EF4-FFF2-40B4-BE49-F238E27FC236}">
                <a16:creationId xmlns:a16="http://schemas.microsoft.com/office/drawing/2014/main" id="{C7CCBB91-7265-49B2-A86A-043F0AD43C5C}"/>
              </a:ext>
            </a:extLst>
          </p:cNvPr>
          <p:cNvGraphicFramePr/>
          <p:nvPr/>
        </p:nvGraphicFramePr>
        <p:xfrm>
          <a:off xmlns:a="http://schemas.openxmlformats.org/drawingml/2006/main" x="723900" y="2552700"/>
          <a:ext xmlns:a="http://schemas.openxmlformats.org/drawingml/2006/main" cx="13792200" cy="3695700"/>
        </p:xfrm>
        <a:graphic xmlns:a="http://schemas.openxmlformats.org/drawingml/2006/main">
          <a:graphicData uri="http://schemas.openxmlformats.org/drawingml/2006/table">
            <a:tbl>
              <a:tblPr firstRow="1" bandRow="0"/>
              <a:tblGrid>
                <a:gridCol w="6191250"/>
                <a:gridCol w="3943350"/>
                <a:gridCol w="3657600"/>
              </a:tblGrid>
              <a:tr h="739140">
                <a:tc>
                  <a:txBody>
                    <a:bodyPr lIns="133350" tIns="133350" rIns="133350" bIns="95250"/>
                    <a:lstStyle/>
                    <a:p>
                      <a:r>
                        <a:rPr sz="1800" b="1">
                          <a:solidFill>
                            <a:srgbClr val="FFFFFF"/>
                          </a:solidFill>
                          <a:latin typeface="Arial"/>
                          <a:ea typeface="Arial"/>
                          <a:cs typeface="Arial"/>
                        </a:rPr>
                        <a:t>Run from server/</a:t>
                      </a:r>
                    </a:p>
                  </a:txBody>
                  <a:tcPr marL="91440" marR="91440" marT="45720" marB="45720" anchor="ctr">
                    <a:lnL w="6668">
                      <a:solidFill>
                        <a:srgbClr val="F6F8FC"/>
                      </a:solidFill>
                      <a:prstDash val="solid"/>
                    </a:lnL>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00" b="1">
                          <a:solidFill>
                            <a:srgbClr val="FFFFFF"/>
                          </a:solidFill>
                          <a:latin typeface="Arial"/>
                          <a:ea typeface="Arial"/>
                          <a:cs typeface="Arial"/>
                        </a:rPr>
                        <a:t>Purpose</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c>
                  <a:txBody>
                    <a:bodyPr lIns="133350" tIns="133350" rIns="133350" bIns="95250"/>
                    <a:lstStyle/>
                    <a:p>
                      <a:r>
                        <a:rPr sz="1800" b="1">
                          <a:solidFill>
                            <a:srgbClr val="FFFFFF"/>
                          </a:solidFill>
                          <a:latin typeface="Arial"/>
                          <a:ea typeface="Arial"/>
                          <a:cs typeface="Arial"/>
                        </a:rPr>
                        <a:t>What it needs</a:t>
                      </a:r>
                    </a:p>
                  </a:txBody>
                  <a:tcPr marL="91440" marR="91440" marT="45720" marB="45720" anchor="ctr">
                    <a:lnR w="6668">
                      <a:solidFill>
                        <a:srgbClr val="F6F8FC"/>
                      </a:solidFill>
                      <a:prstDash val="solid"/>
                    </a:lnR>
                    <a:lnT w="6668">
                      <a:solidFill>
                        <a:srgbClr val="F6F8FC"/>
                      </a:solidFill>
                      <a:prstDash val="solid"/>
                    </a:lnT>
                    <a:lnB w="6668">
                      <a:solidFill>
                        <a:srgbClr val="F6F8FC"/>
                      </a:solidFill>
                      <a:prstDash val="solid"/>
                    </a:lnB>
                    <a:solidFill>
                      <a:srgbClr val="101F3C"/>
                    </a:solidFill>
                  </a:tcPr>
                </a:tc>
              </a:tr>
              <a:tr h="739140">
                <a:tc>
                  <a:txBody>
                    <a:bodyPr lIns="133350" tIns="133350" rIns="133350" bIns="95250"/>
                    <a:lstStyle/>
                    <a:p>
                      <a:r>
                        <a:rPr sz="1800" b="0">
                          <a:solidFill>
                            <a:srgbClr val="13243F"/>
                          </a:solidFill>
                          <a:latin typeface="Arial"/>
                          <a:ea typeface="Arial"/>
                          <a:cs typeface="Arial"/>
                        </a:rPr>
                        <a:t>npm run benchmark:finance</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00" b="0">
                          <a:solidFill>
                            <a:srgbClr val="13243F"/>
                          </a:solidFill>
                          <a:latin typeface="Arial"/>
                          <a:ea typeface="Arial"/>
                          <a:cs typeface="Arial"/>
                        </a:rPr>
                        <a:t>Synthetic fixture versus rules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00" b="0">
                          <a:solidFill>
                            <a:srgbClr val="13243F"/>
                          </a:solidFill>
                          <a:latin typeface="Arial"/>
                          <a:ea typeface="Arial"/>
                          <a:cs typeface="Arial"/>
                        </a:rPr>
                        <a:t>Node.js 24, npm, Git</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9140">
                <a:tc>
                  <a:txBody>
                    <a:bodyPr lIns="133350" tIns="133350" rIns="133350" bIns="95250"/>
                    <a:lstStyle/>
                    <a:p>
                      <a:r>
                        <a:rPr sz="1800" b="0">
                          <a:solidFill>
                            <a:srgbClr val="13243F"/>
                          </a:solidFill>
                          <a:latin typeface="Arial"/>
                          <a:ea typeface="Arial"/>
                          <a:cs typeface="Arial"/>
                        </a:rPr>
                        <a:t>npm run benchmark:finance -- --live</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00" b="0">
                          <a:solidFill>
                            <a:srgbClr val="13243F"/>
                          </a:solidFill>
                          <a:latin typeface="Arial"/>
                          <a:ea typeface="Arial"/>
                          <a:cs typeface="Arial"/>
                        </a:rPr>
                        <a:t>Live provider versus rules</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00" b="0">
                          <a:solidFill>
                            <a:srgbClr val="13243F"/>
                          </a:solidFill>
                          <a:latin typeface="Arial"/>
                          <a:ea typeface="Arial"/>
                          <a:cs typeface="Arial"/>
                        </a:rPr>
                        <a:t>Own API key and network</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r h="739140">
                <a:tc>
                  <a:txBody>
                    <a:bodyPr lIns="133350" tIns="133350" rIns="133350" bIns="95250"/>
                    <a:lstStyle/>
                    <a:p>
                      <a:r>
                        <a:rPr sz="1800" b="0">
                          <a:solidFill>
                            <a:srgbClr val="13243F"/>
                          </a:solidFill>
                          <a:latin typeface="Arial"/>
                          <a:ea typeface="Arial"/>
                          <a:cs typeface="Arial"/>
                        </a:rPr>
                        <a:t>npm run evidence:finance</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00" b="0">
                          <a:solidFill>
                            <a:srgbClr val="13243F"/>
                          </a:solidFill>
                          <a:latin typeface="Arial"/>
                          <a:ea typeface="Arial"/>
                          <a:cs typeface="Arial"/>
                        </a:rPr>
                        <a:t>Migration and integration logs</a:t>
                      </a:r>
                    </a:p>
                  </a:txBody>
                  <a:tcPr marL="91440" marR="91440" marT="45720" marB="45720" anchor="ctr">
                    <a:lnR w="6668">
                      <a:solidFill>
                        <a:srgbClr val="F6F8FC"/>
                      </a:solidFill>
                      <a:prstDash val="solid"/>
                    </a:lnR>
                    <a:lnB w="6668">
                      <a:solidFill>
                        <a:srgbClr val="F6F8FC"/>
                      </a:solidFill>
                      <a:prstDash val="solid"/>
                    </a:lnB>
                    <a:solidFill>
                      <a:srgbClr val="FFFFFF"/>
                    </a:solidFill>
                  </a:tcPr>
                </a:tc>
                <a:tc>
                  <a:txBody>
                    <a:bodyPr lIns="133350" tIns="133350" rIns="133350" bIns="95250"/>
                    <a:lstStyle/>
                    <a:p>
                      <a:r>
                        <a:rPr sz="1800" b="0">
                          <a:solidFill>
                            <a:srgbClr val="13243F"/>
                          </a:solidFill>
                          <a:latin typeface="Arial"/>
                          <a:ea typeface="Arial"/>
                          <a:cs typeface="Arial"/>
                        </a:rPr>
                        <a:t>Disposable local PostgreSQL</a:t>
                      </a:r>
                    </a:p>
                  </a:txBody>
                  <a:tcPr marL="91440" marR="91440" marT="45720" marB="45720" anchor="ctr">
                    <a:lnR w="6668">
                      <a:solidFill>
                        <a:srgbClr val="F6F8FC"/>
                      </a:solidFill>
                      <a:prstDash val="solid"/>
                    </a:lnR>
                    <a:lnB w="6668">
                      <a:solidFill>
                        <a:srgbClr val="F6F8FC"/>
                      </a:solidFill>
                      <a:prstDash val="solid"/>
                    </a:lnB>
                    <a:solidFill>
                      <a:srgbClr val="FFFFFF"/>
                    </a:solidFill>
                  </a:tcPr>
                </a:tc>
              </a:tr>
              <a:tr h="739140">
                <a:tc>
                  <a:txBody>
                    <a:bodyPr lIns="133350" tIns="133350" rIns="133350" bIns="95250"/>
                    <a:lstStyle/>
                    <a:p>
                      <a:r>
                        <a:rPr sz="1800" b="0">
                          <a:solidFill>
                            <a:srgbClr val="13243F"/>
                          </a:solidFill>
                          <a:latin typeface="Arial"/>
                          <a:ea typeface="Arial"/>
                          <a:cs typeface="Arial"/>
                        </a:rPr>
                        <a:t>npm run evidence:finance -- --replay FILE.json</a:t>
                      </a:r>
                    </a:p>
                  </a:txBody>
                  <a:tcPr marL="91440" marR="91440" marT="45720" marB="45720" anchor="ctr">
                    <a:lnL w="6668">
                      <a:solidFill>
                        <a:srgbClr val="F6F8FC"/>
                      </a:solidFill>
                      <a:prstDash val="solid"/>
                    </a:lnL>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00" b="0">
                          <a:solidFill>
                            <a:srgbClr val="13243F"/>
                          </a:solidFill>
                          <a:latin typeface="Arial"/>
                          <a:ea typeface="Arial"/>
                          <a:cs typeface="Arial"/>
                        </a:rPr>
                        <a:t>Verify frozen outcome replay</a:t>
                      </a:r>
                    </a:p>
                  </a:txBody>
                  <a:tcPr marL="91440" marR="91440" marT="45720" marB="45720" anchor="ctr">
                    <a:lnR w="6668">
                      <a:solidFill>
                        <a:srgbClr val="F6F8FC"/>
                      </a:solidFill>
                      <a:prstDash val="solid"/>
                    </a:lnR>
                    <a:lnB w="6668">
                      <a:solidFill>
                        <a:srgbClr val="F6F8FC"/>
                      </a:solidFill>
                      <a:prstDash val="solid"/>
                    </a:lnB>
                    <a:solidFill>
                      <a:srgbClr val="EDF2F9"/>
                    </a:solidFill>
                  </a:tcPr>
                </a:tc>
                <a:tc>
                  <a:txBody>
                    <a:bodyPr lIns="133350" tIns="133350" rIns="133350" bIns="95250"/>
                    <a:lstStyle/>
                    <a:p>
                      <a:r>
                        <a:rPr sz="1800" b="0">
                          <a:solidFill>
                            <a:srgbClr val="13243F"/>
                          </a:solidFill>
                          <a:latin typeface="Arial"/>
                          <a:ea typeface="Arial"/>
                          <a:cs typeface="Arial"/>
                        </a:rPr>
                        <a:t>Exported JSON, no database</a:t>
                      </a:r>
                    </a:p>
                  </a:txBody>
                  <a:tcPr marL="91440" marR="91440" marT="45720" marB="45720" anchor="ctr">
                    <a:lnR w="6668">
                      <a:solidFill>
                        <a:srgbClr val="F6F8FC"/>
                      </a:solidFill>
                      <a:prstDash val="solid"/>
                    </a:lnR>
                    <a:lnB w="6668">
                      <a:solidFill>
                        <a:srgbClr val="F6F8FC"/>
                      </a:solidFill>
                      <a:prstDash val="solid"/>
                    </a:lnB>
                    <a:solidFill>
                      <a:srgbClr val="EDF2F9"/>
                    </a:solidFill>
                  </a:tcPr>
                </a:tc>
              </a:tr>
            </a:tbl>
          </a:graphicData>
        </a:graphic>
      </p:graphicFrame>
      <p:sp>
        <p:nvSpPr>
          <p:cNvPr id="5" name="Evidence reports retain the tested revision, inputs and outc">
            <a:extLst xmlns:a="http://schemas.openxmlformats.org/drawingml/2006/main">
              <a:ext uri="{FF2B5EF4-FFF2-40B4-BE49-F238E27FC236}">
                <a16:creationId xmlns:a16="http://schemas.microsoft.com/office/drawing/2014/main" id="{3EAC0F1C-29E6-4CC6-A7FE-7DFB31DEFCC9}"/>
              </a:ext>
            </a:extLst>
          </p:cNvPr>
          <p:cNvSpPr>
            <a:spLocks xmlns:a="http://schemas.openxmlformats.org/drawingml/2006/main" noGrp="1"/>
          </p:cNvSpPr>
          <p:nvPr/>
        </p:nvSpPr>
        <p:spPr>
          <a:xfrm xmlns:a="http://schemas.openxmlformats.org/drawingml/2006/main">
            <a:off x="723900" y="6819900"/>
            <a:ext cx="1371600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1">
                <a:solidFill>
                  <a:srgbClr val="13243F"/>
                </a:solidFill>
                <a:latin typeface="Arial"/>
                <a:ea typeface="Arial"/>
                <a:cs typeface="Arial"/>
              </a:defRPr>
            </a:defPPr>
          </a:lstStyle>
          <a:p xmlns:a="http://schemas.openxmlformats.org/drawingml/2006/main">
            <a:pPr algn="l">
              <a:defRPr sz="2325" b="1">
                <a:solidFill>
                  <a:srgbClr val="13243F"/>
                </a:solidFill>
                <a:latin typeface="Arial"/>
                <a:ea typeface="Arial"/>
                <a:cs typeface="Arial"/>
              </a:defRPr>
            </a:pPr>
            <a:r>
              <a:rPr sz="2325" b="1">
                <a:solidFill>
                  <a:srgbClr val="13243F"/>
                </a:solidFill>
                <a:latin typeface="Arial"/>
                <a:ea typeface="Arial"/>
                <a:cs typeface="Arial"/>
              </a:rPr>
              <a:t>Evidence reports retain the tested revision, inputs and outcome basis.</a:t>
            </a:r>
          </a:p>
        </p:txBody>
      </p:sp>
      <p:sp>
        <p:nvSpPr>
          <p:cNvPr id="6" name="Live keys stay in the environment or Git-ignored .env.benchm">
            <a:extLst xmlns:a="http://schemas.openxmlformats.org/drawingml/2006/main">
              <a:ext uri="{FF2B5EF4-FFF2-40B4-BE49-F238E27FC236}">
                <a16:creationId xmlns:a16="http://schemas.microsoft.com/office/drawing/2014/main" id="{98365299-0642-4F61-997F-2A40B619CAE3}"/>
              </a:ext>
            </a:extLst>
          </p:cNvPr>
          <p:cNvSpPr>
            <a:spLocks xmlns:a="http://schemas.openxmlformats.org/drawingml/2006/main" noGrp="1"/>
          </p:cNvSpPr>
          <p:nvPr/>
        </p:nvSpPr>
        <p:spPr>
          <a:xfrm xmlns:a="http://schemas.openxmlformats.org/drawingml/2006/main">
            <a:off x="685800" y="7915275"/>
            <a:ext cx="138684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637089"/>
                </a:solidFill>
                <a:latin typeface="Arial"/>
                <a:ea typeface="Arial"/>
                <a:cs typeface="Arial"/>
              </a:defRPr>
            </a:defPPr>
          </a:lstStyle>
          <a:p xmlns:a="http://schemas.openxmlformats.org/drawingml/2006/main">
            <a:pPr algn="l">
              <a:defRPr sz="1425" b="0">
                <a:solidFill>
                  <a:srgbClr val="637089"/>
                </a:solidFill>
                <a:latin typeface="Arial"/>
                <a:ea typeface="Arial"/>
                <a:cs typeface="Arial"/>
              </a:defRPr>
            </a:pPr>
            <a:r>
              <a:rPr sz="1425" b="0">
                <a:solidFill>
                  <a:srgbClr val="637089"/>
                </a:solidFill>
                <a:latin typeface="Arial"/>
                <a:ea typeface="Arial"/>
                <a:cs typeface="Arial"/>
              </a:rPr>
              <a:t>Live keys stay in the environment or Git-ignored .env.benchmark. Integration evidence uses local simulator_test only.</a:t>
            </a:r>
          </a:p>
        </p:txBody>
      </p:sp>
    </p:spTree>
    <p:extLst>
      <p:ext uri="{BB962C8B-B14F-4D97-AF65-F5344CB8AC3E}">
        <p14:creationId xmlns:p14="http://schemas.microsoft.com/office/powerpoint/2010/main" val="594073790"/>
      </p:ext>
    </p:extLst>
  </p:cSld>
</p:sld>
</file>

<file path=ppt/slides/slide15.xml><?xml version="1.0" encoding="utf-8"?>
<p:sld xmlns:p="http://schemas.openxmlformats.org/presentationml/2006/main" show="0">
  <p:cSld>
    <p:bg>
      <p:bgPr>
        <a:solidFill xmlns:a="http://schemas.openxmlformats.org/drawingml/2006/main">
          <a:srgbClr val="F6F8FC"/>
        </a:solidFill>
      </p:bgPr>
    </p:bg>
    <p:spTree>
      <p:nvGrpSpPr>
        <p:cNvPr id="1" name=""/>
        <p:cNvGrpSpPr/>
        <p:nvPr/>
      </p:nvGrpSpPr>
      <p:grpSpPr>
        <a:xfrm xmlns:a="http://schemas.openxmlformats.org/drawingml/2006/main"/>
      </p:grpSpPr>
      <p:sp>
        <p:nvSpPr>
          <p:cNvPr id="11" name="BizWizard">
            <a:extLst xmlns:a="http://schemas.openxmlformats.org/drawingml/2006/main">
              <a:ext uri="{FF2B5EF4-FFF2-40B4-BE49-F238E27FC236}">
                <a16:creationId xmlns:a16="http://schemas.microsoft.com/office/drawing/2014/main" id="{5751FC15-DABD-4AFB-8FA9-7A804915AB3C}"/>
              </a:ext>
            </a:extLst>
          </p:cNvPr>
          <p:cNvSpPr>
            <a:spLocks xmlns:a="http://schemas.openxmlformats.org/drawingml/2006/main" noGrp="1"/>
          </p:cNvSpPr>
          <p:nvPr/>
        </p:nvSpPr>
        <p:spPr>
          <a:xfrm xmlns:a="http://schemas.openxmlformats.org/drawingml/2006/main">
            <a:off x="685800" y="323850"/>
            <a:ext cx="2095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75" b="1">
                <a:solidFill>
                  <a:srgbClr val="101F3C"/>
                </a:solidFill>
                <a:latin typeface="Arial"/>
                <a:ea typeface="Arial"/>
                <a:cs typeface="Arial"/>
              </a:defRPr>
            </a:defPPr>
          </a:lstStyle>
          <a:p xmlns:a="http://schemas.openxmlformats.org/drawingml/2006/main">
            <a:pPr algn="l">
              <a:defRPr sz="1575" b="1">
                <a:solidFill>
                  <a:srgbClr val="101F3C"/>
                </a:solidFill>
                <a:latin typeface="Arial"/>
                <a:ea typeface="Arial"/>
                <a:cs typeface="Arial"/>
              </a:defRPr>
            </a:pPr>
            <a:r>
              <a:rPr sz="1575" b="1">
                <a:solidFill>
                  <a:srgbClr val="101F3C"/>
                </a:solidFill>
                <a:latin typeface="Arial"/>
                <a:ea typeface="Arial"/>
                <a:cs typeface="Arial"/>
              </a:rPr>
              <a:t>BizWizard</a:t>
            </a:r>
          </a:p>
        </p:txBody>
      </p:sp>
      <p:sp>
        <p:nvSpPr>
          <p:cNvPr id="2" name="Technical backup">
            <a:extLst xmlns:a="http://schemas.openxmlformats.org/drawingml/2006/main">
              <a:ext uri="{FF2B5EF4-FFF2-40B4-BE49-F238E27FC236}">
                <a16:creationId xmlns:a16="http://schemas.microsoft.com/office/drawing/2014/main" id="{B43B52CE-2FF4-4BED-9C5D-506A48317A8E}"/>
              </a:ext>
            </a:extLst>
          </p:cNvPr>
          <p:cNvSpPr>
            <a:spLocks xmlns:a="http://schemas.openxmlformats.org/drawingml/2006/main" noGrp="1"/>
          </p:cNvSpPr>
          <p:nvPr/>
        </p:nvSpPr>
        <p:spPr>
          <a:xfrm xmlns:a="http://schemas.openxmlformats.org/drawingml/2006/main">
            <a:off x="12573000" y="323850"/>
            <a:ext cx="19812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425" b="0">
                <a:solidFill>
                  <a:srgbClr val="637089"/>
                </a:solidFill>
                <a:latin typeface="Arial"/>
                <a:ea typeface="Arial"/>
                <a:cs typeface="Arial"/>
              </a:defRPr>
            </a:defPPr>
          </a:lstStyle>
          <a:p xmlns:a="http://schemas.openxmlformats.org/drawingml/2006/main">
            <a:pPr algn="r">
              <a:defRPr sz="1425" b="0">
                <a:solidFill>
                  <a:srgbClr val="637089"/>
                </a:solidFill>
                <a:latin typeface="Arial"/>
                <a:ea typeface="Arial"/>
                <a:cs typeface="Arial"/>
              </a:defRPr>
            </a:pPr>
            <a:r>
              <a:rPr sz="1425" b="0">
                <a:solidFill>
                  <a:srgbClr val="637089"/>
                </a:solidFill>
                <a:latin typeface="Arial"/>
                <a:ea typeface="Arial"/>
                <a:cs typeface="Arial"/>
              </a:rPr>
              <a:t>Technical backup</a:t>
            </a:r>
          </a:p>
        </p:txBody>
      </p:sp>
      <p:sp>
        <p:nvSpPr>
          <p:cNvPr id="3" name="Slide heading">
            <a:extLst xmlns:a="http://schemas.openxmlformats.org/drawingml/2006/main">
              <a:ext uri="{FF2B5EF4-FFF2-40B4-BE49-F238E27FC236}">
                <a16:creationId xmlns:a16="http://schemas.microsoft.com/office/drawing/2014/main" id="{55C71C15-BB26-4151-8EBE-ABD6D09CA814}"/>
              </a:ext>
            </a:extLst>
          </p:cNvPr>
          <p:cNvSpPr>
            <a:spLocks xmlns:a="http://schemas.openxmlformats.org/drawingml/2006/main" noGrp="1"/>
          </p:cNvSpPr>
          <p:nvPr/>
        </p:nvSpPr>
        <p:spPr>
          <a:xfrm xmlns:a="http://schemas.openxmlformats.org/drawingml/2006/main">
            <a:off x="685800" y="1000125"/>
            <a:ext cx="138684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4500" b="1">
                <a:solidFill>
                  <a:srgbClr val="13243F"/>
                </a:solidFill>
                <a:latin typeface="Arial"/>
                <a:ea typeface="Arial"/>
                <a:cs typeface="Arial"/>
              </a:defRPr>
            </a:defPPr>
          </a:lstStyle>
          <a:p xmlns:a="http://schemas.openxmlformats.org/drawingml/2006/main">
            <a:pPr algn="l">
              <a:defRPr sz="4500" b="1">
                <a:solidFill>
                  <a:srgbClr val="13243F"/>
                </a:solidFill>
                <a:latin typeface="Arial"/>
                <a:ea typeface="Arial"/>
                <a:cs typeface="Arial"/>
              </a:defRPr>
            </a:pPr>
            <a:r>
              <a:rPr sz="4500" b="1">
                <a:solidFill>
                  <a:srgbClr val="13243F"/>
                </a:solidFill>
                <a:latin typeface="Arial"/>
                <a:ea typeface="Arial"/>
                <a:cs typeface="Arial"/>
              </a:rPr>
              <a:t>Current scope and next validation</a:t>
            </a:r>
          </a:p>
        </p:txBody>
      </p:sp>
      <p:sp>
        <p:nvSpPr>
          <p:cNvPr id="4" name="Demonstrated">
            <a:extLst xmlns:a="http://schemas.openxmlformats.org/drawingml/2006/main">
              <a:ext uri="{FF2B5EF4-FFF2-40B4-BE49-F238E27FC236}">
                <a16:creationId xmlns:a16="http://schemas.microsoft.com/office/drawing/2014/main" id="{A59F52E2-A415-40A5-B218-A162F230F2C8}"/>
              </a:ext>
            </a:extLst>
          </p:cNvPr>
          <p:cNvSpPr>
            <a:spLocks xmlns:a="http://schemas.openxmlformats.org/drawingml/2006/main" noGrp="1"/>
          </p:cNvSpPr>
          <p:nvPr/>
        </p:nvSpPr>
        <p:spPr>
          <a:xfrm xmlns:a="http://schemas.openxmlformats.org/drawingml/2006/main">
            <a:off x="723900" y="2647950"/>
            <a:ext cx="1371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Demonstrated</a:t>
            </a:r>
          </a:p>
        </p:txBody>
      </p:sp>
      <p:sp>
        <p:nvSpPr>
          <p:cNvPr id="5" name="Scoped finance workflows, financial guards, local integratio">
            <a:extLst xmlns:a="http://schemas.openxmlformats.org/drawingml/2006/main">
              <a:ext uri="{FF2B5EF4-FFF2-40B4-BE49-F238E27FC236}">
                <a16:creationId xmlns:a16="http://schemas.microsoft.com/office/drawing/2014/main" id="{5A84B4EB-1EE7-4198-AF1A-B431F65042AC}"/>
              </a:ext>
            </a:extLst>
          </p:cNvPr>
          <p:cNvSpPr>
            <a:spLocks xmlns:a="http://schemas.openxmlformats.org/drawingml/2006/main" noGrp="1"/>
          </p:cNvSpPr>
          <p:nvPr/>
        </p:nvSpPr>
        <p:spPr>
          <a:xfrm xmlns:a="http://schemas.openxmlformats.org/drawingml/2006/main">
            <a:off x="723900" y="3181350"/>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637089"/>
                </a:solidFill>
                <a:latin typeface="Arial"/>
                <a:ea typeface="Arial"/>
                <a:cs typeface="Arial"/>
              </a:defRPr>
            </a:defPPr>
          </a:lstStyle>
          <a:p xmlns:a="http://schemas.openxmlformats.org/drawingml/2006/main">
            <a:pPr algn="l">
              <a:defRPr sz="2325" b="0">
                <a:solidFill>
                  <a:srgbClr val="637089"/>
                </a:solidFill>
                <a:latin typeface="Arial"/>
                <a:ea typeface="Arial"/>
                <a:cs typeface="Arial"/>
              </a:defRPr>
            </a:pPr>
            <a:r>
              <a:rPr sz="2325" b="0">
                <a:solidFill>
                  <a:srgbClr val="637089"/>
                </a:solidFill>
                <a:latin typeface="Arial"/>
                <a:ea typeface="Arial"/>
                <a:cs typeface="Arial"/>
              </a:rPr>
              <a:t>Scoped finance workflows, financial guards,</a:t>
            </a:r>
          </a:p>
          <a:p xmlns:a="http://schemas.openxmlformats.org/drawingml/2006/main">
            <a:pPr algn="l">
              <a:defRPr sz="2325" b="0">
                <a:solidFill>
                  <a:srgbClr val="637089"/>
                </a:solidFill>
                <a:latin typeface="Arial"/>
                <a:ea typeface="Arial"/>
                <a:cs typeface="Arial"/>
              </a:defRPr>
            </a:pPr>
            <a:r>
              <a:rPr sz="2325" b="0">
                <a:solidFill>
                  <a:srgbClr val="637089"/>
                </a:solidFill>
                <a:latin typeface="Arial"/>
                <a:ea typeface="Arial"/>
                <a:cs typeface="Arial"/>
              </a:rPr>
              <a:t>local integration evidence and live policy calls.</a:t>
            </a:r>
          </a:p>
        </p:txBody>
      </p:sp>
      <p:sp>
        <p:nvSpPr>
          <p:cNvPr id="6" name="Section rule">
            <a:extLst xmlns:a="http://schemas.openxmlformats.org/drawingml/2006/main">
              <a:ext uri="{FF2B5EF4-FFF2-40B4-BE49-F238E27FC236}">
                <a16:creationId xmlns:a16="http://schemas.microsoft.com/office/drawing/2014/main" id="{3D9D3C1C-0643-4BE5-B3CF-E2C2EED4C5DA}"/>
              </a:ext>
            </a:extLst>
          </p:cNvPr>
          <p:cNvSpPr>
            <a:spLocks xmlns:a="http://schemas.openxmlformats.org/drawingml/2006/main" noGrp="1"/>
          </p:cNvSpPr>
          <p:nvPr/>
        </p:nvSpPr>
        <p:spPr>
          <a:xfrm xmlns:a="http://schemas.openxmlformats.org/drawingml/2006/main">
            <a:off x="723900" y="4391025"/>
            <a:ext cx="13792200" cy="0"/>
          </a:xfrm>
          <a:prstGeom xmlns:a="http://schemas.openxmlformats.org/drawingml/2006/main" prst="line">
            <a:avLst/>
          </a:prstGeom>
          <a:noFill xmlns:a="http://schemas.openxmlformats.org/drawingml/2006/main"/>
          <a:ln xmlns:a="http://schemas.openxmlformats.org/drawingml/2006/main" w="12383">
            <a:solidFill>
              <a:srgbClr val="D8E0ED"/>
            </a:solidFill>
          </a:ln>
        </p:spPr>
      </p:sp>
      <p:sp>
        <p:nvSpPr>
          <p:cNvPr id="7" name="Before sensitive production use">
            <a:extLst xmlns:a="http://schemas.openxmlformats.org/drawingml/2006/main">
              <a:ext uri="{FF2B5EF4-FFF2-40B4-BE49-F238E27FC236}">
                <a16:creationId xmlns:a16="http://schemas.microsoft.com/office/drawing/2014/main" id="{864B4004-4C7D-40BD-A7E3-EC359EF9DB2A}"/>
              </a:ext>
            </a:extLst>
          </p:cNvPr>
          <p:cNvSpPr>
            <a:spLocks xmlns:a="http://schemas.openxmlformats.org/drawingml/2006/main" noGrp="1"/>
          </p:cNvSpPr>
          <p:nvPr/>
        </p:nvSpPr>
        <p:spPr>
          <a:xfrm xmlns:a="http://schemas.openxmlformats.org/drawingml/2006/main">
            <a:off x="723900" y="4800600"/>
            <a:ext cx="1371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Before sensitive production use</a:t>
            </a:r>
          </a:p>
        </p:txBody>
      </p:sp>
      <p:sp>
        <p:nvSpPr>
          <p:cNvPr id="8" name="Review browser sessions and provider data handling. Strength">
            <a:extLst xmlns:a="http://schemas.openxmlformats.org/drawingml/2006/main">
              <a:ext uri="{FF2B5EF4-FFF2-40B4-BE49-F238E27FC236}">
                <a16:creationId xmlns:a16="http://schemas.microsoft.com/office/drawing/2014/main" id="{741DC6C5-1AF1-46EB-857C-3081BBE26575}"/>
              </a:ext>
            </a:extLst>
          </p:cNvPr>
          <p:cNvSpPr>
            <a:spLocks xmlns:a="http://schemas.openxmlformats.org/drawingml/2006/main" noGrp="1"/>
          </p:cNvSpPr>
          <p:nvPr/>
        </p:nvSpPr>
        <p:spPr>
          <a:xfrm xmlns:a="http://schemas.openxmlformats.org/drawingml/2006/main">
            <a:off x="723900" y="5334000"/>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325" b="0">
                <a:solidFill>
                  <a:srgbClr val="637089"/>
                </a:solidFill>
                <a:latin typeface="Arial"/>
                <a:ea typeface="Arial"/>
                <a:cs typeface="Arial"/>
              </a:defRPr>
            </a:defPPr>
          </a:lstStyle>
          <a:p xmlns:a="http://schemas.openxmlformats.org/drawingml/2006/main">
            <a:pPr algn="l">
              <a:defRPr sz="2325" b="0">
                <a:solidFill>
                  <a:srgbClr val="637089"/>
                </a:solidFill>
                <a:latin typeface="Arial"/>
                <a:ea typeface="Arial"/>
                <a:cs typeface="Arial"/>
              </a:defRPr>
            </a:pPr>
            <a:r>
              <a:rPr sz="2325" b="0">
                <a:solidFill>
                  <a:srgbClr val="637089"/>
                </a:solidFill>
                <a:latin typeface="Arial"/>
                <a:ea typeface="Arial"/>
                <a:cs typeface="Arial"/>
              </a:rPr>
              <a:t>Review browser sessions and provider data handling.</a:t>
            </a:r>
          </a:p>
          <a:p xmlns:a="http://schemas.openxmlformats.org/drawingml/2006/main">
            <a:pPr algn="l">
              <a:defRPr sz="2325" b="0">
                <a:solidFill>
                  <a:srgbClr val="637089"/>
                </a:solidFill>
                <a:latin typeface="Arial"/>
                <a:ea typeface="Arial"/>
                <a:cs typeface="Arial"/>
              </a:defRPr>
            </a:pPr>
            <a:r>
              <a:rPr sz="2325" b="0">
                <a:solidFill>
                  <a:srgbClr val="637089"/>
                </a:solidFill>
                <a:latin typeface="Arial"/>
                <a:ea typeface="Arial"/>
                <a:cs typeface="Arial"/>
              </a:rPr>
              <a:t>Strengthen audit guarantees and test backup restoration.</a:t>
            </a:r>
          </a:p>
        </p:txBody>
      </p:sp>
      <p:sp>
        <p:nvSpPr>
          <p:cNvPr id="9" name="Before any real lending">
            <a:extLst xmlns:a="http://schemas.openxmlformats.org/drawingml/2006/main">
              <a:ext uri="{FF2B5EF4-FFF2-40B4-BE49-F238E27FC236}">
                <a16:creationId xmlns:a16="http://schemas.microsoft.com/office/drawing/2014/main" id="{CA2A8BC6-3E8F-4AA9-A9B0-02C1116AEDB9}"/>
              </a:ext>
            </a:extLst>
          </p:cNvPr>
          <p:cNvSpPr>
            <a:spLocks xmlns:a="http://schemas.openxmlformats.org/drawingml/2006/main" noGrp="1"/>
          </p:cNvSpPr>
          <p:nvPr/>
        </p:nvSpPr>
        <p:spPr>
          <a:xfrm xmlns:a="http://schemas.openxmlformats.org/drawingml/2006/main">
            <a:off x="723900" y="6581775"/>
            <a:ext cx="1371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1">
                <a:solidFill>
                  <a:srgbClr val="13243F"/>
                </a:solidFill>
                <a:latin typeface="Arial"/>
                <a:ea typeface="Arial"/>
                <a:cs typeface="Arial"/>
              </a:defRPr>
            </a:defPPr>
          </a:lstStyle>
          <a:p xmlns:a="http://schemas.openxmlformats.org/drawingml/2006/main">
            <a:pPr algn="l">
              <a:defRPr sz="2400" b="1">
                <a:solidFill>
                  <a:srgbClr val="13243F"/>
                </a:solidFill>
                <a:latin typeface="Arial"/>
                <a:ea typeface="Arial"/>
                <a:cs typeface="Arial"/>
              </a:defRPr>
            </a:pPr>
            <a:r>
              <a:rPr sz="2400" b="1">
                <a:solidFill>
                  <a:srgbClr val="13243F"/>
                </a:solidFill>
                <a:latin typeface="Arial"/>
                <a:ea typeface="Arial"/>
                <a:cs typeface="Arial"/>
              </a:rPr>
              <a:t>Before any real lending</a:t>
            </a:r>
          </a:p>
        </p:txBody>
      </p:sp>
      <p:sp>
        <p:nvSpPr>
          <p:cNvPr id="10" name="Revalidate final terms and current affordability. Assess leg">
            <a:extLst xmlns:a="http://schemas.openxmlformats.org/drawingml/2006/main">
              <a:ext uri="{FF2B5EF4-FFF2-40B4-BE49-F238E27FC236}">
                <a16:creationId xmlns:a16="http://schemas.microsoft.com/office/drawing/2014/main" id="{B113D87B-E21D-47BC-B1ED-6607473962D1}"/>
              </a:ext>
            </a:extLst>
          </p:cNvPr>
          <p:cNvSpPr>
            <a:spLocks xmlns:a="http://schemas.openxmlformats.org/drawingml/2006/main" noGrp="1"/>
          </p:cNvSpPr>
          <p:nvPr/>
        </p:nvSpPr>
        <p:spPr>
          <a:xfrm xmlns:a="http://schemas.openxmlformats.org/drawingml/2006/main">
            <a:off x="723900" y="7115175"/>
            <a:ext cx="137160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637089"/>
                </a:solidFill>
                <a:latin typeface="Arial"/>
                <a:ea typeface="Arial"/>
                <a:cs typeface="Arial"/>
              </a:defRPr>
            </a:defPPr>
          </a:lstStyle>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Revalidate final terms and current affordability.</a:t>
            </a:r>
          </a:p>
          <a:p xmlns:a="http://schemas.openxmlformats.org/drawingml/2006/main">
            <a:pPr algn="l">
              <a:defRPr sz="2175" b="0">
                <a:solidFill>
                  <a:srgbClr val="637089"/>
                </a:solidFill>
                <a:latin typeface="Arial"/>
                <a:ea typeface="Arial"/>
                <a:cs typeface="Arial"/>
              </a:defRPr>
            </a:pPr>
            <a:r>
              <a:rPr sz="2175" b="0">
                <a:solidFill>
                  <a:srgbClr val="637089"/>
                </a:solidFill>
                <a:latin typeface="Arial"/>
                <a:ea typeface="Arial"/>
                <a:cs typeface="Arial"/>
              </a:rPr>
              <a:t>Assess legal obligations and external execution controls.</a:t>
            </a:r>
          </a:p>
        </p:txBody>
      </p:sp>
    </p:spTree>
    <p:extLst>
      <p:ext uri="{BB962C8B-B14F-4D97-AF65-F5344CB8AC3E}">
        <p14:creationId xmlns:p14="http://schemas.microsoft.com/office/powerpoint/2010/main" val="203953781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2026-10-19T07:35:51.0910000Z</dcterms:created>
  <dcterms:modified xsi:type="dcterms:W3CDTF">2026-10-19T07:35:51.0910000Z</dcterms:modified>
</coreProperties>
</file>