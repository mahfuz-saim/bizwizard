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76685dda2cb4556" /><Relationship Type="http://schemas.openxmlformats.org/officeDocument/2006/relationships/extended-properties" Target="/docProps/app.xml" Id="Rccbe5cc974514745" /><Relationship Type="http://schemas.openxmlformats.org/officeDocument/2006/relationships/officeDocument" Target="/ppt/presentation.xml" Id="R42563f2aa21349a6" /></Relationships>
</file>

<file path=ppt/presentation.xml><?xml version="1.0" encoding="utf-8"?>
<p:presentation xmlns:p="http://schemas.openxmlformats.org/presentationml/2006/main">
  <p:sldMasterIdLst>
    <p:sldMasterId xmlns:r="http://schemas.openxmlformats.org/officeDocument/2006/relationships" id="2147483648" r:id="Ra25c10f712d245f2"/>
  </p:sldMasterIdLst>
  <p:notesMasterIdLst>
    <p:notesMasterId xmlns:r="http://schemas.openxmlformats.org/officeDocument/2006/relationships" r:id="R4085dabedb984ea5"/>
  </p:notesMasterIdLst>
  <p:sldIdLst>
    <p:sldId xmlns:r="http://schemas.openxmlformats.org/officeDocument/2006/relationships" id="256" r:id="R62a43e20343a4d28"/>
    <p:sldId xmlns:r="http://schemas.openxmlformats.org/officeDocument/2006/relationships" id="257" r:id="Rc7ba867b1020410e"/>
    <p:sldId xmlns:r="http://schemas.openxmlformats.org/officeDocument/2006/relationships" id="258" r:id="R465fad86d317456d"/>
    <p:sldId xmlns:r="http://schemas.openxmlformats.org/officeDocument/2006/relationships" id="259" r:id="Rae7a679144514098"/>
    <p:sldId xmlns:r="http://schemas.openxmlformats.org/officeDocument/2006/relationships" id="260" r:id="R0fc08fc61c524881"/>
    <p:sldId xmlns:r="http://schemas.openxmlformats.org/officeDocument/2006/relationships" id="261" r:id="Rbdeaec37059944b5"/>
    <p:sldId xmlns:r="http://schemas.openxmlformats.org/officeDocument/2006/relationships" id="262" r:id="R58c07be409b14243"/>
    <p:sldId xmlns:r="http://schemas.openxmlformats.org/officeDocument/2006/relationships" id="263" r:id="R371cc253c1ba41fd"/>
    <p:sldId xmlns:r="http://schemas.openxmlformats.org/officeDocument/2006/relationships" id="264" r:id="Re254f4452f014436"/>
    <p:sldId xmlns:r="http://schemas.openxmlformats.org/officeDocument/2006/relationships" id="265" r:id="R4c996ae68e5e4936"/>
    <p:sldId xmlns:r="http://schemas.openxmlformats.org/officeDocument/2006/relationships" id="266" r:id="Rfeb46513152448d8"/>
    <p:sldId xmlns:r="http://schemas.openxmlformats.org/officeDocument/2006/relationships" id="267" r:id="Rc84fa75f9bf44663"/>
    <p:sldId xmlns:r="http://schemas.openxmlformats.org/officeDocument/2006/relationships" id="268" r:id="Rf42e390b375e42d3"/>
    <p:sldId xmlns:r="http://schemas.openxmlformats.org/officeDocument/2006/relationships" id="269" r:id="Rf6fff1c6457f4733"/>
    <p:sldId xmlns:r="http://schemas.openxmlformats.org/officeDocument/2006/relationships" id="270" r:id="Rb6a502a681144683"/>
    <p:sldId xmlns:r="http://schemas.openxmlformats.org/officeDocument/2006/relationships" id="271" r:id="Rbd69381f5f224477"/>
    <p:sldId xmlns:r="http://schemas.openxmlformats.org/officeDocument/2006/relationships" id="272" r:id="R511185bbb1a84d06"/>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7d21117dbf343f0" /><Relationship Type="http://schemas.openxmlformats.org/officeDocument/2006/relationships/slideMaster" Target="/ppt/slideMasters/slideMaster1.xml" Id="Ra25c10f712d245f2" /><Relationship Type="http://schemas.openxmlformats.org/officeDocument/2006/relationships/notesMaster" Target="/ppt/notesMasters/notesMaster1.xml" Id="R4085dabedb984ea5" /><Relationship Type="http://schemas.openxmlformats.org/officeDocument/2006/relationships/presProps" Target="/ppt/presProps.xml" Id="R076220dddbf34138" /><Relationship Type="http://schemas.openxmlformats.org/officeDocument/2006/relationships/tableStyles" Target="/ppt/tableStyles.xml" Id="R4d44211d23ab4b74" /><Relationship Type="http://schemas.openxmlformats.org/officeDocument/2006/relationships/slide" Target="/ppt/slides/slide1.xml" Id="R62a43e20343a4d28" /><Relationship Type="http://schemas.openxmlformats.org/officeDocument/2006/relationships/slide" Target="/ppt/slides/slide2.xml" Id="Rc7ba867b1020410e" /><Relationship Type="http://schemas.openxmlformats.org/officeDocument/2006/relationships/slide" Target="/ppt/slides/slide3.xml" Id="R465fad86d317456d" /><Relationship Type="http://schemas.openxmlformats.org/officeDocument/2006/relationships/slide" Target="/ppt/slides/slide4.xml" Id="Rae7a679144514098" /><Relationship Type="http://schemas.openxmlformats.org/officeDocument/2006/relationships/slide" Target="/ppt/slides/slide5.xml" Id="R0fc08fc61c524881" /><Relationship Type="http://schemas.openxmlformats.org/officeDocument/2006/relationships/slide" Target="/ppt/slides/slide6.xml" Id="Rbdeaec37059944b5" /><Relationship Type="http://schemas.openxmlformats.org/officeDocument/2006/relationships/slide" Target="/ppt/slides/slide7.xml" Id="R58c07be409b14243" /><Relationship Type="http://schemas.openxmlformats.org/officeDocument/2006/relationships/slide" Target="/ppt/slides/slide8.xml" Id="R371cc253c1ba41fd" /><Relationship Type="http://schemas.openxmlformats.org/officeDocument/2006/relationships/slide" Target="/ppt/slides/slide9.xml" Id="Re254f4452f014436" /><Relationship Type="http://schemas.openxmlformats.org/officeDocument/2006/relationships/slide" Target="/ppt/slides/slide10.xml" Id="R4c996ae68e5e4936" /><Relationship Type="http://schemas.openxmlformats.org/officeDocument/2006/relationships/slide" Target="/ppt/slides/slide11.xml" Id="Rfeb46513152448d8" /><Relationship Type="http://schemas.openxmlformats.org/officeDocument/2006/relationships/slide" Target="/ppt/slides/slide12.xml" Id="Rc84fa75f9bf44663" /><Relationship Type="http://schemas.openxmlformats.org/officeDocument/2006/relationships/slide" Target="/ppt/slides/slide13.xml" Id="Rf42e390b375e42d3" /><Relationship Type="http://schemas.openxmlformats.org/officeDocument/2006/relationships/slide" Target="/ppt/slides/slide14.xml" Id="Rf6fff1c6457f4733" /><Relationship Type="http://schemas.openxmlformats.org/officeDocument/2006/relationships/slide" Target="/ppt/slides/slide15.xml" Id="Rb6a502a681144683" /><Relationship Type="http://schemas.openxmlformats.org/officeDocument/2006/relationships/slide" Target="/ppt/slides/slide16.xml" Id="Rbd69381f5f224477" /><Relationship Type="http://schemas.openxmlformats.org/officeDocument/2006/relationships/slide" Target="/ppt/slides/slide17.xml" Id="R511185bbb1a84d0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370a8bcbfc840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3879acc2f54564" /><Relationship Type="http://schemas.openxmlformats.org/officeDocument/2006/relationships/notesMaster" Target="/ppt/notesMasters/notesMaster1.xml" Id="R5922d4ecf1e2434b" /></Relationships>
</file>

<file path=ppt/notesSlides/_rels/notesSlide2.xml.rels>&#65279;<?xml version="1.0" encoding="utf-8"?><Relationships xmlns="http://schemas.openxmlformats.org/package/2006/relationships"><Relationship Type="http://schemas.openxmlformats.org/officeDocument/2006/relationships/slide" Target="/ppt/slides/slide2.xml" Id="R1970cb36090b4dee" /><Relationship Type="http://schemas.openxmlformats.org/officeDocument/2006/relationships/notesMaster" Target="/ppt/notesMasters/notesMaster1.xml" Id="R4ed55c07f6a64037" /></Relationships>
</file>

<file path=ppt/notesSlides/_rels/notesSlide3.xml.rels>&#65279;<?xml version="1.0" encoding="utf-8"?><Relationships xmlns="http://schemas.openxmlformats.org/package/2006/relationships"><Relationship Type="http://schemas.openxmlformats.org/officeDocument/2006/relationships/slide" Target="/ppt/slides/slide3.xml" Id="R2441fb4c47dd4191" /><Relationship Type="http://schemas.openxmlformats.org/officeDocument/2006/relationships/notesMaster" Target="/ppt/notesMasters/notesMaster1.xml" Id="R21575421487c45ba" /></Relationships>
</file>

<file path=ppt/notesSlides/_rels/notesSlide4.xml.rels>&#65279;<?xml version="1.0" encoding="utf-8"?><Relationships xmlns="http://schemas.openxmlformats.org/package/2006/relationships"><Relationship Type="http://schemas.openxmlformats.org/officeDocument/2006/relationships/slide" Target="/ppt/slides/slide4.xml" Id="Ra091c367b18d482b" /><Relationship Type="http://schemas.openxmlformats.org/officeDocument/2006/relationships/notesMaster" Target="/ppt/notesMasters/notesMaster1.xml" Id="Rbe28c6828c2e43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399269d8a74c42cd" /><Relationship Type="http://schemas.openxmlformats.org/officeDocument/2006/relationships/notesMaster" Target="/ppt/notesMasters/notesMaster1.xml" Id="Rae9ba3129de0445e" /></Relationships>
</file>

<file path=ppt/notesSlides/_rels/notesSlide6.xml.rels>&#65279;<?xml version="1.0" encoding="utf-8"?><Relationships xmlns="http://schemas.openxmlformats.org/package/2006/relationships"><Relationship Type="http://schemas.openxmlformats.org/officeDocument/2006/relationships/slide" Target="/ppt/slides/slide6.xml" Id="R90bbc85bd3744c3e" /><Relationship Type="http://schemas.openxmlformats.org/officeDocument/2006/relationships/notesMaster" Target="/ppt/notesMasters/notesMaster1.xml" Id="Rd39b0bfbc726427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c5d6f63753e405f" /><Relationship Type="http://schemas.openxmlformats.org/officeDocument/2006/relationships/notesMaster" Target="/ppt/notesMasters/notesMaster1.xml" Id="Re7845a0cab5043ac" /></Relationships>
</file>

<file path=ppt/notesSlides/_rels/notesSlide8.xml.rels>&#65279;<?xml version="1.0" encoding="utf-8"?><Relationships xmlns="http://schemas.openxmlformats.org/package/2006/relationships"><Relationship Type="http://schemas.openxmlformats.org/officeDocument/2006/relationships/slide" Target="/ppt/slides/slide8.xml" Id="Rddc6ada340a6409b" /><Relationship Type="http://schemas.openxmlformats.org/officeDocument/2006/relationships/notesMaster" Target="/ppt/notesMasters/notesMaster1.xml" Id="Rf6f9c0657ab841c8" /></Relationships>
</file>

<file path=ppt/notesSlides/_rels/notesSlide9.xml.rels>&#65279;<?xml version="1.0" encoding="utf-8"?><Relationships xmlns="http://schemas.openxmlformats.org/package/2006/relationships"><Relationship Type="http://schemas.openxmlformats.org/officeDocument/2006/relationships/slide" Target="/ppt/slides/slide9.xml" Id="R41996389e3384970" /><Relationship Type="http://schemas.openxmlformats.org/officeDocument/2006/relationships/notesMaster" Target="/ppt/notesMasters/notesMaster1.xml" Id="R1fb2c90eaa294ca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201e426d3b44e88" /><Relationship Type="http://schemas.openxmlformats.org/officeDocument/2006/relationships/notesMaster" Target="/ppt/notesMasters/notesMaster1.xml" Id="Reb4af5a82be54ee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2d93ee70e2d43a6" /><Relationship Type="http://schemas.openxmlformats.org/officeDocument/2006/relationships/notesMaster" Target="/ppt/notesMasters/notesMaster1.xml" Id="Rd74ac992541c4df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99ccf89a2e64299" /><Relationship Type="http://schemas.openxmlformats.org/officeDocument/2006/relationships/notesMaster" Target="/ppt/notesMasters/notesMaster1.xml" Id="Raa6b756c6cc94f5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fb66d2c3b46403d" /><Relationship Type="http://schemas.openxmlformats.org/officeDocument/2006/relationships/notesMaster" Target="/ppt/notesMasters/notesMaster1.xml" Id="R7156653627814f9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ab05f83a5854669" /><Relationship Type="http://schemas.openxmlformats.org/officeDocument/2006/relationships/notesMaster" Target="/ppt/notesMasters/notesMaster1.xml" Id="Rfe63033fd3fc447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a71ea5b94b1427a" /><Relationship Type="http://schemas.openxmlformats.org/officeDocument/2006/relationships/notesMaster" Target="/ppt/notesMasters/notesMaster1.xml" Id="R2a2e6c9a076d4fa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7cc0d1583f74b3b" /><Relationship Type="http://schemas.openxmlformats.org/officeDocument/2006/relationships/notesMaster" Target="/ppt/notesMasters/notesMaster1.xml" Id="Rf287706b3ac143a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ec7bbc46b5246d7" /><Relationship Type="http://schemas.openxmlformats.org/officeDocument/2006/relationships/notesMaster" Target="/ppt/notesMasters/notesMaster1.xml" Id="R42c7d27025f24a0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25 seconds.</a:t>
            </a:r>
          </a:p>
          <a:p xmlns:a="http://schemas.openxmlformats.org/drawingml/2006/main">
            <a:r>
              <a:t/>
            </a:r>
          </a:p>
          <a:p xmlns:a="http://schemas.openxmlformats.org/drawingml/2006/main">
            <a:r>
              <a:t>We are BongoForge: Sadman Sakib, Mahfuz Saim and Sunan Rabbi from Rajshahi University of Engineering &amp; Technology, RUET, Bangladesh. BizWizard combines daily business management with a finance copilot built on that existing platform. Owners manage inventory, sales, customers, debts, purchases, suppliers, expenses and employees. Finance services read those persisted shop records to calculate margins, cash forecasts and financing capacity. Our goal is to help owners run the business and make financial decisions in one connected workspace. The demonstration uses illustrative seeded data, not verified real-customer records or evidence of customer adoption.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submission/technical/main.tex</a:t>
            </a:r>
          </a:p>
          <a:p xmlns:a="http://schemas.openxmlformats.org/drawingml/2006/main">
            <a:r>
              <a:t>README.md</a:t>
            </a:r>
          </a:p>
          <a:p xmlns:a="http://schemas.openxmlformats.org/drawingml/2006/main">
            <a:r>
              <a:t>client/src/app/(dashboard)</a:t>
            </a:r>
          </a:p>
          <a:p xmlns:a="http://schemas.openxmlformats.org/drawingml/2006/main">
            <a:r>
              <a:t>server/src/app/modules</a:t>
            </a:r>
          </a:p>
          <a:p xmlns:a="http://schemas.openxmlformats.org/drawingml/2006/main">
            <a:r>
              <a:t>submission/presentation/assets/provenance.json</a:t>
            </a:r>
          </a:p>
          <a:p xmlns:a="http://schemas.openxmlformats.org/drawingml/2006/main">
            <a:r>
              <a:t>Team names and academic affiliation supplied by the 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30 seconds.</a:t>
            </a:r>
          </a:p>
          <a:p xmlns:a="http://schemas.openxmlformats.org/drawingml/2006/main">
            <a:r>
              <a:t/>
            </a:r>
          </a:p>
          <a:p xmlns:a="http://schemas.openxmlformats.org/drawingml/2006/main">
            <a:r>
              <a:t>This is an example of the decision problem, not a measured market statistic. Stock can consume cash before a sale. A credit sale creates revenue before collection. Bills can arrive in between. An owner needs to know whether to collect, reduce spending, change stock or seek financing.</a:t>
            </a:r>
          </a:p>
          <a:p xmlns:a="http://schemas.openxmlformats.org/drawingml/2006/main">
            <a:r>
              <a:t/>
            </a:r>
          </a:p>
          <a:p xmlns:a="http://schemas.openxmlformats.org/drawingml/2006/main">
            <a:r>
              <a:t>This slide describes an illustrative scenario. It makes no market-size or customer-adoption claim.</a:t>
            </a:r>
          </a:p>
          <a:p xmlns:a="http://schemas.openxmlformats.org/drawingml/2006/main">
            <a:r>
              <a:t/>
            </a:r>
          </a:p>
          <a:p xmlns:a="http://schemas.openxmlformats.org/drawingml/2006/main">
            <a:r>
              <a:t>Sources</a:t>
            </a:r>
          </a:p>
          <a:p xmlns:a="http://schemas.openxmlformats.org/drawingml/2006/main">
            <a:r>
              <a:t>submission/technical/main.tex</a:t>
            </a:r>
          </a:p>
          <a:p xmlns:a="http://schemas.openxmlformats.org/drawingml/2006/main">
            <a:r>
              <a:t>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25 seconds.</a:t>
            </a:r>
          </a:p>
          <a:p xmlns:a="http://schemas.openxmlformats.org/drawingml/2006/main">
            <a:r>
              <a:t/>
            </a:r>
          </a:p>
          <a:p xmlns:a="http://schemas.openxmlformats.org/drawingml/2006/main">
            <a:r>
              <a:t>These are the three capabilities in Topic E. BizWizard uses sales, inventory, debt and expense records already present in the application. The same shop scope carries into financing, treasury and analysis. The responsive interface supports smaller screens as well.</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submission/technical/main.tex</a:t>
            </a:r>
          </a:p>
          <a:p xmlns:a="http://schemas.openxmlformats.org/drawingml/2006/main">
            <a:r>
              <a:t>client/src/app/(dashboard)/finance</a:t>
            </a:r>
          </a:p>
          <a:p xmlns:a="http://schemas.openxmlformats.org/drawingml/2006/main">
            <a:r>
              <a:t>submission/presentation/assets/provenance.json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30 seconds.</a:t>
            </a:r>
          </a:p>
          <a:p xmlns:a="http://schemas.openxmlformats.org/drawingml/2006/main">
            <a:r>
              <a:t/>
            </a:r>
          </a:p>
          <a:p xmlns:a="http://schemas.openxmlformats.org/drawingml/2006/main">
            <a:r>
              <a:t>Follow a collection decision through the system. The cash engine raises an alert from scoped records. A treasury recommendation comes from a prepared menu and passes financial guards. The owner can approve a plan. Collection evidence must link an existing recorded debt payment. Approval alone cannot claim that cash arrived. Financing acceptance follows a separate application workflow.</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submission/technical/main.tex</a:t>
            </a:r>
          </a:p>
          <a:p xmlns:a="http://schemas.openxmlformats.org/drawingml/2006/main">
            <a:r>
              <a:t>submission/security/main.tex</a:t>
            </a:r>
          </a:p>
          <a:p xmlns:a="http://schemas.openxmlformats.org/drawingml/2006/main">
            <a:r>
              <a:t>server/src/app/modules/finance/cashflow/cashflow.service.ts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30 seconds.</a:t>
            </a:r>
          </a:p>
          <a:p xmlns:a="http://schemas.openxmlformats.org/drawingml/2006/main">
            <a:r>
              <a:t/>
            </a:r>
          </a:p>
          <a:p xmlns:a="http://schemas.openxmlformats.org/drawingml/2006/main">
            <a:r>
              <a:t>This is the business-management foundation beneath the finance copilot. The platform supports inventory and lot-level stock, purchasing and suppliers, checkout and sales, customer records, outstanding debts and collections, expenses, reporting, employee profiles, attendance and shop assignments. These are implemented application workflows with persisted records, rather than numbers typed only into a finance demonstration. Finance services read scoped sales, costs, debt, stock, expense and cash records from the same backend. Employee administration supplies access controls and business context; the finance engine does not use every employee field directly.</a:t>
            </a:r>
          </a:p>
          <a:p xmlns:a="http://schemas.openxmlformats.org/drawingml/2006/main">
            <a:r>
              <a:t/>
            </a:r>
          </a:p>
          <a:p xmlns:a="http://schemas.openxmlformats.org/drawingml/2006/main">
            <a:r>
              <a:t>Example: a credit checkout records the sale and its items, reduces stock and creates a customer debt in a transaction. A recorded debt payment later supplies collection history and, for a non-simulated source shop, the database cash trigger synchronizes the cash ledger. The finance layer uses that connected history for revenue, receivables, margins and cash projections. A forecast remains a model rather than a transaction. The existing integration is distinct from claiming that the sample records came from real customers. The screenshots use intercepted synthetic responses and seeded demonstrations, as documented in asset provenance. No production adoption, externally audited data quality or complete enterprise accounting capability is claimed.</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README.md</a:t>
            </a:r>
          </a:p>
          <a:p xmlns:a="http://schemas.openxmlformats.org/drawingml/2006/main">
            <a:r>
              <a:t>client/src/app/(dashboard)</a:t>
            </a:r>
          </a:p>
          <a:p xmlns:a="http://schemas.openxmlformats.org/drawingml/2006/main">
            <a:r>
              <a:t>server/src/app/modules/checkout/checkout.service.ts</a:t>
            </a:r>
          </a:p>
          <a:p xmlns:a="http://schemas.openxmlformats.org/drawingml/2006/main">
            <a:r>
              <a:t>server/src/app/modules/debt</a:t>
            </a:r>
          </a:p>
          <a:p xmlns:a="http://schemas.openxmlformats.org/drawingml/2006/main">
            <a:r>
              <a:t>server/src/app/modules/inventory</a:t>
            </a:r>
          </a:p>
          <a:p xmlns:a="http://schemas.openxmlformats.org/drawingml/2006/main">
            <a:r>
              <a:t>server/src/app/modules/expense</a:t>
            </a:r>
          </a:p>
          <a:p xmlns:a="http://schemas.openxmlformats.org/drawingml/2006/main">
            <a:r>
              <a:t>server/src/app/modules/supplier</a:t>
            </a:r>
          </a:p>
          <a:p xmlns:a="http://schemas.openxmlformats.org/drawingml/2006/main">
            <a:r>
              <a:t>server/src/app/modules/employee/employee.service.ts</a:t>
            </a:r>
          </a:p>
          <a:p xmlns:a="http://schemas.openxmlformats.org/drawingml/2006/main">
            <a:r>
              <a:t>server/src/app/modules/finance/shared/shopData.ts</a:t>
            </a:r>
          </a:p>
          <a:p xmlns:a="http://schemas.openxmlformats.org/drawingml/2006/main">
            <a:r>
              <a:t>server/prisma/migrations/20261018190000_cash_event_sync/migration.sql</a:t>
            </a:r>
          </a:p>
          <a:p xmlns:a="http://schemas.openxmlformats.org/drawingml/2006/main">
            <a:r>
              <a:t>submission/presentation/assets/provenance.json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35 seconds.</a:t>
            </a:r>
          </a:p>
          <a:p xmlns:a="http://schemas.openxmlformats.org/drawingml/2006/main">
            <a:r>
              <a:t/>
            </a:r>
          </a:p>
          <a:p xmlns:a="http://schemas.openxmlformats.org/drawingml/2006/main">
            <a:r>
              <a:t>Matching needs at least 60 percent sales-day completeness across a 90-day window. Deterministic weights are affordability 30 percent, cost 25, liquidity 20, collateral 15 and flexibility 10. AI score changes stay within 15 points before a 60/40 blend. Pricing and negotiation use deterministic policies, not LLM-to-LLM bargaining. Initial offers pass guards. Acceptance checks scope, offer state and expiry but does not re-underwrite current affordability. The displayed APR is an annualized cost approximation. The screenshot illustrates the UI, not a live lender quote.</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submission/technical/main.tex</a:t>
            </a:r>
          </a:p>
          <a:p xmlns:a="http://schemas.openxmlformats.org/drawingml/2006/main">
            <a:r>
              <a:t>server/src/app/modules/finance/matching/matching.service.ts</a:t>
            </a:r>
          </a:p>
          <a:p xmlns:a="http://schemas.openxmlformats.org/drawingml/2006/main">
            <a:r>
              <a:t>server/src/app/modules/finance/agents/agentCore.ts</a:t>
            </a:r>
          </a:p>
          <a:p xmlns:a="http://schemas.openxmlformats.org/drawingml/2006/main">
            <a:r>
              <a:t>submission/presentation/assets/provenance.json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45 seconds.</a:t>
            </a:r>
          </a:p>
          <a:p xmlns:a="http://schemas.openxmlformats.org/drawingml/2006/main">
            <a:r>
              <a:t/>
            </a:r>
          </a:p>
          <a:p xmlns:a="http://schemas.openxmlformats.org/drawingml/2006/main">
            <a:r>
              <a:t>A 90-day profile combines sales, lot-level cost of goods sold, operating expenses, debts, inventory and existing installments. It includes margin, days sales outstanding, debt/revenue, monthly free cash flow and sales-day coverage. The seeded catalog contains seven simulated providers and twelve products. Ten eligibility rules check minimum/maximum amount, minimum/maximum tenor, business age, revenue, debt/revenue, sector, GSTIN and bank statements. All passing rules give ELIGIBLE. Exactly one soft miss within 20% gives NEAR_MISS. Other failures give INELIGIBLE. Below 60% sales-day completeness, matching stops. Only eligible products enter AI reranking. Weighted rules scores use affordability 30%, cost 25%, liquidity 20%, collateral 15% and flexibility 10%. Clamp the AI score to ±15 points of the deterministic score, within 0–100, then blend 60% deterministic and 40% AI.</a:t>
            </a:r>
          </a:p>
          <a:p xmlns:a="http://schemas.openxmlformats.org/drawingml/2006/main">
            <a:r>
              <a:t/>
            </a:r>
          </a:p>
          <a:p xmlns:a="http://schemas.openxmlformats.org/drawingml/2006/main">
            <a:r>
              <a:t>Affordability converts 50% of monthly free cash flow into a serviceable principal using rate and tenor. A positive finite collateral limit can further cap principal at 85% of collateral value. These are distinct units, not a comparison of monthly cash flow directly with principal. Borrower acceptance uses a 35% installment/free-cash-flow test, APR versus gross margin and owner rate preferences. Lender pricing estimates probability of default and loss given default, applies a heuristic risk premium and clamps the rate to the product band. The guard checks positive amount, affordability, rate, tenor and advance rate. The 85% advance-rate guard can reject unsecured offers whose core proposes 100%; therefore an eligible match need not become an offer. A decline is a valid recorded result.</a:t>
            </a:r>
          </a:p>
          <a:p xmlns:a="http://schemas.openxmlformats.org/drawingml/2006/main">
            <a:r>
              <a:t/>
            </a:r>
          </a:p>
          <a:p xmlns:a="http://schemas.openxmlformats.org/drawingml/2006/main">
            <a:r>
              <a:t>Negotiation runs deterministic lender/borrower policies for at most three rounds. Each stored step includes party, proposed amount/rate/tenor, decision, message and reasoning. The owner sees score bars, failed rules and trade-offs, then full-term cost, thread and schedule. Records include financing_matches, financing_offers with APR/conditions/expiry, financing_negotiations, loan_schedules and ai_decisions including ISSUE_OFFER or DECLINE_OFFER. Acceptance creates an application and installment schedule, never a disbursement. It checks scope, state and expiry but does not re-underwrite current affordability. APR is an annualized cost approximation, not regulatory IRR APR.</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Team-supplied financing reference: photo_6249019189544817642_y.jpg</a:t>
            </a:r>
          </a:p>
          <a:p xmlns:a="http://schemas.openxmlformats.org/drawingml/2006/main">
            <a:r>
              <a:t>server/src/app/modules/finance/shared/eligibility.ts</a:t>
            </a:r>
          </a:p>
          <a:p xmlns:a="http://schemas.openxmlformats.org/drawingml/2006/main">
            <a:r>
              <a:t>server/src/app/modules/finance/shared/affordability.ts</a:t>
            </a:r>
          </a:p>
          <a:p xmlns:a="http://schemas.openxmlformats.org/drawingml/2006/main">
            <a:r>
              <a:t>server/src/app/modules/finance/shared/guard.ts</a:t>
            </a:r>
          </a:p>
          <a:p xmlns:a="http://schemas.openxmlformats.org/drawingml/2006/main">
            <a:r>
              <a:t>server/src/app/modules/finance/agents/agentCore.ts</a:t>
            </a:r>
          </a:p>
          <a:p xmlns:a="http://schemas.openxmlformats.org/drawingml/2006/main">
            <a:r>
              <a:t>server/src/app/modules/finance/matching/matching.service.ts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35 seconds.</a:t>
            </a:r>
          </a:p>
          <a:p xmlns:a="http://schemas.openxmlformats.org/drawingml/2006/main">
            <a:r>
              <a:t/>
            </a:r>
          </a:p>
          <a:p xmlns:a="http://schemas.openxmlformats.org/drawingml/2006/main">
            <a:r>
              <a:t>The projection uses recent inflow and outflow levels, weekday patterns and a clipped trend. Dated commitments and probability-weighted receivables change future balances. Nine conditions span eight alert families, with separate 30-day and 60-day debt-aging conditions. Non-simulated sales, debt payments and expenses synchronize through PostgreSQL triggers. Isolated simulation workspaces use their own ledger. This screenshot comes from the live source demo shop using seeded records. It shows positive projected balances and a buffer above target, not a fabricated shortfall. No Run treasurer, backfill or approval action was clicked for the capture.</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submission/technical/main.tex</a:t>
            </a:r>
          </a:p>
          <a:p xmlns:a="http://schemas.openxmlformats.org/drawingml/2006/main">
            <a:r>
              <a:t>server/src/app/modules/finance/shared/cashEngine.ts</a:t>
            </a:r>
          </a:p>
          <a:p xmlns:a="http://schemas.openxmlformats.org/drawingml/2006/main">
            <a:r>
              <a:t>server/src/app/modules/finance/shared/alerts.ts</a:t>
            </a:r>
          </a:p>
          <a:p xmlns:a="http://schemas.openxmlformats.org/drawingml/2006/main">
            <a:r>
              <a:t>submission/presentation/assets/provenance.json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45 seconds.</a:t>
            </a:r>
          </a:p>
          <a:p xmlns:a="http://schemas.openxmlformats.org/drawingml/2006/main">
            <a:r>
              <a:t/>
            </a:r>
          </a:p>
          <a:p xmlns:a="http://schemas.openxmlformats.org/drawingml/2006/main">
            <a:r>
              <a:t>Input: 180 days of shop-scoped cash-ledger history, dated commitments and open receivables. PostgreSQL triggers synchronize non-simulated sales, debt payments and expenses atomically with the cash ledger. Simulation shops maintain a separate ledger. TypeScript computes the money values. The projection combines day-of-week factors, a recent 28-day level and a trend clipped to ±30% of level. Receivables use age-bucket collection weights, from 70% at 0–7 days to 12% at 61+ days, with estimated collection dates. Buffer days equal current cash divided by average daily outflow over up to 28 history days. The forecast saves 90 daily buckets, closing cash, trough date, first shortfall date and amount. These are modeled assumptions, not promised collection rates.</a:t>
            </a:r>
          </a:p>
          <a:p xmlns:a="http://schemas.openxmlformats.org/drawingml/2006/main">
            <a:r>
              <a:t/>
            </a:r>
          </a:p>
          <a:p xmlns:a="http://schemas.openxmlformats.org/drawingml/2006/main">
            <a:r>
              <a:t>Nine conditions cover projected shortfall, buffer, debt aging, idle cash and decline/cost signals. Debt-aging conditions are separate. Alerts persist as OPEN with severity and metric snapshots. CRITICAL alerts create an owner-scoped notification in the same shop and tenant. The deterministic treasury path builds a menu, ranks positive-impact actions and checks mandate exposure and projected balances. Guard violations record REJECTED_BY_GUARD and do not create proposed actions. The current run passes a zero balance floor to the final treasury guard; the menu uses the target buffer. Do not claim that this call enforces a 14-day target floor on every proposal. The owner sees the balance curve, buffer versus the configured target (default 14 days), trough date, next action, estimated impact and manual completion step. A shortfall inside fourteen days allows earlier planning, without guaranteeing a business outcome.</a:t>
            </a:r>
          </a:p>
          <a:p xmlns:a="http://schemas.openxmlformats.org/drawingml/2006/main">
            <a:r>
              <a:t/>
            </a:r>
          </a:p>
          <a:p xmlns:a="http://schemas.openxmlformats.org/drawingml/2006/main">
            <a:r>
              <a:t>Approval records intent and moves no money. Collection evidence links a unique existing debt payment, not an arbitrary gain. Database records include cash_flow_projections, cash_alerts with rule and metricSnapshot, treasury_action_evidence and ai_decisions with guardResult/status. A daily 06:00 server-time cron repeats treasury work and reconciles EXECUTED actions older than seven days only when linked evidence exists. A linked collection can also reconcile immediately through the service. The routine treasury choice is currently deterministic-core, while optional AI policy selection exists in the matched sandbox evaluation.</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Team-supplied cash flow reference: photo_6249019189544817640_y.jpg</a:t>
            </a:r>
          </a:p>
          <a:p xmlns:a="http://schemas.openxmlformats.org/drawingml/2006/main">
            <a:r>
              <a:t>server/src/app/modules/finance/shared/cashEngine.ts</a:t>
            </a:r>
          </a:p>
          <a:p xmlns:a="http://schemas.openxmlformats.org/drawingml/2006/main">
            <a:r>
              <a:t>server/src/app/modules/finance/shared/alerts.ts</a:t>
            </a:r>
          </a:p>
          <a:p xmlns:a="http://schemas.openxmlformats.org/drawingml/2006/main">
            <a:r>
              <a:t>server/src/app/modules/finance/cashflow/cashflow.service.ts</a:t>
            </a:r>
          </a:p>
          <a:p xmlns:a="http://schemas.openxmlformats.org/drawingml/2006/main">
            <a:r>
              <a:t>server/src/app/modules/finance/cron/financeCron.service.ts</a:t>
            </a:r>
          </a:p>
          <a:p xmlns:a="http://schemas.openxmlformats.org/drawingml/2006/main">
            <a:r>
              <a:t>server/src/app.ts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35 seconds.</a:t>
            </a:r>
          </a:p>
          <a:p xmlns:a="http://schemas.openxmlformats.org/drawingml/2006/main">
            <a:r>
              <a:t/>
            </a:r>
          </a:p>
          <a:p xmlns:a="http://schemas.openxmlformats.org/drawingml/2006/main">
            <a:r>
              <a:t>The analyst can propose a candidate explanation. Code checks how much of a nonzero gap the candidate accounts for. A residual of at most ten percent allows the verified label. This is accounting attribution, not proof that changing the product caused profit to rise. Product economics and working-capital measures give context. Price, collection, cost and mix scenarios use simplified models. Observed capital outcomes compare 30-day windows and remain non-causal.</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submission/technical/main.tex</a:t>
            </a:r>
          </a:p>
          <a:p xmlns:a="http://schemas.openxmlformats.org/drawingml/2006/main">
            <a:r>
              <a:t>server/src/app/modules/finance/shared/verifier.ts</a:t>
            </a:r>
          </a:p>
          <a:p xmlns:a="http://schemas.openxmlformats.org/drawingml/2006/main">
            <a:r>
              <a:t>server/src/app/modules/finance/analysis/analysis.service.ts</a:t>
            </a:r>
          </a:p>
          <a:p xmlns:a="http://schemas.openxmlformats.org/drawingml/2006/main">
            <a:r>
              <a:t>submission/presentation/assets/provenance.json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45 seconds.</a:t>
            </a:r>
          </a:p>
          <a:p xmlns:a="http://schemas.openxmlformats.org/drawingml/2006/main">
            <a:r>
              <a:t/>
            </a:r>
          </a:p>
          <a:p xmlns:a="http://schemas.openxmlformats.org/drawingml/2006/main">
            <a:r>
              <a:t>Input: sales, lot-level cost of goods sold, expenses, receivables, inventory and customer mix. Metrics use a 90-day profile; forecasting and anomaly detection load 120 days of daily sales. The reference image describes thirty metrics. The implementation returns families of profit/loss, product unit economics, working capital, breakeven/profitability, customer concentration and risk, plus metadata rather than a fixed thirty-row report. Working-capital cash conversion cycle equals days sales outstanding + days inventory outstanding − days payable outstanding. Product economics include margins, stock value and ABC-style quadrants. Missing or unavailable lot buy prices fall back to an estimated 70% of discounted line value. The source does not guarantee a separate per-line warning for every estimated cost, so do not present all costs as observed.</a:t>
            </a:r>
          </a:p>
          <a:p xmlns:a="http://schemas.openxmlformats.org/drawingml/2006/main">
            <a:r>
              <a:t/>
            </a:r>
          </a:p>
          <a:p xmlns:a="http://schemas.openxmlformats.org/drawingml/2006/main">
            <a:r>
              <a:t>Forecasting holds out the last fourteen days when sufficient history exists, predicts those dates and reports actual MAPE. Unavailable validation remains unavailable rather than invented accuracy. A day-of-week-adjusted median-absolute-deviation z-score flags absolute z &gt;3.5. AI only ranks candidate IDs supplied by code. For anomaly hypotheses, the verifier subtracts a candidate contribution from the nonzero original gap; residual within 10% allows VERIFIED. This is accounting attribution, not a causal experiment. Deterministic stock/margin/risk detectors also create verified facts directly. The default insight feed filters to VERIFIED; REFUTED entries remain accessible in stored records and unfiltered queries.</a:t>
            </a:r>
          </a:p>
          <a:p xmlns:a="http://schemas.openxmlformats.org/drawingml/2006/main">
            <a:r>
              <a:t/>
            </a:r>
          </a:p>
          <a:p xmlns:a="http://schemas.openxmlformats.org/drawingml/2006/main">
            <a:r>
              <a:t>Dead stock requires more than 45 days since last sale and over 5% of total inventory value. Concentration triggers at top-customer share over 25% or HHI over 0.25. Scenarios vary price, collections, costs or mix and rank modeled expected value. Capital approval freezes a baseline before the thirty-day observation window. Owner outputs include the hypothesis, evidence, product quadrants, headline report, forecast and ranked scenarios. Evidence includes insights.verificationStatus and residual metrics, forecasts.method/backtest MAPE, and capital_decisions with frozen baseline/measurement. Thirty-day before/after observations do not prove causal profit or AI alpha.</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Team-supplied analysis reference: photo_6249019189544817643_y.jpg</a:t>
            </a:r>
          </a:p>
          <a:p xmlns:a="http://schemas.openxmlformats.org/drawingml/2006/main">
            <a:r>
              <a:t>server/src/app/modules/finance/analysis/analysis.service.ts</a:t>
            </a:r>
          </a:p>
          <a:p xmlns:a="http://schemas.openxmlformats.org/drawingml/2006/main">
            <a:r>
              <a:t>server/src/app/modules/finance/shared/metricEngine.ts</a:t>
            </a:r>
          </a:p>
          <a:p xmlns:a="http://schemas.openxmlformats.org/drawingml/2006/main">
            <a:r>
              <a:t>server/src/app/modules/finance/shared/verifier.ts</a:t>
            </a:r>
          </a:p>
          <a:p xmlns:a="http://schemas.openxmlformats.org/drawingml/2006/main">
            <a:r>
              <a:t>server/src/app/modules/finance/shared/scenario.ts</a:t>
            </a:r>
          </a:p>
          <a:p xmlns:a="http://schemas.openxmlformats.org/drawingml/2006/main">
            <a:r>
              <a:t>server/src/app/modules/finance/shared/shopData.ts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35 seconds.</a:t>
            </a:r>
          </a:p>
          <a:p xmlns:a="http://schemas.openxmlformats.org/drawingml/2006/main">
            <a:r>
              <a:t/>
            </a:r>
          </a:p>
          <a:p xmlns:a="http://schemas.openxmlformats.org/drawingml/2006/main">
            <a:r>
              <a:t>The browser uses a same-origin Next.js API rewrite. Express verifies the token, explicit role, tenant membership and employee shop assignment, then validates requests. Services use PostgreSQL through Prisma. The finance engines calculate money and constraints in TypeScript. The optional provider receives minimized structured inputs through a shared runtime. Upload and push providers exist outside this finance diagram. One production database serves the app; the local disposable test database is evidence infrastructure.</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submission/technical/main.tex</a:t>
            </a:r>
          </a:p>
          <a:p xmlns:a="http://schemas.openxmlformats.org/drawingml/2006/main">
            <a:r>
              <a:t>submission/security/main.tex</a:t>
            </a:r>
          </a:p>
          <a:p xmlns:a="http://schemas.openxmlformats.org/drawingml/2006/main">
            <a:r>
              <a:t>client/next.config.ts</a:t>
            </a:r>
          </a:p>
          <a:p xmlns:a="http://schemas.openxmlformats.org/drawingml/2006/main">
            <a:r>
              <a:t>server/src/app.ts</a:t>
            </a:r>
          </a:p>
          <a:p xmlns:a="http://schemas.openxmlformats.org/drawingml/2006/main">
            <a:r>
              <a:t>server/src/app/middlewares/verifyTenant.ts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45 seconds.</a:t>
            </a:r>
          </a:p>
          <a:p xmlns:a="http://schemas.openxmlformats.org/drawingml/2006/main">
            <a:r>
              <a:t/>
            </a:r>
          </a:p>
          <a:p xmlns:a="http://schemas.openxmlformats.org/drawingml/2006/main">
            <a:r>
              <a:t>Four roles: lender, borrower, treasurer and analyst. Code supplies precomputed options and shop aggregates. One active mandate per shop/role controls objectives and limits. Editing inserts version +1 and deactivates the previous version. Routine pricing, negotiation and treasury picks use deterministic policies. Optional model calls enrich eligible ranking, generate constrained hypotheses, or select policies for the matched evaluation. Do not present all agent activity as a paid AI call.</a:t>
            </a:r>
          </a:p>
          <a:p xmlns:a="http://schemas.openxmlformats.org/drawingml/2006/main">
            <a:r>
              <a:t/>
            </a:r>
          </a:p>
          <a:p xmlns:a="http://schemas.openxmlformats.org/drawingml/2006/main">
            <a:r>
              <a:t>For configured provider calls: check enablement, redact structured inputs, reserve a conservative estimated budget, request JSON-only output and validate with Zod plus allowed IDs. The default deadlines are six seconds for fast and twelve seconds for reasoning, shared with at most one repair retry. Redaction targets identifying keys and selected email/phone strings but is incomplete. A PostgreSQL advisory transaction lock serializes reservations per tenant and calendar month. The configurable default monthly budget is USD 2 per tenant. Financial guards run after generation. A violation voids the output and records the guard rejection. Owner/admin approval gates consequential actions, and no external bank transfer occurs.</a:t>
            </a:r>
          </a:p>
          <a:p xmlns:a="http://schemas.openxmlformats.org/drawingml/2006/main">
            <a:r>
              <a:t/>
            </a:r>
          </a:p>
          <a:p xmlns:a="http://schemas.openxmlformats.org/drawingml/2006/main">
            <a:r>
              <a:t>No API key means zero provider calls and a labeled deterministic path. Budget denial also skips the provider request. Invalid output or a timeout can fall back after an attempted call and can still incur cost. Provider billing is authoritative. Runs record model/prompt version, tokens, estimated cost, latency, status and retries. Decisions record input hashes, output, guard result and status. Persistence is best-effort in some paths, so this is traceability rather than an independently witnessed immutable audit ledger. Evidence tables include ai_runs, ai_decisions, ai_budget_months and finance_evaluations. The owner sees versioned mandates, guard badges, budget, scorecards and audit export. Unknown alpha remains null without matched evidence. Audit JSON exports policies, decisions, runs, performance and evaluation summaries; individual evaluation exports carry replay inputs and outcomes.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Team-supplied agent system reference: photo_6249019189544817641_y.jpg</a:t>
            </a:r>
          </a:p>
          <a:p xmlns:a="http://schemas.openxmlformats.org/drawingml/2006/main">
            <a:r>
              <a:t>submission/technical/main.tex</a:t>
            </a:r>
          </a:p>
          <a:p xmlns:a="http://schemas.openxmlformats.org/drawingml/2006/main">
            <a:r>
              <a:t>submission/security/main.tex</a:t>
            </a:r>
          </a:p>
          <a:p xmlns:a="http://schemas.openxmlformats.org/drawingml/2006/main">
            <a:r>
              <a:t>server/src/lib/ai/client.ts</a:t>
            </a:r>
          </a:p>
          <a:p xmlns:a="http://schemas.openxmlformats.org/drawingml/2006/main">
            <a:r>
              <a:t>server/src/lib/ai/budget.ts</a:t>
            </a:r>
          </a:p>
          <a:p xmlns:a="http://schemas.openxmlformats.org/drawingml/2006/main">
            <a:r>
              <a:t>server/src/app/modules/finance/agents/agents.service.ts</a:t>
            </a:r>
          </a:p>
          <a:p xmlns:a="http://schemas.openxmlformats.org/drawingml/2006/main">
            <a:r>
              <a:t>server/src/app/modules/finance/agents/agentCore.ts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40 seconds.</a:t>
            </a:r>
          </a:p>
          <a:p xmlns:a="http://schemas.openxmlformats.org/drawingml/2006/main">
            <a:r>
              <a:t/>
            </a:r>
          </a:p>
          <a:p xmlns:a="http://schemas.openxmlformats.org/drawingml/2006/main">
            <a:r>
              <a:t>The saved shop-specific evaluation is separate from the standalone three-risk benchmark on the evidence slide. Its successful gpt-4o-mini call used no fallback and estimated USD 0.000155. Before the call, the service freezes shop inputs, mandate versions and the available policy universe; it persists choices before outcome replay. Eight paired outcome paths share the same draws. The displayed means come directly from the saved scorecards, with no new paid call during presentation generation. Borrower benefit is baseline cost minus participant cost. Other roles use participant minus baseline. Treasurer and analyst cover thirty days; lender and borrower use full loan terms with independent assumptions. Never combine these metrics into one return.</a:t>
            </a:r>
          </a:p>
          <a:p xmlns:a="http://schemas.openxmlformats.org/drawingml/2006/main">
            <a:r>
              <a:t/>
            </a:r>
          </a:p>
          <a:p xmlns:a="http://schemas.openxmlformats.org/drawingml/2006/main">
            <a:r>
              <a:t>Without matched counterfactual evidence, alpha remains null. Saved zero or negative differences stay visible. Mandates retain versions, decisions retain input hashes and guard results, and audit JSON exports policies, decisions, runs and evaluations. Download an individual evaluation to replay its frozen inputs, policy choices, seed, assumptions and both ledgers. From server/, after dependency installation, run npm run evidence:finance -- --replay FILE.json. Replay needs no database and no API key. It recomputes outcomes and checks a canonical hash. A matching hash supports reproducibility, not cryptographic authorship or real-world causality. Refuted explanations and unknown results are retained rather than converted into success claims.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Team-supplied agent system reference: photo_6249019189544817641_y.jpg</a:t>
            </a:r>
          </a:p>
          <a:p xmlns:a="http://schemas.openxmlformats.org/drawingml/2006/main">
            <a:r>
              <a:t>evidence/submission/matched-evaluation-live.json</a:t>
            </a:r>
          </a:p>
          <a:p xmlns:a="http://schemas.openxmlformats.org/drawingml/2006/main">
            <a:r>
              <a:t>evidence/submission/matched-replay-verification.json</a:t>
            </a:r>
          </a:p>
          <a:p xmlns:a="http://schemas.openxmlformats.org/drawingml/2006/main">
            <a:r>
              <a:t>server/src/app/modules/finance/agents/matchedEvaluation.service.ts</a:t>
            </a:r>
          </a:p>
          <a:p xmlns:a="http://schemas.openxmlformats.org/drawingml/2006/main">
            <a:r>
              <a:t>server/src/app/modules/finance/agents/agents.service.ts</a:t>
            </a:r>
          </a:p>
          <a:p xmlns:a="http://schemas.openxmlformats.org/drawingml/2006/main">
            <a:r>
              <a:t>server/scripts/evidence-scenarios.ts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35 seconds.</a:t>
            </a:r>
          </a:p>
          <a:p xmlns:a="http://schemas.openxmlformats.org/drawingml/2006/main">
            <a:r>
              <a:t/>
            </a:r>
          </a:p>
          <a:p xmlns:a="http://schemas.openxmlformats.org/drawingml/2006/main">
            <a:r>
              <a:t>This table summarizes finance routes. Owners operate within their tenant. Admins are trusted and can bypass tenant membership checks. Employees can read assigned-shop finance, including sensitive exports, and acknowledge alerts. Owner/admin roles control finance mutations. Public users have no finance access. Approval does not initiate a real bank transfer. We have not performed an independent penetration test or a restore drill. Browser localStorage tokens, incomplete redaction, mutable best-effort logs and recovery verification remain in the risk register.</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submission/security/main.tex</a:t>
            </a:r>
          </a:p>
          <a:p xmlns:a="http://schemas.openxmlformats.org/drawingml/2006/main">
            <a:r>
              <a:t>server/src/app/modules/finance/matching/matching.routes.ts</a:t>
            </a:r>
          </a:p>
          <a:p xmlns:a="http://schemas.openxmlformats.org/drawingml/2006/main">
            <a:r>
              <a:t>server/src/app/modules/finance/cashflow/cashflow.routes.ts</a:t>
            </a:r>
          </a:p>
          <a:p xmlns:a="http://schemas.openxmlformats.org/drawingml/2006/main">
            <a:r>
              <a:t>server/src/app/middlewares/verifyFinanceShopAccess.ts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40 seconds.</a:t>
            </a:r>
          </a:p>
          <a:p xmlns:a="http://schemas.openxmlformats.org/drawingml/2006/main">
            <a:r>
              <a:t/>
            </a:r>
          </a:p>
          <a:p xmlns:a="http://schemas.openxmlformats.org/drawingml/2006/main">
            <a:r>
              <a:t>The standalone live benchmark made three successful gpt-4o-mini calls without fallback at synthetic default-risk inputs of 5, 20 and 50 percent. Across four roles that gives 12 comparisons: four AI wins, five rules wins and three ties. Borrower modeled cost improved in all three cases. The analyst lost in all three, the treasurer tied, and lender results depended on risk. These are different financial metrics and cannot be summed as profit. Separately, the saved PostgreSQL execution report records 11 passing tests across five suites and successful migrations. These are saved reports, not new tests or paid calls during the presentation build. The preceding slide covers the independent paired shop-specific result.</a:t>
            </a:r>
          </a:p>
          <a:p xmlns:a="http://schemas.openxmlformats.org/drawingml/2006/main">
            <a:r>
              <a:t/>
            </a:r>
          </a:p>
          <a:p xmlns:a="http://schemas.openxmlformats.org/drawingml/2006/main">
            <a:r>
              <a:t>Reviewer commands run from server/ after npm ci. npm run benchmark:finance uses deterministic synthetic fixtures and needs no database or API key. npm run benchmark:finance -- --live needs the reviewer’s own API key and network, with a configured spend limit. npm run evidence:finance applies migrations and runs integration suites against EVIDENCE_DATABASE_URL pointing to disposable local PostgreSQL at 127.0.0.1/simulator_test; it needs no AI key. npm run evidence:finance -- --replay FILE.json checks an exported evaluation offline without PostgreSQL or an API key. Keep live keys in the environment or ignored .env.benchmark. Reports record tested revision, inputs and outcomes. Private source repositories require reviewer access.</a:t>
            </a:r>
          </a:p>
          <a:p xmlns:a="http://schemas.openxmlformats.org/drawingml/2006/main">
            <a:r>
              <a:t/>
            </a:r>
          </a:p>
          <a:p xmlns:a="http://schemas.openxmlformats.org/drawingml/2006/main">
            <a:r>
              <a:t>Benchmark total estimated API cost: USD 0.000273. Scope: standalone synthetic policy benchmark, not the entire application negotiation pipeline.</a:t>
            </a:r>
          </a:p>
          <a:p xmlns:a="http://schemas.openxmlformats.org/drawingml/2006/main">
            <a:r>
              <a:t/>
            </a:r>
          </a:p>
          <a:p xmlns:a="http://schemas.openxmlformats.org/drawingml/2006/main">
            <a:r>
              <a:t>Sources</a:t>
            </a:r>
          </a:p>
          <a:p xmlns:a="http://schemas.openxmlformats.org/drawingml/2006/main">
            <a:r>
              <a:t>evidence/submission/benchmark-live-results.json</a:t>
            </a:r>
          </a:p>
          <a:p xmlns:a="http://schemas.openxmlformats.org/drawingml/2006/main">
            <a:r>
              <a:t>evidence/submission/sandbox-operation-logs.json</a:t>
            </a:r>
          </a:p>
          <a:p xmlns:a="http://schemas.openxmlformats.org/drawingml/2006/main">
            <a:r>
              <a:t>submission/technical/main.tex</a:t>
            </a:r>
          </a:p>
          <a:p xmlns:a="http://schemas.openxmlformats.org/drawingml/2006/main">
            <a:r>
              <a:t>README.md</a:t>
            </a:r>
          </a:p>
          <a:p xmlns:a="http://schemas.openxmlformats.org/drawingml/2006/main">
            <a:r>
              <a:t>server/scripts/benchmark-finance.ts</a:t>
            </a:r>
          </a:p>
          <a:p xmlns:a="http://schemas.openxmlformats.org/drawingml/2006/main">
            <a:r>
              <a:t>server/scripts/evidence-scenarios.ts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15 seconds.</a:t>
            </a:r>
          </a:p>
          <a:p xmlns:a="http://schemas.openxmlformats.org/drawingml/2006/main">
            <a:r>
              <a:t/>
            </a:r>
          </a:p>
          <a:p xmlns:a="http://schemas.openxmlformats.org/drawingml/2006/main">
            <a:r>
              <a:t>Our broader idea is connected business management and financial guidance for small-business owners. The implemented foundation covers daily operational workflows. The finance copilot builds on their saved shop records to compare simulated financing, project cash and explain product economics. The intended benefit is less manual transfer between operational records and financial decisions; we do not claim a measured customer outcome. Demonstration records remain seeded or synthetic. If moving to a demonstration, use an isolated demo workspace and saved evidence, without a new paid call during the talk. Included screenshots support an offline explanation. Current financing is simulated, with no external lender contact or money execution. Before sensitive production use, strengthen browser sessions, provider-data handling and audit guarantees, and verify backup restoration. Real lending would require revalidating final affordability and terms, assessing legal obligations and implementing external execution controls. Heuristic risk/cost models, Float money, trusted administrators and non-causal observations remain limitations.</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submission/technical/main.tex</a:t>
            </a:r>
          </a:p>
          <a:p xmlns:a="http://schemas.openxmlformats.org/drawingml/2006/main">
            <a:r>
              <a:t>submission/security/main.tex</a:t>
            </a:r>
          </a:p>
          <a:p xmlns:a="http://schemas.openxmlformats.org/drawingml/2006/main">
            <a:r>
              <a:t>README.md</a:t>
            </a:r>
          </a:p>
          <a:p xmlns:a="http://schemas.openxmlformats.org/drawingml/2006/main">
            <a:r>
              <a:t>https://bizwizard-lake.vercel.app/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0534405b8544a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a28b4df8ba247f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2222260981f4af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f848d1defc4490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c2b6e1e8c24445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ed2f55689ad46e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E960EA-EEEA-4E3E-8DCB-55AB04FE2F73}"/>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899DD77-F569-42CB-A9C4-E28C9B010D1F}"/>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9A426C4-E5CE-4FEA-B48B-86AE45F07CA7}"/>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AFF263-0B2F-4906-BF1B-81F3E2A92927}"/>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9082B43-EBBB-4206-BA80-D2177E8ED2F7}"/>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67358AF-7826-4B88-8076-85C2807D693D}"/>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AB9010-2B51-4475-87F6-C303B58F7E71}"/>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563AD1E-37F5-4A90-A9F7-4C6885650D6A}"/>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6C0D9C-7E16-4A79-9E30-019B774FF4DF}"/>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8B2F8AB-C1C7-48F0-8D3F-508080330445}"/>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1f0c025c404dd1" /><Relationship Type="http://schemas.openxmlformats.org/officeDocument/2006/relationships/slideLayout" Target="/ppt/slideLayouts/slideLayout1.xml" Id="R730f32302f634bba" /><Relationship Type="http://schemas.openxmlformats.org/officeDocument/2006/relationships/slideLayout" Target="/ppt/slideLayouts/slideLayout2.xml" Id="Rd8e8db1454794559" /><Relationship Type="http://schemas.openxmlformats.org/officeDocument/2006/relationships/slideLayout" Target="/ppt/slideLayouts/slideLayout3.xml" Id="Rd26e9f41f2a94bf0" /><Relationship Type="http://schemas.openxmlformats.org/officeDocument/2006/relationships/slideLayout" Target="/ppt/slideLayouts/slideLayout4.xml" Id="R90a93bcafe754ea7" /><Relationship Type="http://schemas.openxmlformats.org/officeDocument/2006/relationships/slideLayout" Target="/ppt/slideLayouts/slideLayout5.xml" Id="R74342ecfdf6c4017" /><Relationship Type="http://schemas.openxmlformats.org/officeDocument/2006/relationships/slideLayout" Target="/ppt/slideLayouts/slideLayout6.xml" Id="Rb4d0e13d260d480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30f32302f634bba"/>
    <p:sldLayoutId xmlns:r="http://schemas.openxmlformats.org/officeDocument/2006/relationships" id="2147483650" r:id="Rd8e8db1454794559"/>
    <p:sldLayoutId xmlns:r="http://schemas.openxmlformats.org/officeDocument/2006/relationships" id="2147483651" r:id="Rd26e9f41f2a94bf0"/>
    <p:sldLayoutId xmlns:r="http://schemas.openxmlformats.org/officeDocument/2006/relationships" id="2147483652" r:id="R90a93bcafe754ea7"/>
    <p:sldLayoutId xmlns:r="http://schemas.openxmlformats.org/officeDocument/2006/relationships" id="2147483653" r:id="R74342ecfdf6c4017"/>
    <p:sldLayoutId xmlns:r="http://schemas.openxmlformats.org/officeDocument/2006/relationships" id="2147483654" r:id="Rb4d0e13d260d480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ff0fe32bb71415e" /><Relationship Type="http://schemas.openxmlformats.org/officeDocument/2006/relationships/image" Target="/ppt/media/image.png" Id="R4012556549cf4fb6" /><Relationship Type="http://schemas.openxmlformats.org/officeDocument/2006/relationships/notesSlide" Target="/ppt/notesSlides/notesSlide1.xml" Id="Reb23c3aee3994d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16f7689c6f7421b" /><Relationship Type="http://schemas.openxmlformats.org/officeDocument/2006/relationships/notesSlide" Target="/ppt/notesSlides/notesSlide2.xml" Id="R537815827b984a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873653cb7b8417e" /><Relationship Type="http://schemas.openxmlformats.org/officeDocument/2006/relationships/image" Target="/ppt/media/image2.png" Id="R118175cc64274f8d" /><Relationship Type="http://schemas.openxmlformats.org/officeDocument/2006/relationships/image" Target="/ppt/media/image3.png" Id="Rf2d718889f924e14" /><Relationship Type="http://schemas.openxmlformats.org/officeDocument/2006/relationships/notesSlide" Target="/ppt/notesSlides/notesSlide3.xml" Id="Rd949c1d9c1534e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f36084960254aaa" /><Relationship Type="http://schemas.openxmlformats.org/officeDocument/2006/relationships/notesSlide" Target="/ppt/notesSlides/notesSlide4.xml" Id="Ra044a516cefa4e7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2858503d3114684" /><Relationship Type="http://schemas.openxmlformats.org/officeDocument/2006/relationships/notesSlide" Target="/ppt/notesSlides/notesSlide5.xml" Id="R98df7bfbb4f84b5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599bdb869ad4a05" /><Relationship Type="http://schemas.openxmlformats.org/officeDocument/2006/relationships/image" Target="/ppt/media/image4.png" Id="R3e2316a6729447e6" /><Relationship Type="http://schemas.openxmlformats.org/officeDocument/2006/relationships/notesSlide" Target="/ppt/notesSlides/notesSlide6.xml" Id="R61a3c183c7bf418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ead1a56f3e04848" /><Relationship Type="http://schemas.openxmlformats.org/officeDocument/2006/relationships/notesSlide" Target="/ppt/notesSlides/notesSlide7.xml" Id="R7a033761a254406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4a7cdfd6b4b4242" /><Relationship Type="http://schemas.openxmlformats.org/officeDocument/2006/relationships/image" Target="/ppt/media/image5.png" Id="R1a8f84d1978e484c" /><Relationship Type="http://schemas.openxmlformats.org/officeDocument/2006/relationships/notesSlide" Target="/ppt/notesSlides/notesSlide8.xml" Id="R6df9bbeb022844f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394808b3a5746c5" /><Relationship Type="http://schemas.openxmlformats.org/officeDocument/2006/relationships/notesSlide" Target="/ppt/notesSlides/notesSlide9.xml" Id="Ra89be504a69e4e5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eb975305a3c4345" /><Relationship Type="http://schemas.openxmlformats.org/officeDocument/2006/relationships/image" Target="/ppt/media/image6.png" Id="R5968ba2cab8b40e0" /><Relationship Type="http://schemas.openxmlformats.org/officeDocument/2006/relationships/notesSlide" Target="/ppt/notesSlides/notesSlide10.xml" Id="R04d8ce29653b4d7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54f2a19cf484553" /><Relationship Type="http://schemas.openxmlformats.org/officeDocument/2006/relationships/notesSlide" Target="/ppt/notesSlides/notesSlide11.xml" Id="R8741996be4624d0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8b1285dca8843a1" /><Relationship Type="http://schemas.openxmlformats.org/officeDocument/2006/relationships/notesSlide" Target="/ppt/notesSlides/notesSlide12.xml" Id="R2a23fcd7f9a841b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8907f901f10417d" /><Relationship Type="http://schemas.openxmlformats.org/officeDocument/2006/relationships/notesSlide" Target="/ppt/notesSlides/notesSlide13.xml" Id="R964ec299fdf446b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7a04e00964f41e2" /><Relationship Type="http://schemas.openxmlformats.org/officeDocument/2006/relationships/notesSlide" Target="/ppt/notesSlides/notesSlide14.xml" Id="Rd6e77914b7224a5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e26740bbc994a19" /><Relationship Type="http://schemas.openxmlformats.org/officeDocument/2006/relationships/notesSlide" Target="/ppt/notesSlides/notesSlide15.xml" Id="R5b7936ebc71a4a1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9ee6d24b2d74fd4" /><Relationship Type="http://schemas.openxmlformats.org/officeDocument/2006/relationships/chart" Target="/ppt/slides/charts/chart1.xml" Id="R761d12b571c64bdc" /><Relationship Type="http://schemas.openxmlformats.org/officeDocument/2006/relationships/notesSlide" Target="/ppt/notesSlides/notesSlide16.xml" Id="R21278ad96b3943d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f9b05d6f1474a10" /><Relationship Type="http://schemas.openxmlformats.org/officeDocument/2006/relationships/hyperlink" Target="https://bizwizard-lake.vercel.app/" TargetMode="External" Id="R101ca42fc96f423b" /><Relationship Type="http://schemas.openxmlformats.org/officeDocument/2006/relationships/notesSlide" Target="/ppt/notesSlides/notesSlide17.xml" Id="R0dbb7007d2494a3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AI wins</c:v>
          </c:tx>
          <c:spPr>
            <a:solidFill xmlns:a="http://schemas.openxmlformats.org/drawingml/2006/main">
              <a:srgbClr val="2463EB"/>
            </a:solidFill>
          </c:spPr>
          <c:invertIfNegative val="0"/>
          <c:dLbls>
            <c:dLbl>
              <c:idx val="0"/>
              <c:showVal val="0"/>
            </c:dLbl>
            <c:dLbl>
              <c:idx val="1"/>
              <c:showVal val="0"/>
            </c:dLbl>
            <c:numFmt formatCode="0" sourceLinked="0"/>
            <c:txPr>
              <a:bodyPr xmlns:a="http://schemas.openxmlformats.org/drawingml/2006/main" anchorCtr="1"/>
              <a:lstStyle xmlns:a="http://schemas.openxmlformats.org/drawingml/2006/main"/>
              <a:p xmlns:a="http://schemas.openxmlformats.org/drawingml/2006/main">
                <a:pPr>
                  <a:defRPr sz="2025" b="1">
                    <a:solidFill>
                      <a:srgbClr val="FFFFFF"/>
                    </a:solidFill>
                    <a:latin typeface="Arial"/>
                    <a:ea typeface="Arial"/>
                    <a:cs typeface="Arial"/>
                  </a:defRPr>
                </a:pPr>
              </a:p>
            </c:txPr>
            <c:dLblPos val="ctr"/>
            <c:showLegendKey val="0"/>
            <c:showVal val="1"/>
            <c:showCatName val="0"/>
            <c:showSerName val="0"/>
            <c:showPercent val="0"/>
            <c:showBubbleSize val="0"/>
            <c:showLeaderLines val="0"/>
          </c:dLbls>
          <c:cat>
            <c:strRef>
              <c:f>'Chart Data'!$A$2:$A$5</c:f>
              <c:strCache>
                <c:ptCount val="4"/>
                <c:pt idx="0">
                  <c:v>Analyst</c:v>
                </c:pt>
                <c:pt idx="1">
                  <c:v>Treasurer</c:v>
                </c:pt>
                <c:pt idx="2">
                  <c:v>Borrower</c:v>
                </c:pt>
                <c:pt idx="3">
                  <c:v>Lender</c:v>
                </c:pt>
              </c:strCache>
            </c:strRef>
          </c:cat>
          <c:val>
            <c:numRef>
              <c:f>'Chart Data'!$B$2:$B$5</c:f>
              <c:numCache>
                <c:formatCode>0</c:formatCode>
                <c:ptCount val="4"/>
                <c:pt idx="0">
                  <c:v>0</c:v>
                </c:pt>
                <c:pt idx="1">
                  <c:v>0</c:v>
                </c:pt>
                <c:pt idx="2">
                  <c:v>3</c:v>
                </c:pt>
                <c:pt idx="3">
                  <c:v>1</c:v>
                </c:pt>
              </c:numCache>
            </c:numRef>
          </c:val>
        </c:ser>
        <c:ser>
          <c:idx val="1"/>
          <c:order val="1"/>
          <c:tx>
            <c:v>Rules wins</c:v>
          </c:tx>
          <c:spPr>
            <a:solidFill xmlns:a="http://schemas.openxmlformats.org/drawingml/2006/main">
              <a:srgbClr val="8B9BB6"/>
            </a:solidFill>
          </c:spPr>
          <c:invertIfNegative val="0"/>
          <c:dLbls>
            <c:dLbl>
              <c:idx val="1"/>
              <c:showVal val="0"/>
            </c:dLbl>
            <c:dLbl>
              <c:idx val="2"/>
              <c:showVal val="0"/>
            </c:dLbl>
            <c:numFmt formatCode="0" sourceLinked="0"/>
            <c:txPr>
              <a:bodyPr xmlns:a="http://schemas.openxmlformats.org/drawingml/2006/main" anchorCtr="1"/>
              <a:lstStyle xmlns:a="http://schemas.openxmlformats.org/drawingml/2006/main"/>
              <a:p xmlns:a="http://schemas.openxmlformats.org/drawingml/2006/main">
                <a:pPr>
                  <a:defRPr sz="2025" b="1">
                    <a:solidFill>
                      <a:srgbClr val="FFFFFF"/>
                    </a:solidFill>
                    <a:latin typeface="Arial"/>
                    <a:ea typeface="Arial"/>
                    <a:cs typeface="Arial"/>
                  </a:defRPr>
                </a:pPr>
              </a:p>
            </c:txPr>
            <c:dLblPos val="ctr"/>
            <c:showLegendKey val="0"/>
            <c:showVal val="1"/>
            <c:showCatName val="0"/>
            <c:showSerName val="0"/>
            <c:showPercent val="0"/>
            <c:showBubbleSize val="0"/>
            <c:showLeaderLines val="0"/>
          </c:dLbls>
          <c:cat>
            <c:strRef>
              <c:f>'Chart Data'!$C$2:$C$5</c:f>
              <c:strCache>
                <c:ptCount val="4"/>
                <c:pt idx="0">
                  <c:v>Analyst</c:v>
                </c:pt>
                <c:pt idx="1">
                  <c:v>Treasurer</c:v>
                </c:pt>
                <c:pt idx="2">
                  <c:v>Borrower</c:v>
                </c:pt>
                <c:pt idx="3">
                  <c:v>Lender</c:v>
                </c:pt>
              </c:strCache>
            </c:strRef>
          </c:cat>
          <c:val>
            <c:numRef>
              <c:f>'Chart Data'!$D$2:$D$5</c:f>
              <c:numCache>
                <c:formatCode>0</c:formatCode>
                <c:ptCount val="4"/>
                <c:pt idx="0">
                  <c:v>3</c:v>
                </c:pt>
                <c:pt idx="1">
                  <c:v>0</c:v>
                </c:pt>
                <c:pt idx="2">
                  <c:v>0</c:v>
                </c:pt>
                <c:pt idx="3">
                  <c:v>2</c:v>
                </c:pt>
              </c:numCache>
            </c:numRef>
          </c:val>
        </c:ser>
        <c:ser>
          <c:idx val="2"/>
          <c:order val="2"/>
          <c:tx>
            <c:v>Ties</c:v>
          </c:tx>
          <c:spPr>
            <a:solidFill xmlns:a="http://schemas.openxmlformats.org/drawingml/2006/main">
              <a:srgbClr val="B9D8E8"/>
            </a:solidFill>
          </c:spPr>
          <c:invertIfNegative val="0"/>
          <c:dLbls>
            <c:dLbl>
              <c:idx val="0"/>
              <c:showVal val="0"/>
            </c:dLbl>
            <c:dLbl>
              <c:idx val="2"/>
              <c:showVal val="0"/>
            </c:dLbl>
            <c:dLbl>
              <c:idx val="3"/>
              <c:showVal val="0"/>
            </c:dLbl>
            <c:numFmt formatCode="0" sourceLinked="0"/>
            <c:txPr>
              <a:bodyPr xmlns:a="http://schemas.openxmlformats.org/drawingml/2006/main" anchorCtr="1"/>
              <a:lstStyle xmlns:a="http://schemas.openxmlformats.org/drawingml/2006/main"/>
              <a:p xmlns:a="http://schemas.openxmlformats.org/drawingml/2006/main">
                <a:pPr>
                  <a:defRPr sz="2025" b="1">
                    <a:solidFill>
                      <a:srgbClr val="13243F"/>
                    </a:solidFill>
                    <a:latin typeface="Arial"/>
                    <a:ea typeface="Arial"/>
                    <a:cs typeface="Arial"/>
                  </a:defRPr>
                </a:pPr>
              </a:p>
            </c:txPr>
            <c:dLblPos val="ctr"/>
            <c:showLegendKey val="0"/>
            <c:showVal val="1"/>
            <c:showCatName val="0"/>
            <c:showSerName val="0"/>
            <c:showPercent val="0"/>
            <c:showBubbleSize val="0"/>
            <c:showLeaderLines val="0"/>
          </c:dLbls>
          <c:cat>
            <c:strRef>
              <c:f>'Chart Data'!$E$2:$E$5</c:f>
              <c:strCache>
                <c:ptCount val="4"/>
                <c:pt idx="0">
                  <c:v>Analyst</c:v>
                </c:pt>
                <c:pt idx="1">
                  <c:v>Treasurer</c:v>
                </c:pt>
                <c:pt idx="2">
                  <c:v>Borrower</c:v>
                </c:pt>
                <c:pt idx="3">
                  <c:v>Lender</c:v>
                </c:pt>
              </c:strCache>
            </c:strRef>
          </c:cat>
          <c:val>
            <c:numRef>
              <c:f>'Chart Data'!$F$2:$F$5</c:f>
              <c:numCache>
                <c:formatCode>0</c:formatCode>
                <c:ptCount val="4"/>
                <c:pt idx="0">
                  <c:v>0</c:v>
                </c:pt>
                <c:pt idx="1">
                  <c:v>3</c:v>
                </c:pt>
                <c:pt idx="2">
                  <c:v>0</c:v>
                </c:pt>
                <c:pt idx="3">
                  <c:v>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025" b="1">
                  <a:solidFill>
                    <a:srgbClr val="FFFFFF"/>
                  </a:solidFill>
                  <a:latin typeface="Arial"/>
                  <a:ea typeface="Arial"/>
                  <a:cs typeface="Arial"/>
                </a:defRPr>
              </a:pPr>
            </a:p>
          </c:txPr>
          <c:dLblPos val="ctr"/>
          <c:showLegendKey val="0"/>
          <c:showVal val="1"/>
          <c:showCatName val="0"/>
          <c:showSerName val="0"/>
          <c:showPercent val="0"/>
          <c:showBubbleSize val="0"/>
          <c:showLeaderLines val="0"/>
        </c:dLbls>
        <c:gapWidth val="70"/>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950">
                <a:solidFill>
                  <a:srgbClr val="13243F"/>
                </a:solidFill>
                <a:latin typeface="Arial"/>
                <a:ea typeface="Arial"/>
                <a:cs typeface="Arial"/>
              </a:defRPr>
            </a:pPr>
          </a:p>
        </c:txPr>
        <c:crossAx val="48672768"/>
      </c:catAx>
      <c:valAx>
        <c:axId val="48672768"/>
        <c:scaling>
          <c:orientation val="minMax"/>
          <c:max val="3"/>
          <c:min val="0"/>
        </c:scaling>
        <c:delete val="1"/>
        <c:axPos val="b"/>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75">
                <a:solidFill>
                  <a:srgbClr val="13243F"/>
                </a:solidFill>
                <a:latin typeface="Arial"/>
                <a:ea typeface="Arial"/>
                <a:cs typeface="Arial"/>
              </a:defRPr>
            </a:pPr>
          </a:p>
        </c:txPr>
        <c:crossAx val="48650112"/>
        <c:crossBetween val="between"/>
        <c:majorUnit val="1"/>
      </c:valAx>
      <c:spPr>
        <a:solidFill xmlns:a="http://schemas.openxmlformats.org/drawingml/2006/main">
          <a:srgbClr val="F6F8FC"/>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3243F"/>
              </a:solidFill>
              <a:latin typeface="Arial"/>
              <a:ea typeface="Arial"/>
              <a:cs typeface="Arial"/>
            </a:defRPr>
          </a:pPr>
        </a:p>
      </c:txPr>
    </c:legend>
    <c:plotVisOnly val="1"/>
  </c:chart>
  <c:spPr>
    <a:solidFill xmlns:a="http://schemas.openxmlformats.org/drawingml/2006/main">
      <a:srgbClr val="F6F8FC"/>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F3C"/>
        </a:solidFill>
      </p:bgPr>
    </p:bg>
    <p:spTree>
      <p:nvGrpSpPr>
        <p:cNvPr id="1" name=""/>
        <p:cNvGrpSpPr/>
        <p:nvPr/>
      </p:nvGrpSpPr>
      <p:grpSpPr>
        <a:xfrm xmlns:a="http://schemas.openxmlformats.org/drawingml/2006/main"/>
      </p:grpSpPr>
      <p:sp>
        <p:nvSpPr>
          <p:cNvPr id="14" name="BizWizard">
            <a:extLst xmlns:a="http://schemas.openxmlformats.org/drawingml/2006/main">
              <a:ext uri="{FF2B5EF4-FFF2-40B4-BE49-F238E27FC236}">
                <a16:creationId xmlns:a16="http://schemas.microsoft.com/office/drawing/2014/main" id="{AF3B5614-E8D0-4E5C-9647-4FA8E59D0562}"/>
              </a:ext>
            </a:extLst>
          </p:cNvPr>
          <p:cNvSpPr>
            <a:spLocks xmlns:a="http://schemas.openxmlformats.org/drawingml/2006/main" noGrp="1"/>
          </p:cNvSpPr>
          <p:nvPr/>
        </p:nvSpPr>
        <p:spPr>
          <a:xfrm xmlns:a="http://schemas.openxmlformats.org/drawingml/2006/main">
            <a:off x="685800" y="3238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FFFFFF"/>
                </a:solidFill>
                <a:latin typeface="Arial"/>
                <a:ea typeface="Arial"/>
                <a:cs typeface="Arial"/>
              </a:defRPr>
            </a:defPPr>
          </a:lstStyle>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BizWizard</a:t>
            </a:r>
          </a:p>
        </p:txBody>
      </p:sp>
      <p:sp>
        <p:nvSpPr>
          <p:cNvPr id="2" name="01">
            <a:extLst xmlns:a="http://schemas.openxmlformats.org/drawingml/2006/main">
              <a:ext uri="{FF2B5EF4-FFF2-40B4-BE49-F238E27FC236}">
                <a16:creationId xmlns:a16="http://schemas.microsoft.com/office/drawing/2014/main" id="{2C2CD185-417B-471B-8FC5-B004F3775FCA}"/>
              </a:ext>
            </a:extLst>
          </p:cNvPr>
          <p:cNvSpPr>
            <a:spLocks xmlns:a="http://schemas.openxmlformats.org/drawingml/2006/main" noGrp="1"/>
          </p:cNvSpPr>
          <p:nvPr/>
        </p:nvSpPr>
        <p:spPr>
          <a:xfrm xmlns:a="http://schemas.openxmlformats.org/drawingml/2006/main">
            <a:off x="12573000" y="323850"/>
            <a:ext cx="198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ADBBD2"/>
                </a:solidFill>
                <a:latin typeface="Arial"/>
                <a:ea typeface="Arial"/>
                <a:cs typeface="Arial"/>
              </a:defRPr>
            </a:defPPr>
          </a:lstStyle>
          <a:p xmlns:a="http://schemas.openxmlformats.org/drawingml/2006/main">
            <a:pPr algn="r">
              <a:defRPr sz="1425" b="0">
                <a:solidFill>
                  <a:srgbClr val="ADBBD2"/>
                </a:solidFill>
                <a:latin typeface="Arial"/>
                <a:ea typeface="Arial"/>
                <a:cs typeface="Arial"/>
              </a:defRPr>
            </a:pPr>
            <a:r>
              <a:rPr sz="1425" b="0">
                <a:solidFill>
                  <a:srgbClr val="ADBBD2"/>
                </a:solidFill>
                <a:latin typeface="Arial"/>
                <a:ea typeface="Arial"/>
                <a:cs typeface="Arial"/>
              </a:rPr>
              <a:t>01</a:t>
            </a:r>
          </a:p>
        </p:txBody>
      </p:sp>
      <p:sp>
        <p:nvSpPr>
          <p:cNvPr id="3" name="BUSINESS MANAGEMENT + FINANCE">
            <a:extLst xmlns:a="http://schemas.openxmlformats.org/drawingml/2006/main">
              <a:ext uri="{FF2B5EF4-FFF2-40B4-BE49-F238E27FC236}">
                <a16:creationId xmlns:a16="http://schemas.microsoft.com/office/drawing/2014/main" id="{FBE8C313-8E8F-4A6B-9006-015D07C634F3}"/>
              </a:ext>
            </a:extLst>
          </p:cNvPr>
          <p:cNvSpPr>
            <a:spLocks xmlns:a="http://schemas.openxmlformats.org/drawingml/2006/main" noGrp="1"/>
          </p:cNvSpPr>
          <p:nvPr/>
        </p:nvSpPr>
        <p:spPr>
          <a:xfrm xmlns:a="http://schemas.openxmlformats.org/drawingml/2006/main">
            <a:off x="685800" y="1524000"/>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94B6FF"/>
                </a:solidFill>
                <a:latin typeface="Arial"/>
                <a:ea typeface="Arial"/>
                <a:cs typeface="Arial"/>
              </a:defRPr>
            </a:defPPr>
          </a:lstStyle>
          <a:p xmlns:a="http://schemas.openxmlformats.org/drawingml/2006/main">
            <a:pPr algn="l">
              <a:defRPr sz="1650" b="1">
                <a:solidFill>
                  <a:srgbClr val="94B6FF"/>
                </a:solidFill>
                <a:latin typeface="Arial"/>
                <a:ea typeface="Arial"/>
                <a:cs typeface="Arial"/>
              </a:defRPr>
            </a:pPr>
            <a:r>
              <a:rPr sz="1650" b="1">
                <a:solidFill>
                  <a:srgbClr val="94B6FF"/>
                </a:solidFill>
                <a:latin typeface="Arial"/>
                <a:ea typeface="Arial"/>
                <a:cs typeface="Arial"/>
              </a:rPr>
              <a:t>BUSINESS MANAGEMENT + FINANCE</a:t>
            </a:r>
          </a:p>
        </p:txBody>
      </p:sp>
      <p:sp>
        <p:nvSpPr>
          <p:cNvPr id="4" name="BizWizard">
            <a:extLst xmlns:a="http://schemas.openxmlformats.org/drawingml/2006/main">
              <a:ext uri="{FF2B5EF4-FFF2-40B4-BE49-F238E27FC236}">
                <a16:creationId xmlns:a16="http://schemas.microsoft.com/office/drawing/2014/main" id="{27D9CF12-303E-4D8A-822D-B3D06CB8CF9B}"/>
              </a:ext>
            </a:extLst>
          </p:cNvPr>
          <p:cNvSpPr>
            <a:spLocks xmlns:a="http://schemas.openxmlformats.org/drawingml/2006/main" noGrp="1"/>
          </p:cNvSpPr>
          <p:nvPr/>
        </p:nvSpPr>
        <p:spPr>
          <a:xfrm xmlns:a="http://schemas.openxmlformats.org/drawingml/2006/main">
            <a:off x="685800" y="2238375"/>
            <a:ext cx="657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950" b="1">
                <a:solidFill>
                  <a:srgbClr val="FFFFFF"/>
                </a:solidFill>
                <a:latin typeface="Arial"/>
                <a:ea typeface="Arial"/>
                <a:cs typeface="Arial"/>
              </a:defRPr>
            </a:defPPr>
          </a:lstStyle>
          <a:p xmlns:a="http://schemas.openxmlformats.org/drawingml/2006/main">
            <a:pPr algn="l">
              <a:defRPr sz="7950" b="1">
                <a:solidFill>
                  <a:srgbClr val="FFFFFF"/>
                </a:solidFill>
                <a:latin typeface="Arial"/>
                <a:ea typeface="Arial"/>
                <a:cs typeface="Arial"/>
              </a:defRPr>
            </a:pPr>
            <a:r>
              <a:rPr sz="7950" b="1">
                <a:solidFill>
                  <a:srgbClr val="FFFFFF"/>
                </a:solidFill>
                <a:latin typeface="Arial"/>
                <a:ea typeface="Arial"/>
                <a:cs typeface="Arial"/>
              </a:rPr>
              <a:t>BizWizard</a:t>
            </a:r>
          </a:p>
        </p:txBody>
      </p:sp>
      <p:sp>
        <p:nvSpPr>
          <p:cNvPr id="5" name="Business management with financial guidance">
            <a:extLst xmlns:a="http://schemas.openxmlformats.org/drawingml/2006/main">
              <a:ext uri="{FF2B5EF4-FFF2-40B4-BE49-F238E27FC236}">
                <a16:creationId xmlns:a16="http://schemas.microsoft.com/office/drawing/2014/main" id="{706EB28E-F7EE-4FCD-9D43-C7086E4DA936}"/>
              </a:ext>
            </a:extLst>
          </p:cNvPr>
          <p:cNvSpPr>
            <a:spLocks xmlns:a="http://schemas.openxmlformats.org/drawingml/2006/main" noGrp="1"/>
          </p:cNvSpPr>
          <p:nvPr/>
        </p:nvSpPr>
        <p:spPr>
          <a:xfrm xmlns:a="http://schemas.openxmlformats.org/drawingml/2006/main">
            <a:off x="685800" y="3667125"/>
            <a:ext cx="6381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FFFFFF"/>
                </a:solidFill>
                <a:latin typeface="Arial"/>
                <a:ea typeface="Arial"/>
                <a:cs typeface="Arial"/>
              </a:defRPr>
            </a:defPPr>
          </a:lstStyle>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Business management</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with financial guidance</a:t>
            </a:r>
          </a:p>
        </p:txBody>
      </p:sp>
      <p:sp>
        <p:nvSpPr>
          <p:cNvPr id="6" name="Run the shop. Use its records to make financial decisions.">
            <a:extLst xmlns:a="http://schemas.openxmlformats.org/drawingml/2006/main">
              <a:ext uri="{FF2B5EF4-FFF2-40B4-BE49-F238E27FC236}">
                <a16:creationId xmlns:a16="http://schemas.microsoft.com/office/drawing/2014/main" id="{7D1B1E4B-5A08-4F78-980A-0E38949F0A93}"/>
              </a:ext>
            </a:extLst>
          </p:cNvPr>
          <p:cNvSpPr>
            <a:spLocks xmlns:a="http://schemas.openxmlformats.org/drawingml/2006/main" noGrp="1"/>
          </p:cNvSpPr>
          <p:nvPr/>
        </p:nvSpPr>
        <p:spPr>
          <a:xfrm xmlns:a="http://schemas.openxmlformats.org/drawingml/2006/main">
            <a:off x="723900" y="5429250"/>
            <a:ext cx="619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ADBBD2"/>
                </a:solidFill>
                <a:latin typeface="Arial"/>
                <a:ea typeface="Arial"/>
                <a:cs typeface="Arial"/>
              </a:defRPr>
            </a:defPPr>
          </a:lstStyle>
          <a:p xmlns:a="http://schemas.openxmlformats.org/drawingml/2006/main">
            <a:pPr algn="l">
              <a:defRPr sz="2175" b="0">
                <a:solidFill>
                  <a:srgbClr val="ADBBD2"/>
                </a:solidFill>
                <a:latin typeface="Arial"/>
                <a:ea typeface="Arial"/>
                <a:cs typeface="Arial"/>
              </a:defRPr>
            </a:pPr>
            <a:r>
              <a:rPr sz="2175" b="0">
                <a:solidFill>
                  <a:srgbClr val="ADBBD2"/>
                </a:solidFill>
                <a:latin typeface="Arial"/>
                <a:ea typeface="Arial"/>
                <a:cs typeface="Arial"/>
              </a:rPr>
              <a:t>Run the shop. Use its records</a:t>
            </a:r>
          </a:p>
          <a:p xmlns:a="http://schemas.openxmlformats.org/drawingml/2006/main">
            <a:pPr algn="l">
              <a:defRPr sz="2175" b="0">
                <a:solidFill>
                  <a:srgbClr val="ADBBD2"/>
                </a:solidFill>
                <a:latin typeface="Arial"/>
                <a:ea typeface="Arial"/>
                <a:cs typeface="Arial"/>
              </a:defRPr>
            </a:pPr>
            <a:r>
              <a:rPr sz="2175" b="0">
                <a:solidFill>
                  <a:srgbClr val="ADBBD2"/>
                </a:solidFill>
                <a:latin typeface="Arial"/>
                <a:ea typeface="Arial"/>
                <a:cs typeface="Arial"/>
              </a:rPr>
              <a:t>to make financial decisions.</a:t>
            </a:r>
          </a:p>
        </p:txBody>
      </p:sp>
      <p:pic>
        <p:nvPicPr>
          <p:cNvPr id="7" name="">
            <a:extLst xmlns:a="http://schemas.openxmlformats.org/drawingml/2006/main">
              <a:ext uri="{FF2B5EF4-FFF2-40B4-BE49-F238E27FC236}">
                <a16:creationId xmlns:a16="http://schemas.microsoft.com/office/drawing/2014/main" id="{91CFCAE0-A6AB-4CFD-A61C-6E98B97933AF}"/>
              </a:ext>
            </a:extLst>
          </p:cNvPr>
          <p:cNvPicPr>
            <a:picLocks xmlns:a="http://schemas.openxmlformats.org/drawingml/2006/main" noChangeAspect="1"/>
          </p:cNvPicPr>
          <p:nvPr/>
        </p:nvPicPr>
        <p:blipFill>
          <a:blip xmlns:r="http://schemas.openxmlformats.org/officeDocument/2006/relationships" xmlns:a="http://schemas.openxmlformats.org/drawingml/2006/main" r:embed="R4012556549cf4fb6"/>
          <a:stretch xmlns:a="http://schemas.openxmlformats.org/drawingml/2006/main"/>
        </p:blipFill>
        <p:spPr>
          <a:xfrm xmlns:a="http://schemas.openxmlformats.org/drawingml/2006/main">
            <a:off x="7574563" y="1790700"/>
            <a:ext cx="6977449" cy="4610100"/>
          </a:xfrm>
          <a:prstGeom xmlns:a="http://schemas.openxmlformats.org/drawingml/2006/main" prst="rect">
            <a:avLst/>
          </a:prstGeom>
        </p:spPr>
      </p:pic>
      <p:sp>
        <p:nvSpPr>
          <p:cNvPr id="8" name="Current product UI with illustrative demo data">
            <a:extLst xmlns:a="http://schemas.openxmlformats.org/drawingml/2006/main">
              <a:ext uri="{FF2B5EF4-FFF2-40B4-BE49-F238E27FC236}">
                <a16:creationId xmlns:a16="http://schemas.microsoft.com/office/drawing/2014/main" id="{29924D79-E5EB-4431-B8BB-8DAA46B5CF7F}"/>
              </a:ext>
            </a:extLst>
          </p:cNvPr>
          <p:cNvSpPr>
            <a:spLocks xmlns:a="http://schemas.openxmlformats.org/drawingml/2006/main" noGrp="1"/>
          </p:cNvSpPr>
          <p:nvPr/>
        </p:nvSpPr>
        <p:spPr>
          <a:xfrm xmlns:a="http://schemas.openxmlformats.org/drawingml/2006/main">
            <a:off x="7572375" y="6638925"/>
            <a:ext cx="695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ADBBD2"/>
                </a:solidFill>
                <a:latin typeface="Arial"/>
                <a:ea typeface="Arial"/>
                <a:cs typeface="Arial"/>
              </a:defRPr>
            </a:defPPr>
          </a:lstStyle>
          <a:p xmlns:a="http://schemas.openxmlformats.org/drawingml/2006/main">
            <a:pPr algn="l">
              <a:defRPr sz="1425" b="0">
                <a:solidFill>
                  <a:srgbClr val="ADBBD2"/>
                </a:solidFill>
                <a:latin typeface="Arial"/>
                <a:ea typeface="Arial"/>
                <a:cs typeface="Arial"/>
              </a:defRPr>
            </a:pPr>
            <a:r>
              <a:rPr sz="1425" b="0">
                <a:solidFill>
                  <a:srgbClr val="ADBBD2"/>
                </a:solidFill>
                <a:latin typeface="Arial"/>
                <a:ea typeface="Arial"/>
                <a:cs typeface="Arial"/>
              </a:rPr>
              <a:t>Current product UI with illustrative demo data</a:t>
            </a:r>
          </a:p>
        </p:txBody>
      </p:sp>
      <p:sp>
        <p:nvSpPr>
          <p:cNvPr id="9" name="BongoForge">
            <a:extLst xmlns:a="http://schemas.openxmlformats.org/drawingml/2006/main">
              <a:ext uri="{FF2B5EF4-FFF2-40B4-BE49-F238E27FC236}">
                <a16:creationId xmlns:a16="http://schemas.microsoft.com/office/drawing/2014/main" id="{F8852C23-5804-45B8-B35C-63870F1C376C}"/>
              </a:ext>
            </a:extLst>
          </p:cNvPr>
          <p:cNvSpPr>
            <a:spLocks xmlns:a="http://schemas.openxmlformats.org/drawingml/2006/main" noGrp="1"/>
          </p:cNvSpPr>
          <p:nvPr/>
        </p:nvSpPr>
        <p:spPr>
          <a:xfrm xmlns:a="http://schemas.openxmlformats.org/drawingml/2006/main">
            <a:off x="723900" y="7029450"/>
            <a:ext cx="638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Arial"/>
                <a:ea typeface="Arial"/>
                <a:cs typeface="Arial"/>
              </a:defRPr>
            </a:defPPr>
          </a:lstStyle>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BongoForge</a:t>
            </a:r>
          </a:p>
        </p:txBody>
      </p:sp>
      <p:sp>
        <p:nvSpPr>
          <p:cNvPr id="10" name="Sadman Sakib / Mahfuz Saim / Sunan Rabbi">
            <a:extLst xmlns:a="http://schemas.openxmlformats.org/drawingml/2006/main">
              <a:ext uri="{FF2B5EF4-FFF2-40B4-BE49-F238E27FC236}">
                <a16:creationId xmlns:a16="http://schemas.microsoft.com/office/drawing/2014/main" id="{2A121490-E21C-483D-8C07-C1003CF9A9F4}"/>
              </a:ext>
            </a:extLst>
          </p:cNvPr>
          <p:cNvSpPr>
            <a:spLocks xmlns:a="http://schemas.openxmlformats.org/drawingml/2006/main" noGrp="1"/>
          </p:cNvSpPr>
          <p:nvPr/>
        </p:nvSpPr>
        <p:spPr>
          <a:xfrm xmlns:a="http://schemas.openxmlformats.org/drawingml/2006/main">
            <a:off x="723900" y="7419975"/>
            <a:ext cx="13811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FFFFF"/>
                </a:solidFill>
                <a:latin typeface="Arial"/>
                <a:ea typeface="Arial"/>
                <a:cs typeface="Arial"/>
              </a:defRPr>
            </a:defPPr>
          </a:lstStyle>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Sadman Sakib  /  Mahfuz Saim  /  Sunan Rabbi</a:t>
            </a:r>
          </a:p>
        </p:txBody>
      </p:sp>
      <p:sp>
        <p:nvSpPr>
          <p:cNvPr id="11" name="Rajshahi University of Engineering &amp; Technology (RUET)">
            <a:extLst xmlns:a="http://schemas.openxmlformats.org/drawingml/2006/main">
              <a:ext uri="{FF2B5EF4-FFF2-40B4-BE49-F238E27FC236}">
                <a16:creationId xmlns:a16="http://schemas.microsoft.com/office/drawing/2014/main" id="{DC0431A5-BEA6-421B-A734-BCFB8D6E36AA}"/>
              </a:ext>
            </a:extLst>
          </p:cNvPr>
          <p:cNvSpPr>
            <a:spLocks xmlns:a="http://schemas.openxmlformats.org/drawingml/2006/main" noGrp="1"/>
          </p:cNvSpPr>
          <p:nvPr/>
        </p:nvSpPr>
        <p:spPr>
          <a:xfrm xmlns:a="http://schemas.openxmlformats.org/drawingml/2006/main">
            <a:off x="723900" y="7810500"/>
            <a:ext cx="1381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ADBBD2"/>
                </a:solidFill>
                <a:latin typeface="Arial"/>
                <a:ea typeface="Arial"/>
                <a:cs typeface="Arial"/>
              </a:defRPr>
            </a:defPPr>
          </a:lstStyle>
          <a:p xmlns:a="http://schemas.openxmlformats.org/drawingml/2006/main">
            <a:pPr algn="l">
              <a:defRPr sz="1725" b="0">
                <a:solidFill>
                  <a:srgbClr val="ADBBD2"/>
                </a:solidFill>
                <a:latin typeface="Arial"/>
                <a:ea typeface="Arial"/>
                <a:cs typeface="Arial"/>
              </a:defRPr>
            </a:pPr>
            <a:r>
              <a:rPr sz="1725" b="0">
                <a:solidFill>
                  <a:srgbClr val="ADBBD2"/>
                </a:solidFill>
                <a:latin typeface="Arial"/>
                <a:ea typeface="Arial"/>
                <a:cs typeface="Arial"/>
              </a:rPr>
              <a:t>Rajshahi University of Engineering &amp; Technology (RUET)</a:t>
            </a:r>
          </a:p>
        </p:txBody>
      </p:sp>
      <p:sp>
        <p:nvSpPr>
          <p:cNvPr id="12" name="Bangladesh">
            <a:extLst xmlns:a="http://schemas.openxmlformats.org/drawingml/2006/main">
              <a:ext uri="{FF2B5EF4-FFF2-40B4-BE49-F238E27FC236}">
                <a16:creationId xmlns:a16="http://schemas.microsoft.com/office/drawing/2014/main" id="{74452376-3D87-45DD-ACA4-403174E541E6}"/>
              </a:ext>
            </a:extLst>
          </p:cNvPr>
          <p:cNvSpPr>
            <a:spLocks xmlns:a="http://schemas.openxmlformats.org/drawingml/2006/main" noGrp="1"/>
          </p:cNvSpPr>
          <p:nvPr/>
        </p:nvSpPr>
        <p:spPr>
          <a:xfrm xmlns:a="http://schemas.openxmlformats.org/drawingml/2006/main">
            <a:off x="723900" y="8153400"/>
            <a:ext cx="1381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ADBBD2"/>
                </a:solidFill>
                <a:latin typeface="Arial"/>
                <a:ea typeface="Arial"/>
                <a:cs typeface="Arial"/>
              </a:defRPr>
            </a:defPPr>
          </a:lstStyle>
          <a:p xmlns:a="http://schemas.openxmlformats.org/drawingml/2006/main">
            <a:pPr algn="l">
              <a:defRPr sz="1575" b="0">
                <a:solidFill>
                  <a:srgbClr val="ADBBD2"/>
                </a:solidFill>
                <a:latin typeface="Arial"/>
                <a:ea typeface="Arial"/>
                <a:cs typeface="Arial"/>
              </a:defRPr>
            </a:pPr>
            <a:r>
              <a:rPr sz="1575" b="0">
                <a:solidFill>
                  <a:srgbClr val="ADBBD2"/>
                </a:solidFill>
                <a:latin typeface="Arial"/>
                <a:ea typeface="Arial"/>
                <a:cs typeface="Arial"/>
              </a:rPr>
              <a:t>Bangladesh</a:t>
            </a:r>
          </a:p>
        </p:txBody>
      </p:sp>
      <p:sp>
        <p:nvSpPr>
          <p:cNvPr id="13" name="2026 FinTechathon International Track">
            <a:extLst xmlns:a="http://schemas.openxmlformats.org/drawingml/2006/main">
              <a:ext uri="{FF2B5EF4-FFF2-40B4-BE49-F238E27FC236}">
                <a16:creationId xmlns:a16="http://schemas.microsoft.com/office/drawing/2014/main" id="{6F1537BB-9406-4E73-BB65-3B3E8A77450E}"/>
              </a:ext>
            </a:extLst>
          </p:cNvPr>
          <p:cNvSpPr>
            <a:spLocks xmlns:a="http://schemas.openxmlformats.org/drawingml/2006/main" noGrp="1"/>
          </p:cNvSpPr>
          <p:nvPr/>
        </p:nvSpPr>
        <p:spPr>
          <a:xfrm xmlns:a="http://schemas.openxmlformats.org/drawingml/2006/main">
            <a:off x="7572375" y="7162800"/>
            <a:ext cx="69818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ADBBD2"/>
                </a:solidFill>
                <a:latin typeface="Arial"/>
                <a:ea typeface="Arial"/>
                <a:cs typeface="Arial"/>
              </a:defRPr>
            </a:defPPr>
          </a:lstStyle>
          <a:p xmlns:a="http://schemas.openxmlformats.org/drawingml/2006/main">
            <a:pPr algn="l">
              <a:defRPr sz="1575" b="0">
                <a:solidFill>
                  <a:srgbClr val="ADBBD2"/>
                </a:solidFill>
                <a:latin typeface="Arial"/>
                <a:ea typeface="Arial"/>
                <a:cs typeface="Arial"/>
              </a:defRPr>
            </a:pPr>
            <a:r>
              <a:rPr sz="1575" b="0">
                <a:solidFill>
                  <a:srgbClr val="ADBBD2"/>
                </a:solidFill>
                <a:latin typeface="Arial"/>
                <a:ea typeface="Arial"/>
                <a:cs typeface="Arial"/>
              </a:rPr>
              <a:t>2026 FinTechathon International Track</a:t>
            </a:r>
          </a:p>
        </p:txBody>
      </p:sp>
    </p:spTree>
    <p:extLst>
      <p:ext uri="{BB962C8B-B14F-4D97-AF65-F5344CB8AC3E}">
        <p14:creationId xmlns:p14="http://schemas.microsoft.com/office/powerpoint/2010/main" val="1114334479"/>
      </p:ext>
    </p:extLst>
  </p:cSld>
</p:sld>
</file>

<file path=ppt/slides/slide2.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11878BCE-E420-4B7E-8338-65F031610B25}"/>
              </a:ext>
            </a:extLst>
          </p:cNvPr>
          <p:cNvCxnSpPr>
            <a:stCxn xmlns:a="http://schemas.openxmlformats.org/drawingml/2006/main" id="8" idx="3"/>
            <a:endCxn xmlns:a="http://schemas.openxmlformats.org/drawingml/2006/main" id="11" idx="1"/>
          </p:cNvCxnSpPr>
          <p:nvPr/>
        </p:nvCxnSpPr>
        <p:spPr>
          <a:xfrm xmlns:a="http://schemas.openxmlformats.org/drawingml/2006/main">
            <a:off x="7286625" y="4210050"/>
            <a:ext cx="657225" cy="0"/>
          </a:xfrm>
          <a:prstGeom xmlns:a="http://schemas.openxmlformats.org/drawingml/2006/main" prst="straightConnector1">
            <a:avLst/>
          </a:prstGeom>
          <a:ln xmlns:a="http://schemas.openxmlformats.org/drawingml/2006/main" w="23813">
            <a:solidFill>
              <a:srgbClr val="2463EB"/>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F6795FB9-F704-41F3-AACF-F5283858122F}"/>
              </a:ext>
            </a:extLst>
          </p:cNvPr>
          <p:cNvCxnSpPr>
            <a:stCxn xmlns:a="http://schemas.openxmlformats.org/drawingml/2006/main" id="5" idx="3"/>
            <a:endCxn xmlns:a="http://schemas.openxmlformats.org/drawingml/2006/main" id="8" idx="1"/>
          </p:cNvCxnSpPr>
          <p:nvPr/>
        </p:nvCxnSpPr>
        <p:spPr>
          <a:xfrm xmlns:a="http://schemas.openxmlformats.org/drawingml/2006/main">
            <a:off x="3676650" y="4210050"/>
            <a:ext cx="657225" cy="0"/>
          </a:xfrm>
          <a:prstGeom xmlns:a="http://schemas.openxmlformats.org/drawingml/2006/main" prst="straightConnector1">
            <a:avLst/>
          </a:prstGeom>
          <a:ln xmlns:a="http://schemas.openxmlformats.org/drawingml/2006/main" w="23813">
            <a:solidFill>
              <a:srgbClr val="2463EB"/>
            </a:solidFill>
            <a:prstDash val="solid"/>
            <a:tailEnd type="triangle" w="sm" len="sm"/>
          </a:ln>
        </p:spPr>
      </p:cxnSp>
      <p:sp>
        <p:nvSpPr>
          <p:cNvPr id="21" name="BizWizard">
            <a:extLst xmlns:a="http://schemas.openxmlformats.org/drawingml/2006/main">
              <a:ext uri="{FF2B5EF4-FFF2-40B4-BE49-F238E27FC236}">
                <a16:creationId xmlns:a16="http://schemas.microsoft.com/office/drawing/2014/main" id="{854BEC73-0D2F-4FAE-A337-F6F28614A686}"/>
              </a:ext>
            </a:extLst>
          </p:cNvPr>
          <p:cNvSpPr>
            <a:spLocks xmlns:a="http://schemas.openxmlformats.org/drawingml/2006/main" noGrp="1"/>
          </p:cNvSpPr>
          <p:nvPr/>
        </p:nvSpPr>
        <p:spPr>
          <a:xfrm xmlns:a="http://schemas.openxmlformats.org/drawingml/2006/main">
            <a:off x="685800" y="3238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01F3C"/>
                </a:solidFill>
                <a:latin typeface="Arial"/>
                <a:ea typeface="Arial"/>
                <a:cs typeface="Arial"/>
              </a:defRPr>
            </a:defPPr>
          </a:lstStyle>
          <a:p xmlns:a="http://schemas.openxmlformats.org/drawingml/2006/main">
            <a:pPr algn="l">
              <a:defRPr sz="1575" b="1">
                <a:solidFill>
                  <a:srgbClr val="101F3C"/>
                </a:solidFill>
                <a:latin typeface="Arial"/>
                <a:ea typeface="Arial"/>
                <a:cs typeface="Arial"/>
              </a:defRPr>
            </a:pPr>
            <a:r>
              <a:rPr sz="1575" b="1">
                <a:solidFill>
                  <a:srgbClr val="101F3C"/>
                </a:solidFill>
                <a:latin typeface="Arial"/>
                <a:ea typeface="Arial"/>
                <a:cs typeface="Arial"/>
              </a:rPr>
              <a:t>BizWizard</a:t>
            </a:r>
          </a:p>
        </p:txBody>
      </p:sp>
      <p:sp>
        <p:nvSpPr>
          <p:cNvPr id="2" name="02">
            <a:extLst xmlns:a="http://schemas.openxmlformats.org/drawingml/2006/main">
              <a:ext uri="{FF2B5EF4-FFF2-40B4-BE49-F238E27FC236}">
                <a16:creationId xmlns:a16="http://schemas.microsoft.com/office/drawing/2014/main" id="{2606CE89-F215-47F7-85FD-1DD5FD722535}"/>
              </a:ext>
            </a:extLst>
          </p:cNvPr>
          <p:cNvSpPr>
            <a:spLocks xmlns:a="http://schemas.openxmlformats.org/drawingml/2006/main" noGrp="1"/>
          </p:cNvSpPr>
          <p:nvPr/>
        </p:nvSpPr>
        <p:spPr>
          <a:xfrm xmlns:a="http://schemas.openxmlformats.org/drawingml/2006/main">
            <a:off x="12573000" y="323850"/>
            <a:ext cx="198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37089"/>
                </a:solidFill>
                <a:latin typeface="Arial"/>
                <a:ea typeface="Arial"/>
                <a:cs typeface="Arial"/>
              </a:defRPr>
            </a:defPPr>
          </a:lstStyle>
          <a:p xmlns:a="http://schemas.openxmlformats.org/drawingml/2006/main">
            <a:pPr algn="r">
              <a:defRPr sz="1425" b="0">
                <a:solidFill>
                  <a:srgbClr val="637089"/>
                </a:solidFill>
                <a:latin typeface="Arial"/>
                <a:ea typeface="Arial"/>
                <a:cs typeface="Arial"/>
              </a:defRPr>
            </a:pPr>
            <a:r>
              <a:rPr sz="1425" b="0">
                <a:solidFill>
                  <a:srgbClr val="637089"/>
                </a:solidFill>
                <a:latin typeface="Arial"/>
                <a:ea typeface="Arial"/>
                <a:cs typeface="Arial"/>
              </a:rPr>
              <a:t>02</a:t>
            </a:r>
          </a:p>
        </p:txBody>
      </p:sp>
      <p:sp>
        <p:nvSpPr>
          <p:cNvPr id="3" name="Slide heading">
            <a:extLst xmlns:a="http://schemas.openxmlformats.org/drawingml/2006/main">
              <a:ext uri="{FF2B5EF4-FFF2-40B4-BE49-F238E27FC236}">
                <a16:creationId xmlns:a16="http://schemas.microsoft.com/office/drawing/2014/main" id="{4B3F2401-DDC1-49F5-AFC0-09C174889EB2}"/>
              </a:ext>
            </a:extLst>
          </p:cNvPr>
          <p:cNvSpPr>
            <a:spLocks xmlns:a="http://schemas.openxmlformats.org/drawingml/2006/main" noGrp="1"/>
          </p:cNvSpPr>
          <p:nvPr/>
        </p:nvSpPr>
        <p:spPr>
          <a:xfrm xmlns:a="http://schemas.openxmlformats.org/drawingml/2006/main">
            <a:off x="685800" y="1000125"/>
            <a:ext cx="138684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13243F"/>
                </a:solidFill>
                <a:latin typeface="Arial"/>
                <a:ea typeface="Arial"/>
                <a:cs typeface="Arial"/>
              </a:defRPr>
            </a:defPPr>
          </a:lstStyle>
          <a:p xmlns:a="http://schemas.openxmlformats.org/drawingml/2006/main">
            <a:pPr algn="l">
              <a:defRPr sz="4500" b="1">
                <a:solidFill>
                  <a:srgbClr val="13243F"/>
                </a:solidFill>
                <a:latin typeface="Arial"/>
                <a:ea typeface="Arial"/>
                <a:cs typeface="Arial"/>
              </a:defRPr>
            </a:pPr>
            <a:r>
              <a:rPr sz="4500" b="1">
                <a:solidFill>
                  <a:srgbClr val="13243F"/>
                </a:solidFill>
                <a:latin typeface="Arial"/>
                <a:ea typeface="Arial"/>
                <a:cs typeface="Arial"/>
              </a:rPr>
              <a:t>A busy shop can still run short of cash</a:t>
            </a:r>
          </a:p>
        </p:txBody>
      </p:sp>
      <p:sp>
        <p:nvSpPr>
          <p:cNvPr id="4" name="An illustrative owner scenario">
            <a:extLst xmlns:a="http://schemas.openxmlformats.org/drawingml/2006/main">
              <a:ext uri="{FF2B5EF4-FFF2-40B4-BE49-F238E27FC236}">
                <a16:creationId xmlns:a16="http://schemas.microsoft.com/office/drawing/2014/main" id="{6F5D45E0-F713-416B-9D49-1944EF69C5E3}"/>
              </a:ext>
            </a:extLst>
          </p:cNvPr>
          <p:cNvSpPr>
            <a:spLocks xmlns:a="http://schemas.openxmlformats.org/drawingml/2006/main" noGrp="1"/>
          </p:cNvSpPr>
          <p:nvPr/>
        </p:nvSpPr>
        <p:spPr>
          <a:xfrm xmlns:a="http://schemas.openxmlformats.org/drawingml/2006/main">
            <a:off x="723900" y="2266950"/>
            <a:ext cx="1238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637089"/>
                </a:solidFill>
                <a:latin typeface="Arial"/>
                <a:ea typeface="Arial"/>
                <a:cs typeface="Arial"/>
              </a:defRPr>
            </a:defPPr>
          </a:lstStyle>
          <a:p xmlns:a="http://schemas.openxmlformats.org/drawingml/2006/main">
            <a:pPr algn="l">
              <a:defRPr sz="2025" b="0">
                <a:solidFill>
                  <a:srgbClr val="637089"/>
                </a:solidFill>
                <a:latin typeface="Arial"/>
                <a:ea typeface="Arial"/>
                <a:cs typeface="Arial"/>
              </a:defRPr>
            </a:pPr>
            <a:r>
              <a:rPr sz="2025" b="0">
                <a:solidFill>
                  <a:srgbClr val="637089"/>
                </a:solidFill>
                <a:latin typeface="Arial"/>
                <a:ea typeface="Arial"/>
                <a:cs typeface="Arial"/>
              </a:rPr>
              <a:t>An illustrative owner scenario</a:t>
            </a:r>
          </a:p>
        </p:txBody>
      </p:sp>
      <p:sp>
        <p:nvSpPr>
          <p:cNvPr id="5" name="Stock on the shelf">
            <a:extLst xmlns:a="http://schemas.openxmlformats.org/drawingml/2006/main">
              <a:ext uri="{FF2B5EF4-FFF2-40B4-BE49-F238E27FC236}">
                <a16:creationId xmlns:a16="http://schemas.microsoft.com/office/drawing/2014/main" id="{E4A957C9-C9CF-48C6-A341-7527152AC712}"/>
              </a:ext>
            </a:extLst>
          </p:cNvPr>
          <p:cNvSpPr>
            <a:spLocks xmlns:a="http://schemas.openxmlformats.org/drawingml/2006/main" noGrp="1"/>
          </p:cNvSpPr>
          <p:nvPr/>
        </p:nvSpPr>
        <p:spPr>
          <a:xfrm xmlns:a="http://schemas.openxmlformats.org/drawingml/2006/main">
            <a:off x="723900" y="3352800"/>
            <a:ext cx="2952750" cy="1714500"/>
          </a:xfrm>
          <a:prstGeom xmlns:a="http://schemas.openxmlformats.org/drawingml/2006/main" prst="rect">
            <a:avLst/>
          </a:prstGeom>
          <a:solidFill xmlns:a="http://schemas.openxmlformats.org/drawingml/2006/main">
            <a:srgbClr val="FFFFFF"/>
          </a:solidFill>
          <a:ln xmlns:a="http://schemas.openxmlformats.org/drawingml/2006/main" w="14288">
            <a:solidFill>
              <a:srgbClr val="D8E0ED"/>
            </a:solidFill>
          </a:ln>
        </p:spPr>
      </p:sp>
      <p:sp>
        <p:nvSpPr>
          <p:cNvPr id="6" name="Stock on the shelf">
            <a:extLst xmlns:a="http://schemas.openxmlformats.org/drawingml/2006/main">
              <a:ext uri="{FF2B5EF4-FFF2-40B4-BE49-F238E27FC236}">
                <a16:creationId xmlns:a16="http://schemas.microsoft.com/office/drawing/2014/main" id="{ED29C7D7-5869-4EE6-9312-9E71EE29D3AA}"/>
              </a:ext>
            </a:extLst>
          </p:cNvPr>
          <p:cNvSpPr>
            <a:spLocks xmlns:a="http://schemas.openxmlformats.org/drawingml/2006/main" noGrp="1"/>
          </p:cNvSpPr>
          <p:nvPr/>
        </p:nvSpPr>
        <p:spPr>
          <a:xfrm xmlns:a="http://schemas.openxmlformats.org/drawingml/2006/main">
            <a:off x="933450" y="3543300"/>
            <a:ext cx="2533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3243F"/>
                </a:solidFill>
                <a:latin typeface="Arial"/>
                <a:ea typeface="Arial"/>
                <a:cs typeface="Arial"/>
              </a:defRPr>
            </a:defPPr>
          </a:lstStyle>
          <a:p xmlns:a="http://schemas.openxmlformats.org/drawingml/2006/main">
            <a:pPr algn="l">
              <a:defRPr sz="1950" b="1">
                <a:solidFill>
                  <a:srgbClr val="13243F"/>
                </a:solidFill>
                <a:latin typeface="Arial"/>
                <a:ea typeface="Arial"/>
                <a:cs typeface="Arial"/>
              </a:defRPr>
            </a:pPr>
            <a:r>
              <a:rPr sz="1950" b="1">
                <a:solidFill>
                  <a:srgbClr val="13243F"/>
                </a:solidFill>
                <a:latin typeface="Arial"/>
                <a:ea typeface="Arial"/>
                <a:cs typeface="Arial"/>
              </a:rPr>
              <a:t>Stock on the shelf</a:t>
            </a:r>
          </a:p>
        </p:txBody>
      </p:sp>
      <p:sp>
        <p:nvSpPr>
          <p:cNvPr id="7" name="Cash has already paid for inventory">
            <a:extLst xmlns:a="http://schemas.openxmlformats.org/drawingml/2006/main">
              <a:ext uri="{FF2B5EF4-FFF2-40B4-BE49-F238E27FC236}">
                <a16:creationId xmlns:a16="http://schemas.microsoft.com/office/drawing/2014/main" id="{26DE0CAA-21D5-4C24-9D4B-736AD4E89EEE}"/>
              </a:ext>
            </a:extLst>
          </p:cNvPr>
          <p:cNvSpPr>
            <a:spLocks xmlns:a="http://schemas.openxmlformats.org/drawingml/2006/main" noGrp="1"/>
          </p:cNvSpPr>
          <p:nvPr/>
        </p:nvSpPr>
        <p:spPr>
          <a:xfrm xmlns:a="http://schemas.openxmlformats.org/drawingml/2006/main">
            <a:off x="933450" y="4171950"/>
            <a:ext cx="2533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37089"/>
                </a:solidFill>
                <a:latin typeface="Arial"/>
                <a:ea typeface="Arial"/>
                <a:cs typeface="Arial"/>
              </a:defRPr>
            </a:defPPr>
          </a:lstStyle>
          <a:p xmlns:a="http://schemas.openxmlformats.org/drawingml/2006/main">
            <a:pPr algn="l">
              <a:defRPr sz="1650" b="0">
                <a:solidFill>
                  <a:srgbClr val="637089"/>
                </a:solidFill>
                <a:latin typeface="Arial"/>
                <a:ea typeface="Arial"/>
                <a:cs typeface="Arial"/>
              </a:defRPr>
            </a:pPr>
            <a:r>
              <a:rPr sz="1650" b="0">
                <a:solidFill>
                  <a:srgbClr val="637089"/>
                </a:solidFill>
                <a:latin typeface="Arial"/>
                <a:ea typeface="Arial"/>
                <a:cs typeface="Arial"/>
              </a:rPr>
              <a:t>Cash has already</a:t>
            </a:r>
          </a:p>
          <a:p xmlns:a="http://schemas.openxmlformats.org/drawingml/2006/main">
            <a:pPr algn="l">
              <a:defRPr sz="1650" b="0">
                <a:solidFill>
                  <a:srgbClr val="637089"/>
                </a:solidFill>
                <a:latin typeface="Arial"/>
                <a:ea typeface="Arial"/>
                <a:cs typeface="Arial"/>
              </a:defRPr>
            </a:pPr>
            <a:r>
              <a:rPr sz="1650" b="0">
                <a:solidFill>
                  <a:srgbClr val="637089"/>
                </a:solidFill>
                <a:latin typeface="Arial"/>
                <a:ea typeface="Arial"/>
                <a:cs typeface="Arial"/>
              </a:rPr>
              <a:t>paid for inventory</a:t>
            </a:r>
          </a:p>
        </p:txBody>
      </p:sp>
      <p:sp>
        <p:nvSpPr>
          <p:cNvPr id="8" name="Sales on credit">
            <a:extLst xmlns:a="http://schemas.openxmlformats.org/drawingml/2006/main">
              <a:ext uri="{FF2B5EF4-FFF2-40B4-BE49-F238E27FC236}">
                <a16:creationId xmlns:a16="http://schemas.microsoft.com/office/drawing/2014/main" id="{A94762A2-038C-4296-A1CB-5A5AC418F9D2}"/>
              </a:ext>
            </a:extLst>
          </p:cNvPr>
          <p:cNvSpPr>
            <a:spLocks xmlns:a="http://schemas.openxmlformats.org/drawingml/2006/main" noGrp="1"/>
          </p:cNvSpPr>
          <p:nvPr/>
        </p:nvSpPr>
        <p:spPr>
          <a:xfrm xmlns:a="http://schemas.openxmlformats.org/drawingml/2006/main">
            <a:off x="4333875" y="3352800"/>
            <a:ext cx="2952750" cy="1714500"/>
          </a:xfrm>
          <a:prstGeom xmlns:a="http://schemas.openxmlformats.org/drawingml/2006/main" prst="rect">
            <a:avLst/>
          </a:prstGeom>
          <a:solidFill xmlns:a="http://schemas.openxmlformats.org/drawingml/2006/main">
            <a:srgbClr val="FFFFFF"/>
          </a:solidFill>
          <a:ln xmlns:a="http://schemas.openxmlformats.org/drawingml/2006/main" w="14288">
            <a:solidFill>
              <a:srgbClr val="D8E0ED"/>
            </a:solidFill>
          </a:ln>
        </p:spPr>
      </p:sp>
      <p:sp>
        <p:nvSpPr>
          <p:cNvPr id="9" name="Sales on credit">
            <a:extLst xmlns:a="http://schemas.openxmlformats.org/drawingml/2006/main">
              <a:ext uri="{FF2B5EF4-FFF2-40B4-BE49-F238E27FC236}">
                <a16:creationId xmlns:a16="http://schemas.microsoft.com/office/drawing/2014/main" id="{216A4712-2886-411E-9C28-CC98428CC0C4}"/>
              </a:ext>
            </a:extLst>
          </p:cNvPr>
          <p:cNvSpPr>
            <a:spLocks xmlns:a="http://schemas.openxmlformats.org/drawingml/2006/main" noGrp="1"/>
          </p:cNvSpPr>
          <p:nvPr/>
        </p:nvSpPr>
        <p:spPr>
          <a:xfrm xmlns:a="http://schemas.openxmlformats.org/drawingml/2006/main">
            <a:off x="4543425" y="3543300"/>
            <a:ext cx="2533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3243F"/>
                </a:solidFill>
                <a:latin typeface="Arial"/>
                <a:ea typeface="Arial"/>
                <a:cs typeface="Arial"/>
              </a:defRPr>
            </a:defPPr>
          </a:lstStyle>
          <a:p xmlns:a="http://schemas.openxmlformats.org/drawingml/2006/main">
            <a:pPr algn="l">
              <a:defRPr sz="1950" b="1">
                <a:solidFill>
                  <a:srgbClr val="13243F"/>
                </a:solidFill>
                <a:latin typeface="Arial"/>
                <a:ea typeface="Arial"/>
                <a:cs typeface="Arial"/>
              </a:defRPr>
            </a:pPr>
            <a:r>
              <a:rPr sz="1950" b="1">
                <a:solidFill>
                  <a:srgbClr val="13243F"/>
                </a:solidFill>
                <a:latin typeface="Arial"/>
                <a:ea typeface="Arial"/>
                <a:cs typeface="Arial"/>
              </a:rPr>
              <a:t>Sales on credit</a:t>
            </a:r>
          </a:p>
        </p:txBody>
      </p:sp>
      <p:sp>
        <p:nvSpPr>
          <p:cNvPr id="10" name="Customers still owe the shop">
            <a:extLst xmlns:a="http://schemas.openxmlformats.org/drawingml/2006/main">
              <a:ext uri="{FF2B5EF4-FFF2-40B4-BE49-F238E27FC236}">
                <a16:creationId xmlns:a16="http://schemas.microsoft.com/office/drawing/2014/main" id="{9CCAA661-EF4E-4C9C-9043-C0CCADA3363F}"/>
              </a:ext>
            </a:extLst>
          </p:cNvPr>
          <p:cNvSpPr>
            <a:spLocks xmlns:a="http://schemas.openxmlformats.org/drawingml/2006/main" noGrp="1"/>
          </p:cNvSpPr>
          <p:nvPr/>
        </p:nvSpPr>
        <p:spPr>
          <a:xfrm xmlns:a="http://schemas.openxmlformats.org/drawingml/2006/main">
            <a:off x="4543425" y="4171950"/>
            <a:ext cx="2533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37089"/>
                </a:solidFill>
                <a:latin typeface="Arial"/>
                <a:ea typeface="Arial"/>
                <a:cs typeface="Arial"/>
              </a:defRPr>
            </a:defPPr>
          </a:lstStyle>
          <a:p xmlns:a="http://schemas.openxmlformats.org/drawingml/2006/main">
            <a:pPr algn="l">
              <a:defRPr sz="1650" b="0">
                <a:solidFill>
                  <a:srgbClr val="637089"/>
                </a:solidFill>
                <a:latin typeface="Arial"/>
                <a:ea typeface="Arial"/>
                <a:cs typeface="Arial"/>
              </a:defRPr>
            </a:pPr>
            <a:r>
              <a:rPr sz="1650" b="0">
                <a:solidFill>
                  <a:srgbClr val="637089"/>
                </a:solidFill>
                <a:latin typeface="Arial"/>
                <a:ea typeface="Arial"/>
                <a:cs typeface="Arial"/>
              </a:rPr>
              <a:t>Customers still</a:t>
            </a:r>
          </a:p>
          <a:p xmlns:a="http://schemas.openxmlformats.org/drawingml/2006/main">
            <a:pPr algn="l">
              <a:defRPr sz="1650" b="0">
                <a:solidFill>
                  <a:srgbClr val="637089"/>
                </a:solidFill>
                <a:latin typeface="Arial"/>
                <a:ea typeface="Arial"/>
                <a:cs typeface="Arial"/>
              </a:defRPr>
            </a:pPr>
            <a:r>
              <a:rPr sz="1650" b="0">
                <a:solidFill>
                  <a:srgbClr val="637089"/>
                </a:solidFill>
                <a:latin typeface="Arial"/>
                <a:ea typeface="Arial"/>
                <a:cs typeface="Arial"/>
              </a:rPr>
              <a:t>owe the shop</a:t>
            </a:r>
          </a:p>
        </p:txBody>
      </p:sp>
      <p:sp>
        <p:nvSpPr>
          <p:cNvPr id="11" name="Bills approaching">
            <a:extLst xmlns:a="http://schemas.openxmlformats.org/drawingml/2006/main">
              <a:ext uri="{FF2B5EF4-FFF2-40B4-BE49-F238E27FC236}">
                <a16:creationId xmlns:a16="http://schemas.microsoft.com/office/drawing/2014/main" id="{397970B1-9184-4599-8239-EB8A2AECC420}"/>
              </a:ext>
            </a:extLst>
          </p:cNvPr>
          <p:cNvSpPr>
            <a:spLocks xmlns:a="http://schemas.openxmlformats.org/drawingml/2006/main" noGrp="1"/>
          </p:cNvSpPr>
          <p:nvPr/>
        </p:nvSpPr>
        <p:spPr>
          <a:xfrm xmlns:a="http://schemas.openxmlformats.org/drawingml/2006/main">
            <a:off x="7943850" y="3352800"/>
            <a:ext cx="2952750" cy="1714500"/>
          </a:xfrm>
          <a:prstGeom xmlns:a="http://schemas.openxmlformats.org/drawingml/2006/main" prst="rect">
            <a:avLst/>
          </a:prstGeom>
          <a:solidFill xmlns:a="http://schemas.openxmlformats.org/drawingml/2006/main">
            <a:srgbClr val="FFFFFF"/>
          </a:solidFill>
          <a:ln xmlns:a="http://schemas.openxmlformats.org/drawingml/2006/main" w="14288">
            <a:solidFill>
              <a:srgbClr val="D8E0ED"/>
            </a:solidFill>
          </a:ln>
        </p:spPr>
      </p:sp>
      <p:sp>
        <p:nvSpPr>
          <p:cNvPr id="12" name="Bills approaching">
            <a:extLst xmlns:a="http://schemas.openxmlformats.org/drawingml/2006/main">
              <a:ext uri="{FF2B5EF4-FFF2-40B4-BE49-F238E27FC236}">
                <a16:creationId xmlns:a16="http://schemas.microsoft.com/office/drawing/2014/main" id="{6EF2E204-8C28-49D5-A84F-A3677FBBA84C}"/>
              </a:ext>
            </a:extLst>
          </p:cNvPr>
          <p:cNvSpPr>
            <a:spLocks xmlns:a="http://schemas.openxmlformats.org/drawingml/2006/main" noGrp="1"/>
          </p:cNvSpPr>
          <p:nvPr/>
        </p:nvSpPr>
        <p:spPr>
          <a:xfrm xmlns:a="http://schemas.openxmlformats.org/drawingml/2006/main">
            <a:off x="8153400" y="3543300"/>
            <a:ext cx="2533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3243F"/>
                </a:solidFill>
                <a:latin typeface="Arial"/>
                <a:ea typeface="Arial"/>
                <a:cs typeface="Arial"/>
              </a:defRPr>
            </a:defPPr>
          </a:lstStyle>
          <a:p xmlns:a="http://schemas.openxmlformats.org/drawingml/2006/main">
            <a:pPr algn="l">
              <a:defRPr sz="1950" b="1">
                <a:solidFill>
                  <a:srgbClr val="13243F"/>
                </a:solidFill>
                <a:latin typeface="Arial"/>
                <a:ea typeface="Arial"/>
                <a:cs typeface="Arial"/>
              </a:defRPr>
            </a:pPr>
            <a:r>
              <a:rPr sz="1950" b="1">
                <a:solidFill>
                  <a:srgbClr val="13243F"/>
                </a:solidFill>
                <a:latin typeface="Arial"/>
                <a:ea typeface="Arial"/>
                <a:cs typeface="Arial"/>
              </a:rPr>
              <a:t>Bills approaching</a:t>
            </a:r>
          </a:p>
        </p:txBody>
      </p:sp>
      <p:sp>
        <p:nvSpPr>
          <p:cNvPr id="13" name="Rent and suppliers need payment">
            <a:extLst xmlns:a="http://schemas.openxmlformats.org/drawingml/2006/main">
              <a:ext uri="{FF2B5EF4-FFF2-40B4-BE49-F238E27FC236}">
                <a16:creationId xmlns:a16="http://schemas.microsoft.com/office/drawing/2014/main" id="{D23EEBF3-5669-45DB-9A8F-73BE16DEE057}"/>
              </a:ext>
            </a:extLst>
          </p:cNvPr>
          <p:cNvSpPr>
            <a:spLocks xmlns:a="http://schemas.openxmlformats.org/drawingml/2006/main" noGrp="1"/>
          </p:cNvSpPr>
          <p:nvPr/>
        </p:nvSpPr>
        <p:spPr>
          <a:xfrm xmlns:a="http://schemas.openxmlformats.org/drawingml/2006/main">
            <a:off x="8153400" y="4171950"/>
            <a:ext cx="2533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37089"/>
                </a:solidFill>
                <a:latin typeface="Arial"/>
                <a:ea typeface="Arial"/>
                <a:cs typeface="Arial"/>
              </a:defRPr>
            </a:defPPr>
          </a:lstStyle>
          <a:p xmlns:a="http://schemas.openxmlformats.org/drawingml/2006/main">
            <a:pPr algn="l">
              <a:defRPr sz="1650" b="0">
                <a:solidFill>
                  <a:srgbClr val="637089"/>
                </a:solidFill>
                <a:latin typeface="Arial"/>
                <a:ea typeface="Arial"/>
                <a:cs typeface="Arial"/>
              </a:defRPr>
            </a:pPr>
            <a:r>
              <a:rPr sz="1650" b="0">
                <a:solidFill>
                  <a:srgbClr val="637089"/>
                </a:solidFill>
                <a:latin typeface="Arial"/>
                <a:ea typeface="Arial"/>
                <a:cs typeface="Arial"/>
              </a:rPr>
              <a:t>Rent and suppliers</a:t>
            </a:r>
          </a:p>
          <a:p xmlns:a="http://schemas.openxmlformats.org/drawingml/2006/main">
            <a:pPr algn="l">
              <a:defRPr sz="1650" b="0">
                <a:solidFill>
                  <a:srgbClr val="637089"/>
                </a:solidFill>
                <a:latin typeface="Arial"/>
                <a:ea typeface="Arial"/>
                <a:cs typeface="Arial"/>
              </a:defRPr>
            </a:pPr>
            <a:r>
              <a:rPr sz="1650" b="0">
                <a:solidFill>
                  <a:srgbClr val="637089"/>
                </a:solidFill>
                <a:latin typeface="Arial"/>
                <a:ea typeface="Arial"/>
                <a:cs typeface="Arial"/>
              </a:rPr>
              <a:t>need payment</a:t>
            </a:r>
          </a:p>
        </p:txBody>
      </p:sp>
      <p:sp>
        <p:nvSpPr>
          <p:cNvPr id="16" name="The owner’s question">
            <a:extLst xmlns:a="http://schemas.openxmlformats.org/drawingml/2006/main">
              <a:ext uri="{FF2B5EF4-FFF2-40B4-BE49-F238E27FC236}">
                <a16:creationId xmlns:a16="http://schemas.microsoft.com/office/drawing/2014/main" id="{B885EF89-A382-4B1E-A96D-DE4778303570}"/>
              </a:ext>
            </a:extLst>
          </p:cNvPr>
          <p:cNvSpPr>
            <a:spLocks xmlns:a="http://schemas.openxmlformats.org/drawingml/2006/main" noGrp="1"/>
          </p:cNvSpPr>
          <p:nvPr/>
        </p:nvSpPr>
        <p:spPr>
          <a:xfrm xmlns:a="http://schemas.openxmlformats.org/drawingml/2006/main">
            <a:off x="11458575" y="335280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463EB"/>
                </a:solidFill>
                <a:latin typeface="Arial"/>
                <a:ea typeface="Arial"/>
                <a:cs typeface="Arial"/>
              </a:defRPr>
            </a:defPPr>
          </a:lstStyle>
          <a:p xmlns:a="http://schemas.openxmlformats.org/drawingml/2006/main">
            <a:pPr algn="l">
              <a:defRPr sz="1875" b="1">
                <a:solidFill>
                  <a:srgbClr val="2463EB"/>
                </a:solidFill>
                <a:latin typeface="Arial"/>
                <a:ea typeface="Arial"/>
                <a:cs typeface="Arial"/>
              </a:defRPr>
            </a:pPr>
            <a:r>
              <a:rPr sz="1875" b="1">
                <a:solidFill>
                  <a:srgbClr val="2463EB"/>
                </a:solidFill>
                <a:latin typeface="Arial"/>
                <a:ea typeface="Arial"/>
                <a:cs typeface="Arial"/>
              </a:rPr>
              <a:t>The owner’s question</a:t>
            </a:r>
          </a:p>
        </p:txBody>
      </p:sp>
      <p:sp>
        <p:nvSpPr>
          <p:cNvPr id="17" name="“Can I pay and restock?”">
            <a:extLst xmlns:a="http://schemas.openxmlformats.org/drawingml/2006/main">
              <a:ext uri="{FF2B5EF4-FFF2-40B4-BE49-F238E27FC236}">
                <a16:creationId xmlns:a16="http://schemas.microsoft.com/office/drawing/2014/main" id="{2ADB2FFD-A35E-4805-B203-237C641B8AF2}"/>
              </a:ext>
            </a:extLst>
          </p:cNvPr>
          <p:cNvSpPr>
            <a:spLocks xmlns:a="http://schemas.openxmlformats.org/drawingml/2006/main" noGrp="1"/>
          </p:cNvSpPr>
          <p:nvPr/>
        </p:nvSpPr>
        <p:spPr>
          <a:xfrm xmlns:a="http://schemas.openxmlformats.org/drawingml/2006/main">
            <a:off x="11458575" y="3905250"/>
            <a:ext cx="304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3243F"/>
                </a:solidFill>
                <a:latin typeface="Arial"/>
                <a:ea typeface="Arial"/>
                <a:cs typeface="Arial"/>
              </a:defRPr>
            </a:defPPr>
          </a:lstStyle>
          <a:p xmlns:a="http://schemas.openxmlformats.org/drawingml/2006/main">
            <a:pPr algn="l">
              <a:defRPr sz="2925" b="1">
                <a:solidFill>
                  <a:srgbClr val="13243F"/>
                </a:solidFill>
                <a:latin typeface="Arial"/>
                <a:ea typeface="Arial"/>
                <a:cs typeface="Arial"/>
              </a:defRPr>
            </a:pPr>
            <a:r>
              <a:rPr sz="2925" b="1">
                <a:solidFill>
                  <a:srgbClr val="13243F"/>
                </a:solidFill>
                <a:latin typeface="Arial"/>
                <a:ea typeface="Arial"/>
                <a:cs typeface="Arial"/>
              </a:rPr>
              <a:t>“Can I pay</a:t>
            </a:r>
          </a:p>
          <a:p xmlns:a="http://schemas.openxmlformats.org/drawingml/2006/main">
            <a:pPr algn="l">
              <a:defRPr sz="2925" b="1">
                <a:solidFill>
                  <a:srgbClr val="13243F"/>
                </a:solidFill>
                <a:latin typeface="Arial"/>
                <a:ea typeface="Arial"/>
                <a:cs typeface="Arial"/>
              </a:defRPr>
            </a:pPr>
            <a:r>
              <a:rPr sz="2925" b="1">
                <a:solidFill>
                  <a:srgbClr val="13243F"/>
                </a:solidFill>
                <a:latin typeface="Arial"/>
                <a:ea typeface="Arial"/>
                <a:cs typeface="Arial"/>
              </a:rPr>
              <a:t>and restock?”</a:t>
            </a:r>
          </a:p>
        </p:txBody>
      </p:sp>
      <p:sp>
        <p:nvSpPr>
          <p:cNvPr id="18" name="Section rule">
            <a:extLst xmlns:a="http://schemas.openxmlformats.org/drawingml/2006/main">
              <a:ext uri="{FF2B5EF4-FFF2-40B4-BE49-F238E27FC236}">
                <a16:creationId xmlns:a16="http://schemas.microsoft.com/office/drawing/2014/main" id="{FF527961-7BE0-4218-A0E6-C7AC39EBB415}"/>
              </a:ext>
            </a:extLst>
          </p:cNvPr>
          <p:cNvSpPr>
            <a:spLocks xmlns:a="http://schemas.openxmlformats.org/drawingml/2006/main" noGrp="1"/>
          </p:cNvSpPr>
          <p:nvPr/>
        </p:nvSpPr>
        <p:spPr>
          <a:xfrm xmlns:a="http://schemas.openxmlformats.org/drawingml/2006/main">
            <a:off x="723900" y="5829300"/>
            <a:ext cx="13792200" cy="0"/>
          </a:xfrm>
          <a:prstGeom xmlns:a="http://schemas.openxmlformats.org/drawingml/2006/main" prst="line">
            <a:avLst/>
          </a:prstGeom>
          <a:noFill xmlns:a="http://schemas.openxmlformats.org/drawingml/2006/main"/>
          <a:ln xmlns:a="http://schemas.openxmlformats.org/drawingml/2006/main" w="12383">
            <a:solidFill>
              <a:srgbClr val="D8E0ED"/>
            </a:solidFill>
          </a:ln>
        </p:spPr>
      </p:sp>
      <p:sp>
        <p:nvSpPr>
          <p:cNvPr id="19" name="Sales, stock and cash answer different questions.">
            <a:extLst xmlns:a="http://schemas.openxmlformats.org/drawingml/2006/main">
              <a:ext uri="{FF2B5EF4-FFF2-40B4-BE49-F238E27FC236}">
                <a16:creationId xmlns:a16="http://schemas.microsoft.com/office/drawing/2014/main" id="{6D96D044-48C2-4B63-9196-E49CBA169DC9}"/>
              </a:ext>
            </a:extLst>
          </p:cNvPr>
          <p:cNvSpPr>
            <a:spLocks xmlns:a="http://schemas.openxmlformats.org/drawingml/2006/main" noGrp="1"/>
          </p:cNvSpPr>
          <p:nvPr/>
        </p:nvSpPr>
        <p:spPr>
          <a:xfrm xmlns:a="http://schemas.openxmlformats.org/drawingml/2006/main">
            <a:off x="723900" y="6229350"/>
            <a:ext cx="13792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3243F"/>
                </a:solidFill>
                <a:latin typeface="Arial"/>
                <a:ea typeface="Arial"/>
                <a:cs typeface="Arial"/>
              </a:defRPr>
            </a:defPPr>
          </a:lstStyle>
          <a:p xmlns:a="http://schemas.openxmlformats.org/drawingml/2006/main">
            <a:pPr algn="l">
              <a:defRPr sz="2925" b="1">
                <a:solidFill>
                  <a:srgbClr val="13243F"/>
                </a:solidFill>
                <a:latin typeface="Arial"/>
                <a:ea typeface="Arial"/>
                <a:cs typeface="Arial"/>
              </a:defRPr>
            </a:pPr>
            <a:r>
              <a:rPr sz="2925" b="1">
                <a:solidFill>
                  <a:srgbClr val="13243F"/>
                </a:solidFill>
                <a:latin typeface="Arial"/>
                <a:ea typeface="Arial"/>
                <a:cs typeface="Arial"/>
              </a:rPr>
              <a:t>Sales, stock and cash answer different questions.</a:t>
            </a:r>
          </a:p>
        </p:txBody>
      </p:sp>
      <p:sp>
        <p:nvSpPr>
          <p:cNvPr id="20" name="The decision needs payment timing, financing terms and produ">
            <a:extLst xmlns:a="http://schemas.openxmlformats.org/drawingml/2006/main">
              <a:ext uri="{FF2B5EF4-FFF2-40B4-BE49-F238E27FC236}">
                <a16:creationId xmlns:a16="http://schemas.microsoft.com/office/drawing/2014/main" id="{03DBED36-C39F-477E-BEA7-C1EA869C428F}"/>
              </a:ext>
            </a:extLst>
          </p:cNvPr>
          <p:cNvSpPr>
            <a:spLocks xmlns:a="http://schemas.openxmlformats.org/drawingml/2006/main" noGrp="1"/>
          </p:cNvSpPr>
          <p:nvPr/>
        </p:nvSpPr>
        <p:spPr>
          <a:xfrm xmlns:a="http://schemas.openxmlformats.org/drawingml/2006/main">
            <a:off x="723900" y="698182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37089"/>
                </a:solidFill>
                <a:latin typeface="Arial"/>
                <a:ea typeface="Arial"/>
                <a:cs typeface="Arial"/>
              </a:defRPr>
            </a:defPPr>
          </a:lstStyle>
          <a:p xmlns:a="http://schemas.openxmlformats.org/drawingml/2006/main">
            <a:pPr algn="l">
              <a:defRPr sz="2100" b="0">
                <a:solidFill>
                  <a:srgbClr val="637089"/>
                </a:solidFill>
                <a:latin typeface="Arial"/>
                <a:ea typeface="Arial"/>
                <a:cs typeface="Arial"/>
              </a:defRPr>
            </a:pPr>
            <a:r>
              <a:rPr sz="2100" b="0">
                <a:solidFill>
                  <a:srgbClr val="637089"/>
                </a:solidFill>
                <a:latin typeface="Arial"/>
                <a:ea typeface="Arial"/>
                <a:cs typeface="Arial"/>
              </a:rPr>
              <a:t>The decision needs payment timing, financing terms and product economics together.</a:t>
            </a:r>
          </a:p>
        </p:txBody>
      </p:sp>
    </p:spTree>
    <p:extLst>
      <p:ext uri="{BB962C8B-B14F-4D97-AF65-F5344CB8AC3E}">
        <p14:creationId xmlns:p14="http://schemas.microsoft.com/office/powerpoint/2010/main" val="509984155"/>
      </p:ext>
    </p:extLst>
  </p:cSld>
</p:sld>
</file>

<file path=ppt/slides/slide3.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3" name="BizWizard">
            <a:extLst xmlns:a="http://schemas.openxmlformats.org/drawingml/2006/main">
              <a:ext uri="{FF2B5EF4-FFF2-40B4-BE49-F238E27FC236}">
                <a16:creationId xmlns:a16="http://schemas.microsoft.com/office/drawing/2014/main" id="{9A02DD0F-B5EA-4659-BA7A-1D7933C97F15}"/>
              </a:ext>
            </a:extLst>
          </p:cNvPr>
          <p:cNvSpPr>
            <a:spLocks xmlns:a="http://schemas.openxmlformats.org/drawingml/2006/main" noGrp="1"/>
          </p:cNvSpPr>
          <p:nvPr/>
        </p:nvSpPr>
        <p:spPr>
          <a:xfrm xmlns:a="http://schemas.openxmlformats.org/drawingml/2006/main">
            <a:off x="685800" y="3238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01F3C"/>
                </a:solidFill>
                <a:latin typeface="Arial"/>
                <a:ea typeface="Arial"/>
                <a:cs typeface="Arial"/>
              </a:defRPr>
            </a:defPPr>
          </a:lstStyle>
          <a:p xmlns:a="http://schemas.openxmlformats.org/drawingml/2006/main">
            <a:pPr algn="l">
              <a:defRPr sz="1575" b="1">
                <a:solidFill>
                  <a:srgbClr val="101F3C"/>
                </a:solidFill>
                <a:latin typeface="Arial"/>
                <a:ea typeface="Arial"/>
                <a:cs typeface="Arial"/>
              </a:defRPr>
            </a:pPr>
            <a:r>
              <a:rPr sz="1575" b="1">
                <a:solidFill>
                  <a:srgbClr val="101F3C"/>
                </a:solidFill>
                <a:latin typeface="Arial"/>
                <a:ea typeface="Arial"/>
                <a:cs typeface="Arial"/>
              </a:rPr>
              <a:t>BizWizard</a:t>
            </a:r>
          </a:p>
        </p:txBody>
      </p:sp>
      <p:sp>
        <p:nvSpPr>
          <p:cNvPr id="2" name="03">
            <a:extLst xmlns:a="http://schemas.openxmlformats.org/drawingml/2006/main">
              <a:ext uri="{FF2B5EF4-FFF2-40B4-BE49-F238E27FC236}">
                <a16:creationId xmlns:a16="http://schemas.microsoft.com/office/drawing/2014/main" id="{CEB1A901-294D-4C1C-9DB0-945D76937E75}"/>
              </a:ext>
            </a:extLst>
          </p:cNvPr>
          <p:cNvSpPr>
            <a:spLocks xmlns:a="http://schemas.openxmlformats.org/drawingml/2006/main" noGrp="1"/>
          </p:cNvSpPr>
          <p:nvPr/>
        </p:nvSpPr>
        <p:spPr>
          <a:xfrm xmlns:a="http://schemas.openxmlformats.org/drawingml/2006/main">
            <a:off x="12573000" y="323850"/>
            <a:ext cx="198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37089"/>
                </a:solidFill>
                <a:latin typeface="Arial"/>
                <a:ea typeface="Arial"/>
                <a:cs typeface="Arial"/>
              </a:defRPr>
            </a:defPPr>
          </a:lstStyle>
          <a:p xmlns:a="http://schemas.openxmlformats.org/drawingml/2006/main">
            <a:pPr algn="r">
              <a:defRPr sz="1425" b="0">
                <a:solidFill>
                  <a:srgbClr val="637089"/>
                </a:solidFill>
                <a:latin typeface="Arial"/>
                <a:ea typeface="Arial"/>
                <a:cs typeface="Arial"/>
              </a:defRPr>
            </a:pPr>
            <a:r>
              <a:rPr sz="1425" b="0">
                <a:solidFill>
                  <a:srgbClr val="637089"/>
                </a:solidFill>
                <a:latin typeface="Arial"/>
                <a:ea typeface="Arial"/>
                <a:cs typeface="Arial"/>
              </a:rPr>
              <a:t>03</a:t>
            </a:r>
          </a:p>
        </p:txBody>
      </p:sp>
      <p:sp>
        <p:nvSpPr>
          <p:cNvPr id="3" name="Slide heading">
            <a:extLst xmlns:a="http://schemas.openxmlformats.org/drawingml/2006/main">
              <a:ext uri="{FF2B5EF4-FFF2-40B4-BE49-F238E27FC236}">
                <a16:creationId xmlns:a16="http://schemas.microsoft.com/office/drawing/2014/main" id="{8CAEEC71-57B1-465E-9610-04A647E4A052}"/>
              </a:ext>
            </a:extLst>
          </p:cNvPr>
          <p:cNvSpPr>
            <a:spLocks xmlns:a="http://schemas.openxmlformats.org/drawingml/2006/main" noGrp="1"/>
          </p:cNvSpPr>
          <p:nvPr/>
        </p:nvSpPr>
        <p:spPr>
          <a:xfrm xmlns:a="http://schemas.openxmlformats.org/drawingml/2006/main">
            <a:off x="685800" y="1000125"/>
            <a:ext cx="138684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13243F"/>
                </a:solidFill>
                <a:latin typeface="Arial"/>
                <a:ea typeface="Arial"/>
                <a:cs typeface="Arial"/>
              </a:defRPr>
            </a:defPPr>
          </a:lstStyle>
          <a:p xmlns:a="http://schemas.openxmlformats.org/drawingml/2006/main">
            <a:pPr algn="l">
              <a:defRPr sz="4500" b="1">
                <a:solidFill>
                  <a:srgbClr val="13243F"/>
                </a:solidFill>
                <a:latin typeface="Arial"/>
                <a:ea typeface="Arial"/>
                <a:cs typeface="Arial"/>
              </a:defRPr>
            </a:pPr>
            <a:r>
              <a:rPr sz="4500" b="1">
                <a:solidFill>
                  <a:srgbClr val="13243F"/>
                </a:solidFill>
                <a:latin typeface="Arial"/>
                <a:ea typeface="Arial"/>
                <a:cs typeface="Arial"/>
              </a:rPr>
              <a:t>Three finance questions, one set of records</a:t>
            </a:r>
          </a:p>
        </p:txBody>
      </p:sp>
      <p:sp>
        <p:nvSpPr>
          <p:cNvPr id="4" name="Which financing fits?">
            <a:extLst xmlns:a="http://schemas.openxmlformats.org/drawingml/2006/main">
              <a:ext uri="{FF2B5EF4-FFF2-40B4-BE49-F238E27FC236}">
                <a16:creationId xmlns:a16="http://schemas.microsoft.com/office/drawing/2014/main" id="{D742F713-8D65-465C-848F-7A146FE98DF8}"/>
              </a:ext>
            </a:extLst>
          </p:cNvPr>
          <p:cNvSpPr>
            <a:spLocks xmlns:a="http://schemas.openxmlformats.org/drawingml/2006/main" noGrp="1"/>
          </p:cNvSpPr>
          <p:nvPr/>
        </p:nvSpPr>
        <p:spPr>
          <a:xfrm xmlns:a="http://schemas.openxmlformats.org/drawingml/2006/main">
            <a:off x="723900" y="2514600"/>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3243F"/>
                </a:solidFill>
                <a:latin typeface="Arial"/>
                <a:ea typeface="Arial"/>
                <a:cs typeface="Arial"/>
              </a:defRPr>
            </a:defPPr>
          </a:lstStyle>
          <a:p xmlns:a="http://schemas.openxmlformats.org/drawingml/2006/main">
            <a:pPr algn="l">
              <a:defRPr sz="2400" b="1">
                <a:solidFill>
                  <a:srgbClr val="13243F"/>
                </a:solidFill>
                <a:latin typeface="Arial"/>
                <a:ea typeface="Arial"/>
                <a:cs typeface="Arial"/>
              </a:defRPr>
            </a:pPr>
            <a:r>
              <a:rPr sz="2400" b="1">
                <a:solidFill>
                  <a:srgbClr val="13243F"/>
                </a:solidFill>
                <a:latin typeface="Arial"/>
                <a:ea typeface="Arial"/>
                <a:cs typeface="Arial"/>
              </a:rPr>
              <a:t>Which financing fits?</a:t>
            </a:r>
          </a:p>
        </p:txBody>
      </p:sp>
      <p:sp>
        <p:nvSpPr>
          <p:cNvPr id="5" name="Compare eligibility, cost and repayment capacity.">
            <a:extLst xmlns:a="http://schemas.openxmlformats.org/drawingml/2006/main">
              <a:ext uri="{FF2B5EF4-FFF2-40B4-BE49-F238E27FC236}">
                <a16:creationId xmlns:a16="http://schemas.microsoft.com/office/drawing/2014/main" id="{D5643860-713F-4B9D-ABC6-8D9DC3E77B0A}"/>
              </a:ext>
            </a:extLst>
          </p:cNvPr>
          <p:cNvSpPr>
            <a:spLocks xmlns:a="http://schemas.openxmlformats.org/drawingml/2006/main" noGrp="1"/>
          </p:cNvSpPr>
          <p:nvPr/>
        </p:nvSpPr>
        <p:spPr>
          <a:xfrm xmlns:a="http://schemas.openxmlformats.org/drawingml/2006/main">
            <a:off x="723900" y="3048000"/>
            <a:ext cx="4333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37089"/>
                </a:solidFill>
                <a:latin typeface="Arial"/>
                <a:ea typeface="Arial"/>
                <a:cs typeface="Arial"/>
              </a:defRPr>
            </a:defPPr>
          </a:lstStyle>
          <a:p xmlns:a="http://schemas.openxmlformats.org/drawingml/2006/main">
            <a:pPr algn="l">
              <a:defRPr sz="2100" b="0">
                <a:solidFill>
                  <a:srgbClr val="637089"/>
                </a:solidFill>
                <a:latin typeface="Arial"/>
                <a:ea typeface="Arial"/>
                <a:cs typeface="Arial"/>
              </a:defRPr>
            </a:pPr>
            <a:r>
              <a:rPr sz="2100" b="0">
                <a:solidFill>
                  <a:srgbClr val="637089"/>
                </a:solidFill>
                <a:latin typeface="Arial"/>
                <a:ea typeface="Arial"/>
                <a:cs typeface="Arial"/>
              </a:rPr>
              <a:t>Compare eligibility, cost</a:t>
            </a:r>
          </a:p>
          <a:p xmlns:a="http://schemas.openxmlformats.org/drawingml/2006/main">
            <a:pPr algn="l">
              <a:defRPr sz="2100" b="0">
                <a:solidFill>
                  <a:srgbClr val="637089"/>
                </a:solidFill>
                <a:latin typeface="Arial"/>
                <a:ea typeface="Arial"/>
                <a:cs typeface="Arial"/>
              </a:defRPr>
            </a:pPr>
            <a:r>
              <a:rPr sz="2100" b="0">
                <a:solidFill>
                  <a:srgbClr val="637089"/>
                </a:solidFill>
                <a:latin typeface="Arial"/>
                <a:ea typeface="Arial"/>
                <a:cs typeface="Arial"/>
              </a:rPr>
              <a:t>and repayment capacity.</a:t>
            </a:r>
          </a:p>
        </p:txBody>
      </p:sp>
      <p:sp>
        <p:nvSpPr>
          <p:cNvPr id="6" name="Will cash run short?">
            <a:extLst xmlns:a="http://schemas.openxmlformats.org/drawingml/2006/main">
              <a:ext uri="{FF2B5EF4-FFF2-40B4-BE49-F238E27FC236}">
                <a16:creationId xmlns:a16="http://schemas.microsoft.com/office/drawing/2014/main" id="{130F6575-B9CD-405A-9409-340B5796F16F}"/>
              </a:ext>
            </a:extLst>
          </p:cNvPr>
          <p:cNvSpPr>
            <a:spLocks xmlns:a="http://schemas.openxmlformats.org/drawingml/2006/main" noGrp="1"/>
          </p:cNvSpPr>
          <p:nvPr/>
        </p:nvSpPr>
        <p:spPr>
          <a:xfrm xmlns:a="http://schemas.openxmlformats.org/drawingml/2006/main">
            <a:off x="5410200" y="2514600"/>
            <a:ext cx="438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3243F"/>
                </a:solidFill>
                <a:latin typeface="Arial"/>
                <a:ea typeface="Arial"/>
                <a:cs typeface="Arial"/>
              </a:defRPr>
            </a:defPPr>
          </a:lstStyle>
          <a:p xmlns:a="http://schemas.openxmlformats.org/drawingml/2006/main">
            <a:pPr algn="l">
              <a:defRPr sz="2400" b="1">
                <a:solidFill>
                  <a:srgbClr val="13243F"/>
                </a:solidFill>
                <a:latin typeface="Arial"/>
                <a:ea typeface="Arial"/>
                <a:cs typeface="Arial"/>
              </a:defRPr>
            </a:pPr>
            <a:r>
              <a:rPr sz="2400" b="1">
                <a:solidFill>
                  <a:srgbClr val="13243F"/>
                </a:solidFill>
                <a:latin typeface="Arial"/>
                <a:ea typeface="Arial"/>
                <a:cs typeface="Arial"/>
              </a:rPr>
              <a:t>Will cash run short?</a:t>
            </a:r>
          </a:p>
        </p:txBody>
      </p:sp>
      <p:sp>
        <p:nvSpPr>
          <p:cNvPr id="7" name="Project dated balances and review alerts.">
            <a:extLst xmlns:a="http://schemas.openxmlformats.org/drawingml/2006/main">
              <a:ext uri="{FF2B5EF4-FFF2-40B4-BE49-F238E27FC236}">
                <a16:creationId xmlns:a16="http://schemas.microsoft.com/office/drawing/2014/main" id="{A0E503CD-54C5-45E6-B32D-F3AC227596C0}"/>
              </a:ext>
            </a:extLst>
          </p:cNvPr>
          <p:cNvSpPr>
            <a:spLocks xmlns:a="http://schemas.openxmlformats.org/drawingml/2006/main" noGrp="1"/>
          </p:cNvSpPr>
          <p:nvPr/>
        </p:nvSpPr>
        <p:spPr>
          <a:xfrm xmlns:a="http://schemas.openxmlformats.org/drawingml/2006/main">
            <a:off x="5410200" y="3048000"/>
            <a:ext cx="438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37089"/>
                </a:solidFill>
                <a:latin typeface="Arial"/>
                <a:ea typeface="Arial"/>
                <a:cs typeface="Arial"/>
              </a:defRPr>
            </a:defPPr>
          </a:lstStyle>
          <a:p xmlns:a="http://schemas.openxmlformats.org/drawingml/2006/main">
            <a:pPr algn="l">
              <a:defRPr sz="2100" b="0">
                <a:solidFill>
                  <a:srgbClr val="637089"/>
                </a:solidFill>
                <a:latin typeface="Arial"/>
                <a:ea typeface="Arial"/>
                <a:cs typeface="Arial"/>
              </a:defRPr>
            </a:pPr>
            <a:r>
              <a:rPr sz="2100" b="0">
                <a:solidFill>
                  <a:srgbClr val="637089"/>
                </a:solidFill>
                <a:latin typeface="Arial"/>
                <a:ea typeface="Arial"/>
                <a:cs typeface="Arial"/>
              </a:rPr>
              <a:t>Project dated balances</a:t>
            </a:r>
          </a:p>
          <a:p xmlns:a="http://schemas.openxmlformats.org/drawingml/2006/main">
            <a:pPr algn="l">
              <a:defRPr sz="2100" b="0">
                <a:solidFill>
                  <a:srgbClr val="637089"/>
                </a:solidFill>
                <a:latin typeface="Arial"/>
                <a:ea typeface="Arial"/>
                <a:cs typeface="Arial"/>
              </a:defRPr>
            </a:pPr>
            <a:r>
              <a:rPr sz="2100" b="0">
                <a:solidFill>
                  <a:srgbClr val="637089"/>
                </a:solidFill>
                <a:latin typeface="Arial"/>
                <a:ea typeface="Arial"/>
                <a:cs typeface="Arial"/>
              </a:rPr>
              <a:t>and review alerts.</a:t>
            </a:r>
          </a:p>
        </p:txBody>
      </p:sp>
      <p:sp>
        <p:nvSpPr>
          <p:cNvPr id="8" name="Where is cash tied up?">
            <a:extLst xmlns:a="http://schemas.openxmlformats.org/drawingml/2006/main">
              <a:ext uri="{FF2B5EF4-FFF2-40B4-BE49-F238E27FC236}">
                <a16:creationId xmlns:a16="http://schemas.microsoft.com/office/drawing/2014/main" id="{845247DB-BC0A-4CA7-874B-72BE8E6E6877}"/>
              </a:ext>
            </a:extLst>
          </p:cNvPr>
          <p:cNvSpPr>
            <a:spLocks xmlns:a="http://schemas.openxmlformats.org/drawingml/2006/main" noGrp="1"/>
          </p:cNvSpPr>
          <p:nvPr/>
        </p:nvSpPr>
        <p:spPr>
          <a:xfrm xmlns:a="http://schemas.openxmlformats.org/drawingml/2006/main">
            <a:off x="10115550" y="2514600"/>
            <a:ext cx="442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3243F"/>
                </a:solidFill>
                <a:latin typeface="Arial"/>
                <a:ea typeface="Arial"/>
                <a:cs typeface="Arial"/>
              </a:defRPr>
            </a:defPPr>
          </a:lstStyle>
          <a:p xmlns:a="http://schemas.openxmlformats.org/drawingml/2006/main">
            <a:pPr algn="l">
              <a:defRPr sz="2400" b="1">
                <a:solidFill>
                  <a:srgbClr val="13243F"/>
                </a:solidFill>
                <a:latin typeface="Arial"/>
                <a:ea typeface="Arial"/>
                <a:cs typeface="Arial"/>
              </a:defRPr>
            </a:pPr>
            <a:r>
              <a:rPr sz="2400" b="1">
                <a:solidFill>
                  <a:srgbClr val="13243F"/>
                </a:solidFill>
                <a:latin typeface="Arial"/>
                <a:ea typeface="Arial"/>
                <a:cs typeface="Arial"/>
              </a:rPr>
              <a:t>Where is cash tied up?</a:t>
            </a:r>
          </a:p>
        </p:txBody>
      </p:sp>
      <p:sp>
        <p:nvSpPr>
          <p:cNvPr id="9" name="Inspect product margins and working capital.">
            <a:extLst xmlns:a="http://schemas.openxmlformats.org/drawingml/2006/main">
              <a:ext uri="{FF2B5EF4-FFF2-40B4-BE49-F238E27FC236}">
                <a16:creationId xmlns:a16="http://schemas.microsoft.com/office/drawing/2014/main" id="{DE548B43-C003-4B3E-A81F-F0572EBA9857}"/>
              </a:ext>
            </a:extLst>
          </p:cNvPr>
          <p:cNvSpPr>
            <a:spLocks xmlns:a="http://schemas.openxmlformats.org/drawingml/2006/main" noGrp="1"/>
          </p:cNvSpPr>
          <p:nvPr/>
        </p:nvSpPr>
        <p:spPr>
          <a:xfrm xmlns:a="http://schemas.openxmlformats.org/drawingml/2006/main">
            <a:off x="10115550" y="3048000"/>
            <a:ext cx="4429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37089"/>
                </a:solidFill>
                <a:latin typeface="Arial"/>
                <a:ea typeface="Arial"/>
                <a:cs typeface="Arial"/>
              </a:defRPr>
            </a:defPPr>
          </a:lstStyle>
          <a:p xmlns:a="http://schemas.openxmlformats.org/drawingml/2006/main">
            <a:pPr algn="l">
              <a:defRPr sz="2100" b="0">
                <a:solidFill>
                  <a:srgbClr val="637089"/>
                </a:solidFill>
                <a:latin typeface="Arial"/>
                <a:ea typeface="Arial"/>
                <a:cs typeface="Arial"/>
              </a:defRPr>
            </a:pPr>
            <a:r>
              <a:rPr sz="2100" b="0">
                <a:solidFill>
                  <a:srgbClr val="637089"/>
                </a:solidFill>
                <a:latin typeface="Arial"/>
                <a:ea typeface="Arial"/>
                <a:cs typeface="Arial"/>
              </a:rPr>
              <a:t>Inspect product margins</a:t>
            </a:r>
          </a:p>
          <a:p xmlns:a="http://schemas.openxmlformats.org/drawingml/2006/main">
            <a:pPr algn="l">
              <a:defRPr sz="2100" b="0">
                <a:solidFill>
                  <a:srgbClr val="637089"/>
                </a:solidFill>
                <a:latin typeface="Arial"/>
                <a:ea typeface="Arial"/>
                <a:cs typeface="Arial"/>
              </a:defRPr>
            </a:pPr>
            <a:r>
              <a:rPr sz="2100" b="0">
                <a:solidFill>
                  <a:srgbClr val="637089"/>
                </a:solidFill>
                <a:latin typeface="Arial"/>
                <a:ea typeface="Arial"/>
                <a:cs typeface="Arial"/>
              </a:rPr>
              <a:t>and working capital.</a:t>
            </a:r>
          </a:p>
        </p:txBody>
      </p:sp>
      <p:pic>
        <p:nvPicPr>
          <p:cNvPr id="10" name="">
            <a:extLst xmlns:a="http://schemas.openxmlformats.org/drawingml/2006/main">
              <a:ext uri="{FF2B5EF4-FFF2-40B4-BE49-F238E27FC236}">
                <a16:creationId xmlns:a16="http://schemas.microsoft.com/office/drawing/2014/main" id="{D0156553-1683-4D9E-A4DA-3C0E760C9097}"/>
              </a:ext>
            </a:extLst>
          </p:cNvPr>
          <p:cNvPicPr>
            <a:picLocks xmlns:a="http://schemas.openxmlformats.org/drawingml/2006/main" noChangeAspect="1"/>
          </p:cNvPicPr>
          <p:nvPr/>
        </p:nvPicPr>
        <p:blipFill>
          <a:blip xmlns:r="http://schemas.openxmlformats.org/officeDocument/2006/relationships" xmlns:a="http://schemas.openxmlformats.org/drawingml/2006/main" r:embed="R118175cc64274f8d"/>
          <a:stretch xmlns:a="http://schemas.openxmlformats.org/drawingml/2006/main"/>
        </p:blipFill>
        <p:spPr>
          <a:xfrm xmlns:a="http://schemas.openxmlformats.org/drawingml/2006/main">
            <a:off x="914400" y="5265233"/>
            <a:ext cx="9791700" cy="1318634"/>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3C5E2A19-CDD8-4E75-AD12-F35BB3B60852}"/>
              </a:ext>
            </a:extLst>
          </p:cNvPr>
          <p:cNvPicPr>
            <a:picLocks xmlns:a="http://schemas.openxmlformats.org/drawingml/2006/main" noChangeAspect="1"/>
          </p:cNvPicPr>
          <p:nvPr/>
        </p:nvPicPr>
        <p:blipFill>
          <a:blip xmlns:r="http://schemas.openxmlformats.org/officeDocument/2006/relationships" xmlns:a="http://schemas.openxmlformats.org/drawingml/2006/main" r:embed="Rf2d718889f924e14"/>
          <a:stretch xmlns:a="http://schemas.openxmlformats.org/drawingml/2006/main"/>
        </p:blipFill>
        <p:spPr>
          <a:xfrm xmlns:a="http://schemas.openxmlformats.org/drawingml/2006/main">
            <a:off x="12342454" y="4514850"/>
            <a:ext cx="1356442" cy="2933700"/>
          </a:xfrm>
          <a:prstGeom xmlns:a="http://schemas.openxmlformats.org/drawingml/2006/main" prst="rect">
            <a:avLst/>
          </a:prstGeom>
        </p:spPr>
      </p:pic>
      <p:sp>
        <p:nvSpPr>
          <p:cNvPr id="12" name="Inventory: live app with seeded demo records. Mobile view: i">
            <a:extLst xmlns:a="http://schemas.openxmlformats.org/drawingml/2006/main">
              <a:ext uri="{FF2B5EF4-FFF2-40B4-BE49-F238E27FC236}">
                <a16:creationId xmlns:a16="http://schemas.microsoft.com/office/drawing/2014/main" id="{F3B89CEF-6231-4BB8-8EE4-81982C5AD3B7}"/>
              </a:ext>
            </a:extLst>
          </p:cNvPr>
          <p:cNvSpPr>
            <a:spLocks xmlns:a="http://schemas.openxmlformats.org/drawingml/2006/main" noGrp="1"/>
          </p:cNvSpPr>
          <p:nvPr/>
        </p:nvSpPr>
        <p:spPr>
          <a:xfrm xmlns:a="http://schemas.openxmlformats.org/drawingml/2006/main">
            <a:off x="685800" y="7915275"/>
            <a:ext cx="13868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37089"/>
                </a:solidFill>
                <a:latin typeface="Arial"/>
                <a:ea typeface="Arial"/>
                <a:cs typeface="Arial"/>
              </a:defRPr>
            </a:defPPr>
          </a:lstStyle>
          <a:p xmlns:a="http://schemas.openxmlformats.org/drawingml/2006/main">
            <a:pPr algn="l">
              <a:defRPr sz="1425" b="0">
                <a:solidFill>
                  <a:srgbClr val="637089"/>
                </a:solidFill>
                <a:latin typeface="Arial"/>
                <a:ea typeface="Arial"/>
                <a:cs typeface="Arial"/>
              </a:defRPr>
            </a:pPr>
            <a:r>
              <a:rPr sz="1425" b="0">
                <a:solidFill>
                  <a:srgbClr val="637089"/>
                </a:solidFill>
                <a:latin typeface="Arial"/>
                <a:ea typeface="Arial"/>
                <a:cs typeface="Arial"/>
              </a:rPr>
              <a:t>Inventory: live app with seeded demo records. Mobile view: illustrative demo data.</a:t>
            </a:r>
          </a:p>
        </p:txBody>
      </p:sp>
    </p:spTree>
    <p:extLst>
      <p:ext uri="{BB962C8B-B14F-4D97-AF65-F5344CB8AC3E}">
        <p14:creationId xmlns:p14="http://schemas.microsoft.com/office/powerpoint/2010/main" val="746944480"/>
      </p:ext>
    </p:extLst>
  </p:cSld>
</p:sld>
</file>

<file path=ppt/slides/slide4.xml><?xml version="1.0" encoding="utf-8"?>
<p:sld xmlns:p="http://schemas.openxmlformats.org/presentationml/2006/main">
  <p:cSld>
    <p:bg>
      <p:bgPr>
        <a:solidFill xmlns:a="http://schemas.openxmlformats.org/drawingml/2006/main">
          <a:srgbClr val="101F3C"/>
        </a:solidFill>
      </p:bgPr>
    </p:bg>
    <p:spTree>
      <p:nvGrpSpPr>
        <p:cNvPr id="1" name=""/>
        <p:cNvGrpSpPr/>
        <p:nvPr/>
      </p:nvGrpSpPr>
      <p:grpSpPr>
        <a:xfrm xmlns:a="http://schemas.openxmlformats.org/drawingml/2006/main"/>
      </p:grpSpPr>
      <p:cxnSp>
        <p:nvCxnSpPr>
          <p:cNvPr id="22" name="">
            <a:extLst xmlns:a="http://schemas.openxmlformats.org/drawingml/2006/main">
              <a:ext uri="{FF2B5EF4-FFF2-40B4-BE49-F238E27FC236}">
                <a16:creationId xmlns:a16="http://schemas.microsoft.com/office/drawing/2014/main" id="{5E1F9F13-B296-4C18-9E5D-8818B4F7D520}"/>
              </a:ext>
            </a:extLst>
          </p:cNvPr>
          <p:cNvCxnSpPr>
            <a:stCxn xmlns:a="http://schemas.openxmlformats.org/drawingml/2006/main" id="13" idx="3"/>
            <a:endCxn xmlns:a="http://schemas.openxmlformats.org/drawingml/2006/main" id="16" idx="1"/>
          </p:cNvCxnSpPr>
          <p:nvPr/>
        </p:nvCxnSpPr>
        <p:spPr>
          <a:xfrm xmlns:a="http://schemas.openxmlformats.org/drawingml/2006/main">
            <a:off x="11696700" y="3838575"/>
            <a:ext cx="304800" cy="0"/>
          </a:xfrm>
          <a:prstGeom xmlns:a="http://schemas.openxmlformats.org/drawingml/2006/main" prst="straightConnector1">
            <a:avLst/>
          </a:prstGeom>
          <a:ln xmlns:a="http://schemas.openxmlformats.org/drawingml/2006/main" w="23813">
            <a:solidFill>
              <a:srgbClr val="7FA5FF"/>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84D48A8A-FB27-419B-98CF-C9E175E0F61E}"/>
              </a:ext>
            </a:extLst>
          </p:cNvPr>
          <p:cNvCxnSpPr>
            <a:stCxn xmlns:a="http://schemas.openxmlformats.org/drawingml/2006/main" id="10" idx="3"/>
            <a:endCxn xmlns:a="http://schemas.openxmlformats.org/drawingml/2006/main" id="13" idx="1"/>
          </p:cNvCxnSpPr>
          <p:nvPr/>
        </p:nvCxnSpPr>
        <p:spPr>
          <a:xfrm xmlns:a="http://schemas.openxmlformats.org/drawingml/2006/main">
            <a:off x="8877300" y="3838575"/>
            <a:ext cx="304800" cy="0"/>
          </a:xfrm>
          <a:prstGeom xmlns:a="http://schemas.openxmlformats.org/drawingml/2006/main" prst="straightConnector1">
            <a:avLst/>
          </a:prstGeom>
          <a:ln xmlns:a="http://schemas.openxmlformats.org/drawingml/2006/main" w="23813">
            <a:solidFill>
              <a:srgbClr val="7FA5FF"/>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F860A62F-09CA-41A8-8F45-DF88068C303B}"/>
              </a:ext>
            </a:extLst>
          </p:cNvPr>
          <p:cNvCxnSpPr>
            <a:stCxn xmlns:a="http://schemas.openxmlformats.org/drawingml/2006/main" id="7" idx="3"/>
            <a:endCxn xmlns:a="http://schemas.openxmlformats.org/drawingml/2006/main" id="10" idx="1"/>
          </p:cNvCxnSpPr>
          <p:nvPr/>
        </p:nvCxnSpPr>
        <p:spPr>
          <a:xfrm xmlns:a="http://schemas.openxmlformats.org/drawingml/2006/main">
            <a:off x="6057900" y="3838575"/>
            <a:ext cx="304800" cy="0"/>
          </a:xfrm>
          <a:prstGeom xmlns:a="http://schemas.openxmlformats.org/drawingml/2006/main" prst="straightConnector1">
            <a:avLst/>
          </a:prstGeom>
          <a:ln xmlns:a="http://schemas.openxmlformats.org/drawingml/2006/main" w="23813">
            <a:solidFill>
              <a:srgbClr val="7FA5FF"/>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6425FD97-3D46-4D59-9834-C53C30BD3A26}"/>
              </a:ext>
            </a:extLst>
          </p:cNvPr>
          <p:cNvCxnSpPr>
            <a:stCxn xmlns:a="http://schemas.openxmlformats.org/drawingml/2006/main" id="4" idx="3"/>
            <a:endCxn xmlns:a="http://schemas.openxmlformats.org/drawingml/2006/main" id="7" idx="1"/>
          </p:cNvCxnSpPr>
          <p:nvPr/>
        </p:nvCxnSpPr>
        <p:spPr>
          <a:xfrm xmlns:a="http://schemas.openxmlformats.org/drawingml/2006/main">
            <a:off x="3238500" y="3838575"/>
            <a:ext cx="304800" cy="0"/>
          </a:xfrm>
          <a:prstGeom xmlns:a="http://schemas.openxmlformats.org/drawingml/2006/main" prst="straightConnector1">
            <a:avLst/>
          </a:prstGeom>
          <a:ln xmlns:a="http://schemas.openxmlformats.org/drawingml/2006/main" w="23813">
            <a:solidFill>
              <a:srgbClr val="7FA5FF"/>
            </a:solidFill>
            <a:prstDash val="solid"/>
            <a:tailEnd type="triangle" w="sm" len="sm"/>
          </a:ln>
        </p:spPr>
      </p:cxnSp>
      <p:sp>
        <p:nvSpPr>
          <p:cNvPr id="26" name="BizWizard">
            <a:extLst xmlns:a="http://schemas.openxmlformats.org/drawingml/2006/main">
              <a:ext uri="{FF2B5EF4-FFF2-40B4-BE49-F238E27FC236}">
                <a16:creationId xmlns:a16="http://schemas.microsoft.com/office/drawing/2014/main" id="{9B0C3638-17B3-46A5-850F-EB9AA856DD8D}"/>
              </a:ext>
            </a:extLst>
          </p:cNvPr>
          <p:cNvSpPr>
            <a:spLocks xmlns:a="http://schemas.openxmlformats.org/drawingml/2006/main" noGrp="1"/>
          </p:cNvSpPr>
          <p:nvPr/>
        </p:nvSpPr>
        <p:spPr>
          <a:xfrm xmlns:a="http://schemas.openxmlformats.org/drawingml/2006/main">
            <a:off x="685800" y="3238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FFFFFF"/>
                </a:solidFill>
                <a:latin typeface="Arial"/>
                <a:ea typeface="Arial"/>
                <a:cs typeface="Arial"/>
              </a:defRPr>
            </a:defPPr>
          </a:lstStyle>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BizWizard</a:t>
            </a:r>
          </a:p>
        </p:txBody>
      </p:sp>
      <p:sp>
        <p:nvSpPr>
          <p:cNvPr id="2" name="04">
            <a:extLst xmlns:a="http://schemas.openxmlformats.org/drawingml/2006/main">
              <a:ext uri="{FF2B5EF4-FFF2-40B4-BE49-F238E27FC236}">
                <a16:creationId xmlns:a16="http://schemas.microsoft.com/office/drawing/2014/main" id="{3001AC91-52DC-4375-B7AB-236BAE3748C2}"/>
              </a:ext>
            </a:extLst>
          </p:cNvPr>
          <p:cNvSpPr>
            <a:spLocks xmlns:a="http://schemas.openxmlformats.org/drawingml/2006/main" noGrp="1"/>
          </p:cNvSpPr>
          <p:nvPr/>
        </p:nvSpPr>
        <p:spPr>
          <a:xfrm xmlns:a="http://schemas.openxmlformats.org/drawingml/2006/main">
            <a:off x="12573000" y="323850"/>
            <a:ext cx="198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ADBBD2"/>
                </a:solidFill>
                <a:latin typeface="Arial"/>
                <a:ea typeface="Arial"/>
                <a:cs typeface="Arial"/>
              </a:defRPr>
            </a:defPPr>
          </a:lstStyle>
          <a:p xmlns:a="http://schemas.openxmlformats.org/drawingml/2006/main">
            <a:pPr algn="r">
              <a:defRPr sz="1425" b="0">
                <a:solidFill>
                  <a:srgbClr val="ADBBD2"/>
                </a:solidFill>
                <a:latin typeface="Arial"/>
                <a:ea typeface="Arial"/>
                <a:cs typeface="Arial"/>
              </a:defRPr>
            </a:pPr>
            <a:r>
              <a:rPr sz="1425" b="0">
                <a:solidFill>
                  <a:srgbClr val="ADBBD2"/>
                </a:solidFill>
                <a:latin typeface="Arial"/>
                <a:ea typeface="Arial"/>
                <a:cs typeface="Arial"/>
              </a:rPr>
              <a:t>04</a:t>
            </a:r>
          </a:p>
        </p:txBody>
      </p:sp>
      <p:sp>
        <p:nvSpPr>
          <p:cNvPr id="3" name="Slide heading">
            <a:extLst xmlns:a="http://schemas.openxmlformats.org/drawingml/2006/main">
              <a:ext uri="{FF2B5EF4-FFF2-40B4-BE49-F238E27FC236}">
                <a16:creationId xmlns:a16="http://schemas.microsoft.com/office/drawing/2014/main" id="{11F20F56-597F-40F0-BEAD-1D3F2566FC04}"/>
              </a:ext>
            </a:extLst>
          </p:cNvPr>
          <p:cNvSpPr>
            <a:spLocks xmlns:a="http://schemas.openxmlformats.org/drawingml/2006/main" noGrp="1"/>
          </p:cNvSpPr>
          <p:nvPr/>
        </p:nvSpPr>
        <p:spPr>
          <a:xfrm xmlns:a="http://schemas.openxmlformats.org/drawingml/2006/main">
            <a:off x="685800" y="1000125"/>
            <a:ext cx="138684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FFFFFF"/>
                </a:solidFill>
                <a:latin typeface="Arial"/>
                <a:ea typeface="Arial"/>
                <a:cs typeface="Arial"/>
              </a:defRPr>
            </a:defPPr>
          </a:lstStyle>
          <a:p xmlns:a="http://schemas.openxmlformats.org/drawingml/2006/main">
            <a:pPr algn="l">
              <a:defRPr sz="4500" b="1">
                <a:solidFill>
                  <a:srgbClr val="FFFFFF"/>
                </a:solidFill>
                <a:latin typeface="Arial"/>
                <a:ea typeface="Arial"/>
                <a:cs typeface="Arial"/>
              </a:defRPr>
            </a:pPr>
            <a:r>
              <a:rPr sz="4500" b="1">
                <a:solidFill>
                  <a:srgbClr val="FFFFFF"/>
                </a:solidFill>
                <a:latin typeface="Arial"/>
                <a:ea typeface="Arial"/>
                <a:cs typeface="Arial"/>
              </a:rPr>
              <a:t>A decision stays connected to its records</a:t>
            </a:r>
          </a:p>
        </p:txBody>
      </p:sp>
      <p:sp>
        <p:nvSpPr>
          <p:cNvPr id="4" name="Shop records">
            <a:extLst xmlns:a="http://schemas.openxmlformats.org/drawingml/2006/main">
              <a:ext uri="{FF2B5EF4-FFF2-40B4-BE49-F238E27FC236}">
                <a16:creationId xmlns:a16="http://schemas.microsoft.com/office/drawing/2014/main" id="{A6CC16AA-F371-4317-AA5F-DD6576BE313F}"/>
              </a:ext>
            </a:extLst>
          </p:cNvPr>
          <p:cNvSpPr>
            <a:spLocks xmlns:a="http://schemas.openxmlformats.org/drawingml/2006/main" noGrp="1"/>
          </p:cNvSpPr>
          <p:nvPr/>
        </p:nvSpPr>
        <p:spPr>
          <a:xfrm xmlns:a="http://schemas.openxmlformats.org/drawingml/2006/main">
            <a:off x="723900" y="2933700"/>
            <a:ext cx="2514600" cy="1809750"/>
          </a:xfrm>
          <a:prstGeom xmlns:a="http://schemas.openxmlformats.org/drawingml/2006/main" prst="rect">
            <a:avLst/>
          </a:prstGeom>
          <a:solidFill xmlns:a="http://schemas.openxmlformats.org/drawingml/2006/main">
            <a:srgbClr val="1C3154"/>
          </a:solidFill>
          <a:ln xmlns:a="http://schemas.openxmlformats.org/drawingml/2006/main" w="14288">
            <a:solidFill>
              <a:srgbClr val="415779"/>
            </a:solidFill>
          </a:ln>
        </p:spPr>
      </p:sp>
      <p:sp>
        <p:nvSpPr>
          <p:cNvPr id="5" name="Shop records">
            <a:extLst xmlns:a="http://schemas.openxmlformats.org/drawingml/2006/main">
              <a:ext uri="{FF2B5EF4-FFF2-40B4-BE49-F238E27FC236}">
                <a16:creationId xmlns:a16="http://schemas.microsoft.com/office/drawing/2014/main" id="{142846CD-6FE2-49BD-8B65-0ECBDCCCF819}"/>
              </a:ext>
            </a:extLst>
          </p:cNvPr>
          <p:cNvSpPr>
            <a:spLocks xmlns:a="http://schemas.openxmlformats.org/drawingml/2006/main" noGrp="1"/>
          </p:cNvSpPr>
          <p:nvPr/>
        </p:nvSpPr>
        <p:spPr>
          <a:xfrm xmlns:a="http://schemas.openxmlformats.org/drawingml/2006/main">
            <a:off x="933450" y="312420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FFFFFF"/>
                </a:solidFill>
                <a:latin typeface="Arial"/>
                <a:ea typeface="Arial"/>
                <a:cs typeface="Arial"/>
              </a:defRPr>
            </a:defPPr>
          </a:lstStyle>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Shop records</a:t>
            </a:r>
          </a:p>
        </p:txBody>
      </p:sp>
      <p:sp>
        <p:nvSpPr>
          <p:cNvPr id="6" name="Sales, debt, stock and expenses">
            <a:extLst xmlns:a="http://schemas.openxmlformats.org/drawingml/2006/main">
              <a:ext uri="{FF2B5EF4-FFF2-40B4-BE49-F238E27FC236}">
                <a16:creationId xmlns:a16="http://schemas.microsoft.com/office/drawing/2014/main" id="{4E019CAA-1935-4ADC-B2BE-323D1492F8A1}"/>
              </a:ext>
            </a:extLst>
          </p:cNvPr>
          <p:cNvSpPr>
            <a:spLocks xmlns:a="http://schemas.openxmlformats.org/drawingml/2006/main" noGrp="1"/>
          </p:cNvSpPr>
          <p:nvPr/>
        </p:nvSpPr>
        <p:spPr>
          <a:xfrm xmlns:a="http://schemas.openxmlformats.org/drawingml/2006/main">
            <a:off x="933450" y="3752850"/>
            <a:ext cx="2095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DCE6F7"/>
                </a:solidFill>
                <a:latin typeface="Arial"/>
                <a:ea typeface="Arial"/>
                <a:cs typeface="Arial"/>
              </a:defRPr>
            </a:defPPr>
          </a:lstStyle>
          <a:p xmlns:a="http://schemas.openxmlformats.org/drawingml/2006/main">
            <a:pPr algn="l">
              <a:defRPr sz="1650" b="0">
                <a:solidFill>
                  <a:srgbClr val="DCE6F7"/>
                </a:solidFill>
                <a:latin typeface="Arial"/>
                <a:ea typeface="Arial"/>
                <a:cs typeface="Arial"/>
              </a:defRPr>
            </a:pPr>
            <a:r>
              <a:rPr sz="1650" b="0">
                <a:solidFill>
                  <a:srgbClr val="DCE6F7"/>
                </a:solidFill>
                <a:latin typeface="Arial"/>
                <a:ea typeface="Arial"/>
                <a:cs typeface="Arial"/>
              </a:rPr>
              <a:t>Sales, debt,</a:t>
            </a:r>
          </a:p>
          <a:p xmlns:a="http://schemas.openxmlformats.org/drawingml/2006/main">
            <a:pPr algn="l">
              <a:defRPr sz="1650" b="0">
                <a:solidFill>
                  <a:srgbClr val="DCE6F7"/>
                </a:solidFill>
                <a:latin typeface="Arial"/>
                <a:ea typeface="Arial"/>
                <a:cs typeface="Arial"/>
              </a:defRPr>
            </a:pPr>
            <a:r>
              <a:rPr sz="1650" b="0">
                <a:solidFill>
                  <a:srgbClr val="DCE6F7"/>
                </a:solidFill>
                <a:latin typeface="Arial"/>
                <a:ea typeface="Arial"/>
                <a:cs typeface="Arial"/>
              </a:rPr>
              <a:t>stock and expenses</a:t>
            </a:r>
          </a:p>
        </p:txBody>
      </p:sp>
      <p:sp>
        <p:nvSpPr>
          <p:cNvPr id="7" name="Finance engines">
            <a:extLst xmlns:a="http://schemas.openxmlformats.org/drawingml/2006/main">
              <a:ext uri="{FF2B5EF4-FFF2-40B4-BE49-F238E27FC236}">
                <a16:creationId xmlns:a16="http://schemas.microsoft.com/office/drawing/2014/main" id="{FC163D1D-B9DB-4E37-B873-4A894A95B338}"/>
              </a:ext>
            </a:extLst>
          </p:cNvPr>
          <p:cNvSpPr>
            <a:spLocks xmlns:a="http://schemas.openxmlformats.org/drawingml/2006/main" noGrp="1"/>
          </p:cNvSpPr>
          <p:nvPr/>
        </p:nvSpPr>
        <p:spPr>
          <a:xfrm xmlns:a="http://schemas.openxmlformats.org/drawingml/2006/main">
            <a:off x="3543300" y="2933700"/>
            <a:ext cx="2514600" cy="1809750"/>
          </a:xfrm>
          <a:prstGeom xmlns:a="http://schemas.openxmlformats.org/drawingml/2006/main" prst="rect">
            <a:avLst/>
          </a:prstGeom>
          <a:solidFill xmlns:a="http://schemas.openxmlformats.org/drawingml/2006/main">
            <a:srgbClr val="1C3154"/>
          </a:solidFill>
          <a:ln xmlns:a="http://schemas.openxmlformats.org/drawingml/2006/main" w="14288">
            <a:solidFill>
              <a:srgbClr val="415779"/>
            </a:solidFill>
          </a:ln>
        </p:spPr>
      </p:sp>
      <p:sp>
        <p:nvSpPr>
          <p:cNvPr id="8" name="Finance engines">
            <a:extLst xmlns:a="http://schemas.openxmlformats.org/drawingml/2006/main">
              <a:ext uri="{FF2B5EF4-FFF2-40B4-BE49-F238E27FC236}">
                <a16:creationId xmlns:a16="http://schemas.microsoft.com/office/drawing/2014/main" id="{6D33B64C-F7E9-463D-B3F5-36AD2928BEAC}"/>
              </a:ext>
            </a:extLst>
          </p:cNvPr>
          <p:cNvSpPr>
            <a:spLocks xmlns:a="http://schemas.openxmlformats.org/drawingml/2006/main" noGrp="1"/>
          </p:cNvSpPr>
          <p:nvPr/>
        </p:nvSpPr>
        <p:spPr>
          <a:xfrm xmlns:a="http://schemas.openxmlformats.org/drawingml/2006/main">
            <a:off x="3752850" y="312420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FFFFFF"/>
                </a:solidFill>
                <a:latin typeface="Arial"/>
                <a:ea typeface="Arial"/>
                <a:cs typeface="Arial"/>
              </a:defRPr>
            </a:defPPr>
          </a:lstStyle>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Finance engines</a:t>
            </a:r>
          </a:p>
        </p:txBody>
      </p:sp>
      <p:sp>
        <p:nvSpPr>
          <p:cNvPr id="9" name="Cash forecast, metrics and eligibility">
            <a:extLst xmlns:a="http://schemas.openxmlformats.org/drawingml/2006/main">
              <a:ext uri="{FF2B5EF4-FFF2-40B4-BE49-F238E27FC236}">
                <a16:creationId xmlns:a16="http://schemas.microsoft.com/office/drawing/2014/main" id="{DB2E2D44-B674-42C2-BC79-B1B7F422A018}"/>
              </a:ext>
            </a:extLst>
          </p:cNvPr>
          <p:cNvSpPr>
            <a:spLocks xmlns:a="http://schemas.openxmlformats.org/drawingml/2006/main" noGrp="1"/>
          </p:cNvSpPr>
          <p:nvPr/>
        </p:nvSpPr>
        <p:spPr>
          <a:xfrm xmlns:a="http://schemas.openxmlformats.org/drawingml/2006/main">
            <a:off x="3752850" y="3752850"/>
            <a:ext cx="2095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DCE6F7"/>
                </a:solidFill>
                <a:latin typeface="Arial"/>
                <a:ea typeface="Arial"/>
                <a:cs typeface="Arial"/>
              </a:defRPr>
            </a:defPPr>
          </a:lstStyle>
          <a:p xmlns:a="http://schemas.openxmlformats.org/drawingml/2006/main">
            <a:pPr algn="l">
              <a:defRPr sz="1650" b="0">
                <a:solidFill>
                  <a:srgbClr val="DCE6F7"/>
                </a:solidFill>
                <a:latin typeface="Arial"/>
                <a:ea typeface="Arial"/>
                <a:cs typeface="Arial"/>
              </a:defRPr>
            </a:pPr>
            <a:r>
              <a:rPr sz="1650" b="0">
                <a:solidFill>
                  <a:srgbClr val="DCE6F7"/>
                </a:solidFill>
                <a:latin typeface="Arial"/>
                <a:ea typeface="Arial"/>
                <a:cs typeface="Arial"/>
              </a:rPr>
              <a:t>Cash forecast,</a:t>
            </a:r>
          </a:p>
          <a:p xmlns:a="http://schemas.openxmlformats.org/drawingml/2006/main">
            <a:pPr algn="l">
              <a:defRPr sz="1650" b="0">
                <a:solidFill>
                  <a:srgbClr val="DCE6F7"/>
                </a:solidFill>
                <a:latin typeface="Arial"/>
                <a:ea typeface="Arial"/>
                <a:cs typeface="Arial"/>
              </a:defRPr>
            </a:pPr>
            <a:r>
              <a:rPr sz="1650" b="0">
                <a:solidFill>
                  <a:srgbClr val="DCE6F7"/>
                </a:solidFill>
                <a:latin typeface="Arial"/>
                <a:ea typeface="Arial"/>
                <a:cs typeface="Arial"/>
              </a:rPr>
              <a:t>metrics and eligibility</a:t>
            </a:r>
          </a:p>
        </p:txBody>
      </p:sp>
      <p:sp>
        <p:nvSpPr>
          <p:cNvPr id="10" name="AI choice">
            <a:extLst xmlns:a="http://schemas.openxmlformats.org/drawingml/2006/main">
              <a:ext uri="{FF2B5EF4-FFF2-40B4-BE49-F238E27FC236}">
                <a16:creationId xmlns:a16="http://schemas.microsoft.com/office/drawing/2014/main" id="{FDBEC303-8B69-4122-9FB5-56694512903E}"/>
              </a:ext>
            </a:extLst>
          </p:cNvPr>
          <p:cNvSpPr>
            <a:spLocks xmlns:a="http://schemas.openxmlformats.org/drawingml/2006/main" noGrp="1"/>
          </p:cNvSpPr>
          <p:nvPr/>
        </p:nvSpPr>
        <p:spPr>
          <a:xfrm xmlns:a="http://schemas.openxmlformats.org/drawingml/2006/main">
            <a:off x="6362700" y="2933700"/>
            <a:ext cx="2514600" cy="1809750"/>
          </a:xfrm>
          <a:prstGeom xmlns:a="http://schemas.openxmlformats.org/drawingml/2006/main" prst="rect">
            <a:avLst/>
          </a:prstGeom>
          <a:solidFill xmlns:a="http://schemas.openxmlformats.org/drawingml/2006/main">
            <a:srgbClr val="1C3154"/>
          </a:solidFill>
          <a:ln xmlns:a="http://schemas.openxmlformats.org/drawingml/2006/main" w="14288">
            <a:solidFill>
              <a:srgbClr val="415779"/>
            </a:solidFill>
          </a:ln>
        </p:spPr>
      </p:sp>
      <p:sp>
        <p:nvSpPr>
          <p:cNvPr id="11" name="AI choice">
            <a:extLst xmlns:a="http://schemas.openxmlformats.org/drawingml/2006/main">
              <a:ext uri="{FF2B5EF4-FFF2-40B4-BE49-F238E27FC236}">
                <a16:creationId xmlns:a16="http://schemas.microsoft.com/office/drawing/2014/main" id="{E2C15964-C578-4137-BF1E-53DCAF62DA17}"/>
              </a:ext>
            </a:extLst>
          </p:cNvPr>
          <p:cNvSpPr>
            <a:spLocks xmlns:a="http://schemas.openxmlformats.org/drawingml/2006/main" noGrp="1"/>
          </p:cNvSpPr>
          <p:nvPr/>
        </p:nvSpPr>
        <p:spPr>
          <a:xfrm xmlns:a="http://schemas.openxmlformats.org/drawingml/2006/main">
            <a:off x="6572250" y="312420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FFFFFF"/>
                </a:solidFill>
                <a:latin typeface="Arial"/>
                <a:ea typeface="Arial"/>
                <a:cs typeface="Arial"/>
              </a:defRPr>
            </a:defPPr>
          </a:lstStyle>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AI choice</a:t>
            </a:r>
          </a:p>
        </p:txBody>
      </p:sp>
      <p:sp>
        <p:nvSpPr>
          <p:cNvPr id="12" name="Select or explain allowed options">
            <a:extLst xmlns:a="http://schemas.openxmlformats.org/drawingml/2006/main">
              <a:ext uri="{FF2B5EF4-FFF2-40B4-BE49-F238E27FC236}">
                <a16:creationId xmlns:a16="http://schemas.microsoft.com/office/drawing/2014/main" id="{DAFA0CCE-4021-481C-9344-35FDC3C122F7}"/>
              </a:ext>
            </a:extLst>
          </p:cNvPr>
          <p:cNvSpPr>
            <a:spLocks xmlns:a="http://schemas.openxmlformats.org/drawingml/2006/main" noGrp="1"/>
          </p:cNvSpPr>
          <p:nvPr/>
        </p:nvSpPr>
        <p:spPr>
          <a:xfrm xmlns:a="http://schemas.openxmlformats.org/drawingml/2006/main">
            <a:off x="6572250" y="3752850"/>
            <a:ext cx="2095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DCE6F7"/>
                </a:solidFill>
                <a:latin typeface="Arial"/>
                <a:ea typeface="Arial"/>
                <a:cs typeface="Arial"/>
              </a:defRPr>
            </a:defPPr>
          </a:lstStyle>
          <a:p xmlns:a="http://schemas.openxmlformats.org/drawingml/2006/main">
            <a:pPr algn="l">
              <a:defRPr sz="1650" b="0">
                <a:solidFill>
                  <a:srgbClr val="DCE6F7"/>
                </a:solidFill>
                <a:latin typeface="Arial"/>
                <a:ea typeface="Arial"/>
                <a:cs typeface="Arial"/>
              </a:defRPr>
            </a:pPr>
            <a:r>
              <a:rPr sz="1650" b="0">
                <a:solidFill>
                  <a:srgbClr val="DCE6F7"/>
                </a:solidFill>
                <a:latin typeface="Arial"/>
                <a:ea typeface="Arial"/>
                <a:cs typeface="Arial"/>
              </a:rPr>
              <a:t>Select or explain</a:t>
            </a:r>
          </a:p>
          <a:p xmlns:a="http://schemas.openxmlformats.org/drawingml/2006/main">
            <a:pPr algn="l">
              <a:defRPr sz="1650" b="0">
                <a:solidFill>
                  <a:srgbClr val="DCE6F7"/>
                </a:solidFill>
                <a:latin typeface="Arial"/>
                <a:ea typeface="Arial"/>
                <a:cs typeface="Arial"/>
              </a:defRPr>
            </a:pPr>
            <a:r>
              <a:rPr sz="1650" b="0">
                <a:solidFill>
                  <a:srgbClr val="DCE6F7"/>
                </a:solidFill>
                <a:latin typeface="Arial"/>
                <a:ea typeface="Arial"/>
                <a:cs typeface="Arial"/>
              </a:rPr>
              <a:t>allowed options</a:t>
            </a:r>
          </a:p>
        </p:txBody>
      </p:sp>
      <p:sp>
        <p:nvSpPr>
          <p:cNvPr id="13" name="Owner review">
            <a:extLst xmlns:a="http://schemas.openxmlformats.org/drawingml/2006/main">
              <a:ext uri="{FF2B5EF4-FFF2-40B4-BE49-F238E27FC236}">
                <a16:creationId xmlns:a16="http://schemas.microsoft.com/office/drawing/2014/main" id="{783EEBA4-CA0A-4C3E-B4C0-5EFEFB8EAF2B}"/>
              </a:ext>
            </a:extLst>
          </p:cNvPr>
          <p:cNvSpPr>
            <a:spLocks xmlns:a="http://schemas.openxmlformats.org/drawingml/2006/main" noGrp="1"/>
          </p:cNvSpPr>
          <p:nvPr/>
        </p:nvSpPr>
        <p:spPr>
          <a:xfrm xmlns:a="http://schemas.openxmlformats.org/drawingml/2006/main">
            <a:off x="9182100" y="2933700"/>
            <a:ext cx="2514600" cy="1809750"/>
          </a:xfrm>
          <a:prstGeom xmlns:a="http://schemas.openxmlformats.org/drawingml/2006/main" prst="rect">
            <a:avLst/>
          </a:prstGeom>
          <a:solidFill xmlns:a="http://schemas.openxmlformats.org/drawingml/2006/main">
            <a:srgbClr val="2463EB"/>
          </a:solidFill>
          <a:ln xmlns:a="http://schemas.openxmlformats.org/drawingml/2006/main" w="14288">
            <a:solidFill>
              <a:srgbClr val="415779"/>
            </a:solidFill>
          </a:ln>
        </p:spPr>
      </p:sp>
      <p:sp>
        <p:nvSpPr>
          <p:cNvPr id="14" name="Owner review">
            <a:extLst xmlns:a="http://schemas.openxmlformats.org/drawingml/2006/main">
              <a:ext uri="{FF2B5EF4-FFF2-40B4-BE49-F238E27FC236}">
                <a16:creationId xmlns:a16="http://schemas.microsoft.com/office/drawing/2014/main" id="{B2108D5E-1735-4318-8E0A-981033BBD58E}"/>
              </a:ext>
            </a:extLst>
          </p:cNvPr>
          <p:cNvSpPr>
            <a:spLocks xmlns:a="http://schemas.openxmlformats.org/drawingml/2006/main" noGrp="1"/>
          </p:cNvSpPr>
          <p:nvPr/>
        </p:nvSpPr>
        <p:spPr>
          <a:xfrm xmlns:a="http://schemas.openxmlformats.org/drawingml/2006/main">
            <a:off x="9391650" y="312420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FFFFFF"/>
                </a:solidFill>
                <a:latin typeface="Arial"/>
                <a:ea typeface="Arial"/>
                <a:cs typeface="Arial"/>
              </a:defRPr>
            </a:defPPr>
          </a:lstStyle>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Owner review</a:t>
            </a:r>
          </a:p>
        </p:txBody>
      </p:sp>
      <p:sp>
        <p:nvSpPr>
          <p:cNvPr id="15" name="Approve or reject a proposed plan">
            <a:extLst xmlns:a="http://schemas.openxmlformats.org/drawingml/2006/main">
              <a:ext uri="{FF2B5EF4-FFF2-40B4-BE49-F238E27FC236}">
                <a16:creationId xmlns:a16="http://schemas.microsoft.com/office/drawing/2014/main" id="{479962EB-9DDD-4551-9FF4-7AEF78322E5D}"/>
              </a:ext>
            </a:extLst>
          </p:cNvPr>
          <p:cNvSpPr>
            <a:spLocks xmlns:a="http://schemas.openxmlformats.org/drawingml/2006/main" noGrp="1"/>
          </p:cNvSpPr>
          <p:nvPr/>
        </p:nvSpPr>
        <p:spPr>
          <a:xfrm xmlns:a="http://schemas.openxmlformats.org/drawingml/2006/main">
            <a:off x="9391650" y="3752850"/>
            <a:ext cx="2095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DCE6F7"/>
                </a:solidFill>
                <a:latin typeface="Arial"/>
                <a:ea typeface="Arial"/>
                <a:cs typeface="Arial"/>
              </a:defRPr>
            </a:defPPr>
          </a:lstStyle>
          <a:p xmlns:a="http://schemas.openxmlformats.org/drawingml/2006/main">
            <a:pPr algn="l">
              <a:defRPr sz="1650" b="0">
                <a:solidFill>
                  <a:srgbClr val="DCE6F7"/>
                </a:solidFill>
                <a:latin typeface="Arial"/>
                <a:ea typeface="Arial"/>
                <a:cs typeface="Arial"/>
              </a:defRPr>
            </a:pPr>
            <a:r>
              <a:rPr sz="1650" b="0">
                <a:solidFill>
                  <a:srgbClr val="DCE6F7"/>
                </a:solidFill>
                <a:latin typeface="Arial"/>
                <a:ea typeface="Arial"/>
                <a:cs typeface="Arial"/>
              </a:rPr>
              <a:t>Approve or reject</a:t>
            </a:r>
          </a:p>
          <a:p xmlns:a="http://schemas.openxmlformats.org/drawingml/2006/main">
            <a:pPr algn="l">
              <a:defRPr sz="1650" b="0">
                <a:solidFill>
                  <a:srgbClr val="DCE6F7"/>
                </a:solidFill>
                <a:latin typeface="Arial"/>
                <a:ea typeface="Arial"/>
                <a:cs typeface="Arial"/>
              </a:defRPr>
            </a:pPr>
            <a:r>
              <a:rPr sz="1650" b="0">
                <a:solidFill>
                  <a:srgbClr val="DCE6F7"/>
                </a:solidFill>
                <a:latin typeface="Arial"/>
                <a:ea typeface="Arial"/>
                <a:cs typeface="Arial"/>
              </a:rPr>
              <a:t>a proposed plan</a:t>
            </a:r>
          </a:p>
        </p:txBody>
      </p:sp>
      <p:sp>
        <p:nvSpPr>
          <p:cNvPr id="16" name="Outcome record">
            <a:extLst xmlns:a="http://schemas.openxmlformats.org/drawingml/2006/main">
              <a:ext uri="{FF2B5EF4-FFF2-40B4-BE49-F238E27FC236}">
                <a16:creationId xmlns:a16="http://schemas.microsoft.com/office/drawing/2014/main" id="{59EB10EB-1B3C-4465-A01A-5F29C98B584A}"/>
              </a:ext>
            </a:extLst>
          </p:cNvPr>
          <p:cNvSpPr>
            <a:spLocks xmlns:a="http://schemas.openxmlformats.org/drawingml/2006/main" noGrp="1"/>
          </p:cNvSpPr>
          <p:nvPr/>
        </p:nvSpPr>
        <p:spPr>
          <a:xfrm xmlns:a="http://schemas.openxmlformats.org/drawingml/2006/main">
            <a:off x="12001500" y="2933700"/>
            <a:ext cx="2514600" cy="1809750"/>
          </a:xfrm>
          <a:prstGeom xmlns:a="http://schemas.openxmlformats.org/drawingml/2006/main" prst="rect">
            <a:avLst/>
          </a:prstGeom>
          <a:solidFill xmlns:a="http://schemas.openxmlformats.org/drawingml/2006/main">
            <a:srgbClr val="1C3154"/>
          </a:solidFill>
          <a:ln xmlns:a="http://schemas.openxmlformats.org/drawingml/2006/main" w="14288">
            <a:solidFill>
              <a:srgbClr val="415779"/>
            </a:solidFill>
          </a:ln>
        </p:spPr>
      </p:sp>
      <p:sp>
        <p:nvSpPr>
          <p:cNvPr id="17" name="Outcome record">
            <a:extLst xmlns:a="http://schemas.openxmlformats.org/drawingml/2006/main">
              <a:ext uri="{FF2B5EF4-FFF2-40B4-BE49-F238E27FC236}">
                <a16:creationId xmlns:a16="http://schemas.microsoft.com/office/drawing/2014/main" id="{7996C894-BC2C-4B1F-9398-1A3D0164D06D}"/>
              </a:ext>
            </a:extLst>
          </p:cNvPr>
          <p:cNvSpPr>
            <a:spLocks xmlns:a="http://schemas.openxmlformats.org/drawingml/2006/main" noGrp="1"/>
          </p:cNvSpPr>
          <p:nvPr/>
        </p:nvSpPr>
        <p:spPr>
          <a:xfrm xmlns:a="http://schemas.openxmlformats.org/drawingml/2006/main">
            <a:off x="12211050" y="312420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FFFFFF"/>
                </a:solidFill>
                <a:latin typeface="Arial"/>
                <a:ea typeface="Arial"/>
                <a:cs typeface="Arial"/>
              </a:defRPr>
            </a:defPPr>
          </a:lstStyle>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Outcome record</a:t>
            </a:r>
          </a:p>
        </p:txBody>
      </p:sp>
      <p:sp>
        <p:nvSpPr>
          <p:cNvPr id="18" name="Link recorded events and inspect results">
            <a:extLst xmlns:a="http://schemas.openxmlformats.org/drawingml/2006/main">
              <a:ext uri="{FF2B5EF4-FFF2-40B4-BE49-F238E27FC236}">
                <a16:creationId xmlns:a16="http://schemas.microsoft.com/office/drawing/2014/main" id="{1662C8E3-37B4-447E-B0B7-AE1C059C895B}"/>
              </a:ext>
            </a:extLst>
          </p:cNvPr>
          <p:cNvSpPr>
            <a:spLocks xmlns:a="http://schemas.openxmlformats.org/drawingml/2006/main" noGrp="1"/>
          </p:cNvSpPr>
          <p:nvPr/>
        </p:nvSpPr>
        <p:spPr>
          <a:xfrm xmlns:a="http://schemas.openxmlformats.org/drawingml/2006/main">
            <a:off x="12211050" y="3752850"/>
            <a:ext cx="2095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DCE6F7"/>
                </a:solidFill>
                <a:latin typeface="Arial"/>
                <a:ea typeface="Arial"/>
                <a:cs typeface="Arial"/>
              </a:defRPr>
            </a:defPPr>
          </a:lstStyle>
          <a:p xmlns:a="http://schemas.openxmlformats.org/drawingml/2006/main">
            <a:pPr algn="l">
              <a:defRPr sz="1650" b="0">
                <a:solidFill>
                  <a:srgbClr val="DCE6F7"/>
                </a:solidFill>
                <a:latin typeface="Arial"/>
                <a:ea typeface="Arial"/>
                <a:cs typeface="Arial"/>
              </a:defRPr>
            </a:pPr>
            <a:r>
              <a:rPr sz="1650" b="0">
                <a:solidFill>
                  <a:srgbClr val="DCE6F7"/>
                </a:solidFill>
                <a:latin typeface="Arial"/>
                <a:ea typeface="Arial"/>
                <a:cs typeface="Arial"/>
              </a:rPr>
              <a:t>Link recorded events</a:t>
            </a:r>
          </a:p>
          <a:p xmlns:a="http://schemas.openxmlformats.org/drawingml/2006/main">
            <a:pPr algn="l">
              <a:defRPr sz="1650" b="0">
                <a:solidFill>
                  <a:srgbClr val="DCE6F7"/>
                </a:solidFill>
                <a:latin typeface="Arial"/>
                <a:ea typeface="Arial"/>
                <a:cs typeface="Arial"/>
              </a:defRPr>
            </a:pPr>
            <a:r>
              <a:rPr sz="1650" b="0">
                <a:solidFill>
                  <a:srgbClr val="DCE6F7"/>
                </a:solidFill>
                <a:latin typeface="Arial"/>
                <a:ea typeface="Arial"/>
                <a:cs typeface="Arial"/>
              </a:rPr>
              <a:t>and inspect results</a:t>
            </a:r>
          </a:p>
        </p:txBody>
      </p:sp>
      <p:sp>
        <p:nvSpPr>
          <p:cNvPr id="23" name="Example: overdue customer payment">
            <a:extLst xmlns:a="http://schemas.openxmlformats.org/drawingml/2006/main">
              <a:ext uri="{FF2B5EF4-FFF2-40B4-BE49-F238E27FC236}">
                <a16:creationId xmlns:a16="http://schemas.microsoft.com/office/drawing/2014/main" id="{A424EDF9-59F9-4FEA-ABB5-38D7EFB75F05}"/>
              </a:ext>
            </a:extLst>
          </p:cNvPr>
          <p:cNvSpPr>
            <a:spLocks xmlns:a="http://schemas.openxmlformats.org/drawingml/2006/main" noGrp="1"/>
          </p:cNvSpPr>
          <p:nvPr/>
        </p:nvSpPr>
        <p:spPr>
          <a:xfrm xmlns:a="http://schemas.openxmlformats.org/drawingml/2006/main">
            <a:off x="723900" y="5476875"/>
            <a:ext cx="1343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FFFFFF"/>
                </a:solidFill>
                <a:latin typeface="Arial"/>
                <a:ea typeface="Arial"/>
                <a:cs typeface="Arial"/>
              </a:defRPr>
            </a:defPPr>
          </a:lstStyle>
          <a:p xmlns:a="http://schemas.openxmlformats.org/drawingml/2006/main">
            <a:pPr algn="l">
              <a:defRPr sz="2625" b="1">
                <a:solidFill>
                  <a:srgbClr val="FFFFFF"/>
                </a:solidFill>
                <a:latin typeface="Arial"/>
                <a:ea typeface="Arial"/>
                <a:cs typeface="Arial"/>
              </a:defRPr>
            </a:pPr>
            <a:r>
              <a:rPr sz="2625" b="1">
                <a:solidFill>
                  <a:srgbClr val="FFFFFF"/>
                </a:solidFill>
                <a:latin typeface="Arial"/>
                <a:ea typeface="Arial"/>
                <a:cs typeface="Arial"/>
              </a:rPr>
              <a:t>Example: overdue customer payment</a:t>
            </a:r>
          </a:p>
        </p:txBody>
      </p:sp>
      <p:sp>
        <p:nvSpPr>
          <p:cNvPr id="24" name="A cash alert leads to a proposed collection plan. The owner ">
            <a:extLst xmlns:a="http://schemas.openxmlformats.org/drawingml/2006/main">
              <a:ext uri="{FF2B5EF4-FFF2-40B4-BE49-F238E27FC236}">
                <a16:creationId xmlns:a16="http://schemas.microsoft.com/office/drawing/2014/main" id="{91FC3A35-8AD4-4257-9226-C99425793721}"/>
              </a:ext>
            </a:extLst>
          </p:cNvPr>
          <p:cNvSpPr>
            <a:spLocks xmlns:a="http://schemas.openxmlformats.org/drawingml/2006/main" noGrp="1"/>
          </p:cNvSpPr>
          <p:nvPr/>
        </p:nvSpPr>
        <p:spPr>
          <a:xfrm xmlns:a="http://schemas.openxmlformats.org/drawingml/2006/main">
            <a:off x="723900" y="6162675"/>
            <a:ext cx="13430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ADBBD2"/>
                </a:solidFill>
                <a:latin typeface="Arial"/>
                <a:ea typeface="Arial"/>
                <a:cs typeface="Arial"/>
              </a:defRPr>
            </a:defPPr>
          </a:lstStyle>
          <a:p xmlns:a="http://schemas.openxmlformats.org/drawingml/2006/main">
            <a:pPr algn="l">
              <a:defRPr sz="2400" b="0">
                <a:solidFill>
                  <a:srgbClr val="ADBBD2"/>
                </a:solidFill>
                <a:latin typeface="Arial"/>
                <a:ea typeface="Arial"/>
                <a:cs typeface="Arial"/>
              </a:defRPr>
            </a:pPr>
            <a:r>
              <a:rPr sz="2400" b="0">
                <a:solidFill>
                  <a:srgbClr val="ADBBD2"/>
                </a:solidFill>
                <a:latin typeface="Arial"/>
                <a:ea typeface="Arial"/>
                <a:cs typeface="Arial"/>
              </a:rPr>
              <a:t>A cash alert leads to a proposed collection plan. The owner reviews it.</a:t>
            </a:r>
          </a:p>
          <a:p xmlns:a="http://schemas.openxmlformats.org/drawingml/2006/main">
            <a:pPr algn="l">
              <a:defRPr sz="2400" b="0">
                <a:solidFill>
                  <a:srgbClr val="ADBBD2"/>
                </a:solidFill>
                <a:latin typeface="Arial"/>
                <a:ea typeface="Arial"/>
                <a:cs typeface="Arial"/>
              </a:defRPr>
            </a:pPr>
            <a:r>
              <a:rPr sz="2400" b="0">
                <a:solidFill>
                  <a:srgbClr val="ADBBD2"/>
                </a:solidFill>
                <a:latin typeface="Arial"/>
                <a:ea typeface="Arial"/>
                <a:cs typeface="Arial"/>
              </a:rPr>
              <a:t>A recorded payment can later supply evidence of collection.</a:t>
            </a:r>
          </a:p>
        </p:txBody>
      </p:sp>
      <p:sp>
        <p:nvSpPr>
          <p:cNvPr id="25" name="Approval records a decision. The application does not execut">
            <a:extLst xmlns:a="http://schemas.openxmlformats.org/drawingml/2006/main">
              <a:ext uri="{FF2B5EF4-FFF2-40B4-BE49-F238E27FC236}">
                <a16:creationId xmlns:a16="http://schemas.microsoft.com/office/drawing/2014/main" id="{6C574D95-7678-44F0-929D-525BD4905494}"/>
              </a:ext>
            </a:extLst>
          </p:cNvPr>
          <p:cNvSpPr>
            <a:spLocks xmlns:a="http://schemas.openxmlformats.org/drawingml/2006/main" noGrp="1"/>
          </p:cNvSpPr>
          <p:nvPr/>
        </p:nvSpPr>
        <p:spPr>
          <a:xfrm xmlns:a="http://schemas.openxmlformats.org/drawingml/2006/main">
            <a:off x="685800" y="7915275"/>
            <a:ext cx="13868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ADBBD2"/>
                </a:solidFill>
                <a:latin typeface="Arial"/>
                <a:ea typeface="Arial"/>
                <a:cs typeface="Arial"/>
              </a:defRPr>
            </a:defPPr>
          </a:lstStyle>
          <a:p xmlns:a="http://schemas.openxmlformats.org/drawingml/2006/main">
            <a:pPr algn="l">
              <a:defRPr sz="1425" b="0">
                <a:solidFill>
                  <a:srgbClr val="ADBBD2"/>
                </a:solidFill>
                <a:latin typeface="Arial"/>
                <a:ea typeface="Arial"/>
                <a:cs typeface="Arial"/>
              </a:defRPr>
            </a:pPr>
            <a:r>
              <a:rPr sz="1425" b="0">
                <a:solidFill>
                  <a:srgbClr val="ADBBD2"/>
                </a:solidFill>
                <a:latin typeface="Arial"/>
                <a:ea typeface="Arial"/>
                <a:cs typeface="Arial"/>
              </a:rPr>
              <a:t>Approval records a decision. The application does not execute a bank transfer.</a:t>
            </a:r>
          </a:p>
        </p:txBody>
      </p:sp>
    </p:spTree>
    <p:extLst>
      <p:ext uri="{BB962C8B-B14F-4D97-AF65-F5344CB8AC3E}">
        <p14:creationId xmlns:p14="http://schemas.microsoft.com/office/powerpoint/2010/main" val="927724810"/>
      </p:ext>
    </p:extLst>
  </p:cSld>
</p:sld>
</file>

<file path=ppt/slides/slide5.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8" name="BizWizard">
            <a:extLst xmlns:a="http://schemas.openxmlformats.org/drawingml/2006/main">
              <a:ext uri="{FF2B5EF4-FFF2-40B4-BE49-F238E27FC236}">
                <a16:creationId xmlns:a16="http://schemas.microsoft.com/office/drawing/2014/main" id="{A530DB94-3D9A-4F16-AFE5-73775C093C76}"/>
              </a:ext>
            </a:extLst>
          </p:cNvPr>
          <p:cNvSpPr>
            <a:spLocks xmlns:a="http://schemas.openxmlformats.org/drawingml/2006/main" noGrp="1"/>
          </p:cNvSpPr>
          <p:nvPr/>
        </p:nvSpPr>
        <p:spPr>
          <a:xfrm xmlns:a="http://schemas.openxmlformats.org/drawingml/2006/main">
            <a:off x="685800" y="3238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01F3C"/>
                </a:solidFill>
                <a:latin typeface="Arial"/>
                <a:ea typeface="Arial"/>
                <a:cs typeface="Arial"/>
              </a:defRPr>
            </a:defPPr>
          </a:lstStyle>
          <a:p xmlns:a="http://schemas.openxmlformats.org/drawingml/2006/main">
            <a:pPr algn="l">
              <a:defRPr sz="1575" b="1">
                <a:solidFill>
                  <a:srgbClr val="101F3C"/>
                </a:solidFill>
                <a:latin typeface="Arial"/>
                <a:ea typeface="Arial"/>
                <a:cs typeface="Arial"/>
              </a:defRPr>
            </a:pPr>
            <a:r>
              <a:rPr sz="1575" b="1">
                <a:solidFill>
                  <a:srgbClr val="101F3C"/>
                </a:solidFill>
                <a:latin typeface="Arial"/>
                <a:ea typeface="Arial"/>
                <a:cs typeface="Arial"/>
              </a:rPr>
              <a:t>BizWizard</a:t>
            </a:r>
          </a:p>
        </p:txBody>
      </p:sp>
      <p:sp>
        <p:nvSpPr>
          <p:cNvPr id="2" name="05">
            <a:extLst xmlns:a="http://schemas.openxmlformats.org/drawingml/2006/main">
              <a:ext uri="{FF2B5EF4-FFF2-40B4-BE49-F238E27FC236}">
                <a16:creationId xmlns:a16="http://schemas.microsoft.com/office/drawing/2014/main" id="{4430FAEB-4D72-40BB-B49F-DF4BBF7B5A9E}"/>
              </a:ext>
            </a:extLst>
          </p:cNvPr>
          <p:cNvSpPr>
            <a:spLocks xmlns:a="http://schemas.openxmlformats.org/drawingml/2006/main" noGrp="1"/>
          </p:cNvSpPr>
          <p:nvPr/>
        </p:nvSpPr>
        <p:spPr>
          <a:xfrm xmlns:a="http://schemas.openxmlformats.org/drawingml/2006/main">
            <a:off x="12573000" y="323850"/>
            <a:ext cx="198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37089"/>
                </a:solidFill>
                <a:latin typeface="Arial"/>
                <a:ea typeface="Arial"/>
                <a:cs typeface="Arial"/>
              </a:defRPr>
            </a:defPPr>
          </a:lstStyle>
          <a:p xmlns:a="http://schemas.openxmlformats.org/drawingml/2006/main">
            <a:pPr algn="r">
              <a:defRPr sz="1425" b="0">
                <a:solidFill>
                  <a:srgbClr val="637089"/>
                </a:solidFill>
                <a:latin typeface="Arial"/>
                <a:ea typeface="Arial"/>
                <a:cs typeface="Arial"/>
              </a:defRPr>
            </a:pPr>
            <a:r>
              <a:rPr sz="1425" b="0">
                <a:solidFill>
                  <a:srgbClr val="637089"/>
                </a:solidFill>
                <a:latin typeface="Arial"/>
                <a:ea typeface="Arial"/>
                <a:cs typeface="Arial"/>
              </a:rPr>
              <a:t>05</a:t>
            </a:r>
          </a:p>
        </p:txBody>
      </p:sp>
      <p:sp>
        <p:nvSpPr>
          <p:cNvPr id="3" name="Slide heading">
            <a:extLst xmlns:a="http://schemas.openxmlformats.org/drawingml/2006/main">
              <a:ext uri="{FF2B5EF4-FFF2-40B4-BE49-F238E27FC236}">
                <a16:creationId xmlns:a16="http://schemas.microsoft.com/office/drawing/2014/main" id="{FF353AD0-2028-472B-96F5-33410E4D4EA1}"/>
              </a:ext>
            </a:extLst>
          </p:cNvPr>
          <p:cNvSpPr>
            <a:spLocks xmlns:a="http://schemas.openxmlformats.org/drawingml/2006/main" noGrp="1"/>
          </p:cNvSpPr>
          <p:nvPr/>
        </p:nvSpPr>
        <p:spPr>
          <a:xfrm xmlns:a="http://schemas.openxmlformats.org/drawingml/2006/main">
            <a:off x="685800" y="1000125"/>
            <a:ext cx="138684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13243F"/>
                </a:solidFill>
                <a:latin typeface="Arial"/>
                <a:ea typeface="Arial"/>
                <a:cs typeface="Arial"/>
              </a:defRPr>
            </a:defPPr>
          </a:lstStyle>
          <a:p xmlns:a="http://schemas.openxmlformats.org/drawingml/2006/main">
            <a:pPr algn="l">
              <a:defRPr sz="4500" b="1">
                <a:solidFill>
                  <a:srgbClr val="13243F"/>
                </a:solidFill>
                <a:latin typeface="Arial"/>
                <a:ea typeface="Arial"/>
                <a:cs typeface="Arial"/>
              </a:defRPr>
            </a:pPr>
            <a:r>
              <a:rPr sz="4500" b="1">
                <a:solidFill>
                  <a:srgbClr val="13243F"/>
                </a:solidFill>
                <a:latin typeface="Arial"/>
                <a:ea typeface="Arial"/>
                <a:cs typeface="Arial"/>
              </a:rPr>
              <a:t>Daily work inside BizWizard</a:t>
            </a:r>
          </a:p>
        </p:txBody>
      </p:sp>
      <p:sp>
        <p:nvSpPr>
          <p:cNvPr id="4" name="The finance copilot reads the platform’s saved business reco">
            <a:extLst xmlns:a="http://schemas.openxmlformats.org/drawingml/2006/main">
              <a:ext uri="{FF2B5EF4-FFF2-40B4-BE49-F238E27FC236}">
                <a16:creationId xmlns:a16="http://schemas.microsoft.com/office/drawing/2014/main" id="{A0600AFE-7F94-4C21-807C-7E82EE2F75E3}"/>
              </a:ext>
            </a:extLst>
          </p:cNvPr>
          <p:cNvSpPr>
            <a:spLocks xmlns:a="http://schemas.openxmlformats.org/drawingml/2006/main" noGrp="1"/>
          </p:cNvSpPr>
          <p:nvPr/>
        </p:nvSpPr>
        <p:spPr>
          <a:xfrm xmlns:a="http://schemas.openxmlformats.org/drawingml/2006/main">
            <a:off x="723900" y="2295525"/>
            <a:ext cx="13792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3243F"/>
                </a:solidFill>
                <a:latin typeface="Arial"/>
                <a:ea typeface="Arial"/>
                <a:cs typeface="Arial"/>
              </a:defRPr>
            </a:defPPr>
          </a:lstStyle>
          <a:p xmlns:a="http://schemas.openxmlformats.org/drawingml/2006/main">
            <a:pPr algn="l">
              <a:defRPr sz="2400" b="1">
                <a:solidFill>
                  <a:srgbClr val="13243F"/>
                </a:solidFill>
                <a:latin typeface="Arial"/>
                <a:ea typeface="Arial"/>
                <a:cs typeface="Arial"/>
              </a:defRPr>
            </a:pPr>
            <a:r>
              <a:rPr sz="2400" b="1">
                <a:solidFill>
                  <a:srgbClr val="13243F"/>
                </a:solidFill>
                <a:latin typeface="Arial"/>
                <a:ea typeface="Arial"/>
                <a:cs typeface="Arial"/>
              </a:rPr>
              <a:t>The finance copilot reads the platform’s saved business records.</a:t>
            </a:r>
          </a:p>
        </p:txBody>
      </p:sp>
      <p:graphicFrame>
        <p:nvGraphicFramePr>
          <p:cNvPr id="5" name="">
            <a:extLst xmlns:a="http://schemas.openxmlformats.org/drawingml/2006/main">
              <a:ext uri="{FF2B5EF4-FFF2-40B4-BE49-F238E27FC236}">
                <a16:creationId xmlns:a16="http://schemas.microsoft.com/office/drawing/2014/main" id="{ADDFD258-86A8-45E0-AAB2-0646EBCC0396}"/>
              </a:ext>
            </a:extLst>
          </p:cNvPr>
          <p:cNvGraphicFramePr/>
          <p:nvPr/>
        </p:nvGraphicFramePr>
        <p:xfrm>
          <a:off xmlns:a="http://schemas.openxmlformats.org/drawingml/2006/main" x="723900" y="3000375"/>
          <a:ext xmlns:a="http://schemas.openxmlformats.org/drawingml/2006/main" cx="13792200" cy="3829050"/>
        </p:xfrm>
        <a:graphic xmlns:a="http://schemas.openxmlformats.org/drawingml/2006/main">
          <a:graphicData uri="http://schemas.openxmlformats.org/drawingml/2006/table">
            <a:tbl>
              <a:tblPr firstRow="1" bandRow="0"/>
              <a:tblGrid>
                <a:gridCol w="3257550"/>
                <a:gridCol w="5734050"/>
                <a:gridCol w="4800600"/>
              </a:tblGrid>
              <a:tr h="638175">
                <a:tc>
                  <a:txBody>
                    <a:bodyPr lIns="133350" tIns="133350" rIns="133350" bIns="95250"/>
                    <a:lstStyle/>
                    <a:p>
                      <a:r>
                        <a:rPr sz="1875" b="1">
                          <a:solidFill>
                            <a:srgbClr val="FFFFFF"/>
                          </a:solidFill>
                          <a:latin typeface="Arial"/>
                          <a:ea typeface="Arial"/>
                          <a:cs typeface="Arial"/>
                        </a:rPr>
                        <a:t>Daily activity</a:t>
                      </a:r>
                    </a:p>
                  </a:txBody>
                  <a:tcPr marL="91440" marR="91440" marT="45720" marB="45720" anchor="ctr">
                    <a:lnL w="6668">
                      <a:solidFill>
                        <a:srgbClr val="F6F8FC"/>
                      </a:solidFill>
                      <a:prstDash val="solid"/>
                    </a:lnL>
                    <a:lnR w="6668">
                      <a:solidFill>
                        <a:srgbClr val="F6F8FC"/>
                      </a:solidFill>
                      <a:prstDash val="solid"/>
                    </a:lnR>
                    <a:lnT w="6668">
                      <a:solidFill>
                        <a:srgbClr val="F6F8FC"/>
                      </a:solidFill>
                      <a:prstDash val="solid"/>
                    </a:lnT>
                    <a:lnB w="6668">
                      <a:solidFill>
                        <a:srgbClr val="F6F8FC"/>
                      </a:solidFill>
                      <a:prstDash val="solid"/>
                    </a:lnB>
                    <a:solidFill>
                      <a:srgbClr val="101F3C"/>
                    </a:solidFill>
                  </a:tcPr>
                </a:tc>
                <a:tc>
                  <a:txBody>
                    <a:bodyPr lIns="133350" tIns="133350" rIns="133350" bIns="95250"/>
                    <a:lstStyle/>
                    <a:p>
                      <a:r>
                        <a:rPr sz="1875" b="1">
                          <a:solidFill>
                            <a:srgbClr val="FFFFFF"/>
                          </a:solidFill>
                          <a:latin typeface="Arial"/>
                          <a:ea typeface="Arial"/>
                          <a:cs typeface="Arial"/>
                        </a:rPr>
                        <a:t>Saved business records</a:t>
                      </a:r>
                    </a:p>
                  </a:txBody>
                  <a:tcPr marL="91440" marR="91440" marT="45720" marB="45720" anchor="ctr">
                    <a:lnR w="6668">
                      <a:solidFill>
                        <a:srgbClr val="F6F8FC"/>
                      </a:solidFill>
                      <a:prstDash val="solid"/>
                    </a:lnR>
                    <a:lnT w="6668">
                      <a:solidFill>
                        <a:srgbClr val="F6F8FC"/>
                      </a:solidFill>
                      <a:prstDash val="solid"/>
                    </a:lnT>
                    <a:lnB w="6668">
                      <a:solidFill>
                        <a:srgbClr val="F6F8FC"/>
                      </a:solidFill>
                      <a:prstDash val="solid"/>
                    </a:lnB>
                    <a:solidFill>
                      <a:srgbClr val="101F3C"/>
                    </a:solidFill>
                  </a:tcPr>
                </a:tc>
                <a:tc>
                  <a:txBody>
                    <a:bodyPr lIns="133350" tIns="133350" rIns="133350" bIns="95250"/>
                    <a:lstStyle/>
                    <a:p>
                      <a:r>
                        <a:rPr sz="1875" b="1">
                          <a:solidFill>
                            <a:srgbClr val="FFFFFF"/>
                          </a:solidFill>
                          <a:latin typeface="Arial"/>
                          <a:ea typeface="Arial"/>
                          <a:cs typeface="Arial"/>
                        </a:rPr>
                        <a:t>Connection to finance</a:t>
                      </a:r>
                    </a:p>
                  </a:txBody>
                  <a:tcPr marL="91440" marR="91440" marT="45720" marB="45720" anchor="ctr">
                    <a:lnR w="6668">
                      <a:solidFill>
                        <a:srgbClr val="F6F8FC"/>
                      </a:solidFill>
                      <a:prstDash val="solid"/>
                    </a:lnR>
                    <a:lnT w="6668">
                      <a:solidFill>
                        <a:srgbClr val="F6F8FC"/>
                      </a:solidFill>
                      <a:prstDash val="solid"/>
                    </a:lnT>
                    <a:lnB w="6668">
                      <a:solidFill>
                        <a:srgbClr val="F6F8FC"/>
                      </a:solidFill>
                      <a:prstDash val="solid"/>
                    </a:lnB>
                    <a:solidFill>
                      <a:srgbClr val="101F3C"/>
                    </a:solidFill>
                  </a:tcPr>
                </a:tc>
              </a:tr>
              <a:tr h="638175">
                <a:tc>
                  <a:txBody>
                    <a:bodyPr lIns="133350" tIns="133350" rIns="133350" bIns="95250"/>
                    <a:lstStyle/>
                    <a:p>
                      <a:r>
                        <a:rPr sz="1875" b="0">
                          <a:solidFill>
                            <a:srgbClr val="13243F"/>
                          </a:solidFill>
                          <a:latin typeface="Arial"/>
                          <a:ea typeface="Arial"/>
                          <a:cs typeface="Arial"/>
                        </a:rPr>
                        <a:t>Buy and manage stock</a:t>
                      </a:r>
                    </a:p>
                  </a:txBody>
                  <a:tcPr marL="91440" marR="91440" marT="45720" marB="45720" anchor="ctr">
                    <a:lnL w="6668">
                      <a:solidFill>
                        <a:srgbClr val="F6F8FC"/>
                      </a:solidFill>
                      <a:prstDash val="solid"/>
                    </a:lnL>
                    <a:lnR w="6668">
                      <a:solidFill>
                        <a:srgbClr val="F6F8FC"/>
                      </a:solidFill>
                      <a:prstDash val="solid"/>
                    </a:lnR>
                    <a:lnB w="6668">
                      <a:solidFill>
                        <a:srgbClr val="F6F8FC"/>
                      </a:solidFill>
                      <a:prstDash val="solid"/>
                    </a:lnB>
                    <a:solidFill>
                      <a:srgbClr val="FFFFFF"/>
                    </a:solidFill>
                  </a:tcPr>
                </a:tc>
                <a:tc>
                  <a:txBody>
                    <a:bodyPr lIns="133350" tIns="133350" rIns="133350" bIns="95250"/>
                    <a:lstStyle/>
                    <a:p>
                      <a:r>
                        <a:rPr sz="1875" b="0">
                          <a:solidFill>
                            <a:srgbClr val="13243F"/>
                          </a:solidFill>
                          <a:latin typeface="Arial"/>
                          <a:ea typeface="Arial"/>
                          <a:cs typeface="Arial"/>
                        </a:rPr>
                        <a:t>Purchases, suppliers, lots and unit costs</a:t>
                      </a:r>
                    </a:p>
                  </a:txBody>
                  <a:tcPr marL="91440" marR="91440" marT="45720" marB="45720" anchor="ctr">
                    <a:lnR w="6668">
                      <a:solidFill>
                        <a:srgbClr val="F6F8FC"/>
                      </a:solidFill>
                      <a:prstDash val="solid"/>
                    </a:lnR>
                    <a:lnB w="6668">
                      <a:solidFill>
                        <a:srgbClr val="F6F8FC"/>
                      </a:solidFill>
                      <a:prstDash val="solid"/>
                    </a:lnB>
                    <a:solidFill>
                      <a:srgbClr val="FFFFFF"/>
                    </a:solidFill>
                  </a:tcPr>
                </a:tc>
                <a:tc>
                  <a:txBody>
                    <a:bodyPr lIns="133350" tIns="133350" rIns="133350" bIns="95250"/>
                    <a:lstStyle/>
                    <a:p>
                      <a:r>
                        <a:rPr sz="1875" b="0">
                          <a:solidFill>
                            <a:srgbClr val="13243F"/>
                          </a:solidFill>
                          <a:latin typeface="Arial"/>
                          <a:ea typeface="Arial"/>
                          <a:cs typeface="Arial"/>
                        </a:rPr>
                        <a:t>Inventory value and cost of goods</a:t>
                      </a:r>
                    </a:p>
                  </a:txBody>
                  <a:tcPr marL="91440" marR="91440" marT="45720" marB="45720" anchor="ctr">
                    <a:lnR w="6668">
                      <a:solidFill>
                        <a:srgbClr val="F6F8FC"/>
                      </a:solidFill>
                      <a:prstDash val="solid"/>
                    </a:lnR>
                    <a:lnB w="6668">
                      <a:solidFill>
                        <a:srgbClr val="F6F8FC"/>
                      </a:solidFill>
                      <a:prstDash val="solid"/>
                    </a:lnB>
                    <a:solidFill>
                      <a:srgbClr val="FFFFFF"/>
                    </a:solidFill>
                  </a:tcPr>
                </a:tc>
              </a:tr>
              <a:tr h="638175">
                <a:tc>
                  <a:txBody>
                    <a:bodyPr lIns="133350" tIns="133350" rIns="133350" bIns="95250"/>
                    <a:lstStyle/>
                    <a:p>
                      <a:r>
                        <a:rPr sz="1875" b="0">
                          <a:solidFill>
                            <a:srgbClr val="13243F"/>
                          </a:solidFill>
                          <a:latin typeface="Arial"/>
                          <a:ea typeface="Arial"/>
                          <a:cs typeface="Arial"/>
                        </a:rPr>
                        <a:t>Sell to customers</a:t>
                      </a:r>
                    </a:p>
                  </a:txBody>
                  <a:tcPr marL="91440" marR="91440" marT="45720" marB="45720" anchor="ctr">
                    <a:lnL w="6668">
                      <a:solidFill>
                        <a:srgbClr val="F6F8FC"/>
                      </a:solidFill>
                      <a:prstDash val="solid"/>
                    </a:lnL>
                    <a:lnR w="6668">
                      <a:solidFill>
                        <a:srgbClr val="F6F8FC"/>
                      </a:solidFill>
                      <a:prstDash val="solid"/>
                    </a:lnR>
                    <a:lnB w="6668">
                      <a:solidFill>
                        <a:srgbClr val="F6F8FC"/>
                      </a:solidFill>
                      <a:prstDash val="solid"/>
                    </a:lnB>
                    <a:solidFill>
                      <a:srgbClr val="EDF2F9"/>
                    </a:solidFill>
                  </a:tcPr>
                </a:tc>
                <a:tc>
                  <a:txBody>
                    <a:bodyPr lIns="133350" tIns="133350" rIns="133350" bIns="95250"/>
                    <a:lstStyle/>
                    <a:p>
                      <a:r>
                        <a:rPr sz="1875" b="0">
                          <a:solidFill>
                            <a:srgbClr val="13243F"/>
                          </a:solidFill>
                          <a:latin typeface="Arial"/>
                          <a:ea typeface="Arial"/>
                          <a:cs typeface="Arial"/>
                        </a:rPr>
                        <a:t>Sales, customer accounts and unpaid balances</a:t>
                      </a:r>
                    </a:p>
                  </a:txBody>
                  <a:tcPr marL="91440" marR="91440" marT="45720" marB="45720" anchor="ctr">
                    <a:lnR w="6668">
                      <a:solidFill>
                        <a:srgbClr val="F6F8FC"/>
                      </a:solidFill>
                      <a:prstDash val="solid"/>
                    </a:lnR>
                    <a:lnB w="6668">
                      <a:solidFill>
                        <a:srgbClr val="F6F8FC"/>
                      </a:solidFill>
                      <a:prstDash val="solid"/>
                    </a:lnB>
                    <a:solidFill>
                      <a:srgbClr val="EDF2F9"/>
                    </a:solidFill>
                  </a:tcPr>
                </a:tc>
                <a:tc>
                  <a:txBody>
                    <a:bodyPr lIns="133350" tIns="133350" rIns="133350" bIns="95250"/>
                    <a:lstStyle/>
                    <a:p>
                      <a:r>
                        <a:rPr sz="1875" b="0">
                          <a:solidFill>
                            <a:srgbClr val="13243F"/>
                          </a:solidFill>
                          <a:latin typeface="Arial"/>
                          <a:ea typeface="Arial"/>
                          <a:cs typeface="Arial"/>
                        </a:rPr>
                        <a:t>Revenue, margins and receivables</a:t>
                      </a:r>
                    </a:p>
                  </a:txBody>
                  <a:tcPr marL="91440" marR="91440" marT="45720" marB="45720" anchor="ctr">
                    <a:lnR w="6668">
                      <a:solidFill>
                        <a:srgbClr val="F6F8FC"/>
                      </a:solidFill>
                      <a:prstDash val="solid"/>
                    </a:lnR>
                    <a:lnB w="6668">
                      <a:solidFill>
                        <a:srgbClr val="F6F8FC"/>
                      </a:solidFill>
                      <a:prstDash val="solid"/>
                    </a:lnB>
                    <a:solidFill>
                      <a:srgbClr val="EDF2F9"/>
                    </a:solidFill>
                  </a:tcPr>
                </a:tc>
              </a:tr>
              <a:tr h="638175">
                <a:tc>
                  <a:txBody>
                    <a:bodyPr lIns="133350" tIns="133350" rIns="133350" bIns="95250"/>
                    <a:lstStyle/>
                    <a:p>
                      <a:r>
                        <a:rPr sz="1875" b="0">
                          <a:solidFill>
                            <a:srgbClr val="13243F"/>
                          </a:solidFill>
                          <a:latin typeface="Arial"/>
                          <a:ea typeface="Arial"/>
                          <a:cs typeface="Arial"/>
                        </a:rPr>
                        <a:t>Collect money owed</a:t>
                      </a:r>
                    </a:p>
                  </a:txBody>
                  <a:tcPr marL="91440" marR="91440" marT="45720" marB="45720" anchor="ctr">
                    <a:lnL w="6668">
                      <a:solidFill>
                        <a:srgbClr val="F6F8FC"/>
                      </a:solidFill>
                      <a:prstDash val="solid"/>
                    </a:lnL>
                    <a:lnR w="6668">
                      <a:solidFill>
                        <a:srgbClr val="F6F8FC"/>
                      </a:solidFill>
                      <a:prstDash val="solid"/>
                    </a:lnR>
                    <a:lnB w="6668">
                      <a:solidFill>
                        <a:srgbClr val="F6F8FC"/>
                      </a:solidFill>
                      <a:prstDash val="solid"/>
                    </a:lnB>
                    <a:solidFill>
                      <a:srgbClr val="FFFFFF"/>
                    </a:solidFill>
                  </a:tcPr>
                </a:tc>
                <a:tc>
                  <a:txBody>
                    <a:bodyPr lIns="133350" tIns="133350" rIns="133350" bIns="95250"/>
                    <a:lstStyle/>
                    <a:p>
                      <a:r>
                        <a:rPr sz="1875" b="0">
                          <a:solidFill>
                            <a:srgbClr val="13243F"/>
                          </a:solidFill>
                          <a:latin typeface="Arial"/>
                          <a:ea typeface="Arial"/>
                          <a:cs typeface="Arial"/>
                        </a:rPr>
                        <a:t>Debt payments and customer payment history</a:t>
                      </a:r>
                    </a:p>
                  </a:txBody>
                  <a:tcPr marL="91440" marR="91440" marT="45720" marB="45720" anchor="ctr">
                    <a:lnR w="6668">
                      <a:solidFill>
                        <a:srgbClr val="F6F8FC"/>
                      </a:solidFill>
                      <a:prstDash val="solid"/>
                    </a:lnR>
                    <a:lnB w="6668">
                      <a:solidFill>
                        <a:srgbClr val="F6F8FC"/>
                      </a:solidFill>
                      <a:prstDash val="solid"/>
                    </a:lnB>
                    <a:solidFill>
                      <a:srgbClr val="FFFFFF"/>
                    </a:solidFill>
                  </a:tcPr>
                </a:tc>
                <a:tc>
                  <a:txBody>
                    <a:bodyPr lIns="133350" tIns="133350" rIns="133350" bIns="95250"/>
                    <a:lstStyle/>
                    <a:p>
                      <a:r>
                        <a:rPr sz="1875" b="0">
                          <a:solidFill>
                            <a:srgbClr val="13243F"/>
                          </a:solidFill>
                          <a:latin typeface="Arial"/>
                          <a:ea typeface="Arial"/>
                          <a:cs typeface="Arial"/>
                        </a:rPr>
                        <a:t>Cash inflow and remaining debt</a:t>
                      </a:r>
                    </a:p>
                  </a:txBody>
                  <a:tcPr marL="91440" marR="91440" marT="45720" marB="45720" anchor="ctr">
                    <a:lnR w="6668">
                      <a:solidFill>
                        <a:srgbClr val="F6F8FC"/>
                      </a:solidFill>
                      <a:prstDash val="solid"/>
                    </a:lnR>
                    <a:lnB w="6668">
                      <a:solidFill>
                        <a:srgbClr val="F6F8FC"/>
                      </a:solidFill>
                      <a:prstDash val="solid"/>
                    </a:lnB>
                    <a:solidFill>
                      <a:srgbClr val="FFFFFF"/>
                    </a:solidFill>
                  </a:tcPr>
                </a:tc>
              </a:tr>
              <a:tr h="638175">
                <a:tc>
                  <a:txBody>
                    <a:bodyPr lIns="133350" tIns="133350" rIns="133350" bIns="95250"/>
                    <a:lstStyle/>
                    <a:p>
                      <a:r>
                        <a:rPr sz="1875" b="0">
                          <a:solidFill>
                            <a:srgbClr val="13243F"/>
                          </a:solidFill>
                          <a:latin typeface="Arial"/>
                          <a:ea typeface="Arial"/>
                          <a:cs typeface="Arial"/>
                        </a:rPr>
                        <a:t>Record expenses and bills</a:t>
                      </a:r>
                    </a:p>
                  </a:txBody>
                  <a:tcPr marL="91440" marR="91440" marT="45720" marB="45720" anchor="ctr">
                    <a:lnL w="6668">
                      <a:solidFill>
                        <a:srgbClr val="F6F8FC"/>
                      </a:solidFill>
                      <a:prstDash val="solid"/>
                    </a:lnL>
                    <a:lnR w="6668">
                      <a:solidFill>
                        <a:srgbClr val="F6F8FC"/>
                      </a:solidFill>
                      <a:prstDash val="solid"/>
                    </a:lnR>
                    <a:lnB w="6668">
                      <a:solidFill>
                        <a:srgbClr val="F6F8FC"/>
                      </a:solidFill>
                      <a:prstDash val="solid"/>
                    </a:lnB>
                    <a:solidFill>
                      <a:srgbClr val="EDF2F9"/>
                    </a:solidFill>
                  </a:tcPr>
                </a:tc>
                <a:tc>
                  <a:txBody>
                    <a:bodyPr lIns="133350" tIns="133350" rIns="133350" bIns="95250"/>
                    <a:lstStyle/>
                    <a:p>
                      <a:r>
                        <a:rPr sz="1875" b="0">
                          <a:solidFill>
                            <a:srgbClr val="13243F"/>
                          </a:solidFill>
                          <a:latin typeface="Arial"/>
                          <a:ea typeface="Arial"/>
                          <a:cs typeface="Arial"/>
                        </a:rPr>
                        <a:t>Operating expenses and dated commitments</a:t>
                      </a:r>
                    </a:p>
                  </a:txBody>
                  <a:tcPr marL="91440" marR="91440" marT="45720" marB="45720" anchor="ctr">
                    <a:lnR w="6668">
                      <a:solidFill>
                        <a:srgbClr val="F6F8FC"/>
                      </a:solidFill>
                      <a:prstDash val="solid"/>
                    </a:lnR>
                    <a:lnB w="6668">
                      <a:solidFill>
                        <a:srgbClr val="F6F8FC"/>
                      </a:solidFill>
                      <a:prstDash val="solid"/>
                    </a:lnB>
                    <a:solidFill>
                      <a:srgbClr val="EDF2F9"/>
                    </a:solidFill>
                  </a:tcPr>
                </a:tc>
                <a:tc>
                  <a:txBody>
                    <a:bodyPr lIns="133350" tIns="133350" rIns="133350" bIns="95250"/>
                    <a:lstStyle/>
                    <a:p>
                      <a:r>
                        <a:rPr sz="1875" b="0">
                          <a:solidFill>
                            <a:srgbClr val="13243F"/>
                          </a:solidFill>
                          <a:latin typeface="Arial"/>
                          <a:ea typeface="Arial"/>
                          <a:cs typeface="Arial"/>
                        </a:rPr>
                        <a:t>Cash outflow and forecasts</a:t>
                      </a:r>
                    </a:p>
                  </a:txBody>
                  <a:tcPr marL="91440" marR="91440" marT="45720" marB="45720" anchor="ctr">
                    <a:lnR w="6668">
                      <a:solidFill>
                        <a:srgbClr val="F6F8FC"/>
                      </a:solidFill>
                      <a:prstDash val="solid"/>
                    </a:lnR>
                    <a:lnB w="6668">
                      <a:solidFill>
                        <a:srgbClr val="F6F8FC"/>
                      </a:solidFill>
                      <a:prstDash val="solid"/>
                    </a:lnB>
                    <a:solidFill>
                      <a:srgbClr val="EDF2F9"/>
                    </a:solidFill>
                  </a:tcPr>
                </a:tc>
              </a:tr>
              <a:tr h="638175">
                <a:tc>
                  <a:txBody>
                    <a:bodyPr lIns="133350" tIns="133350" rIns="133350" bIns="95250"/>
                    <a:lstStyle/>
                    <a:p>
                      <a:r>
                        <a:rPr sz="1875" b="0">
                          <a:solidFill>
                            <a:srgbClr val="13243F"/>
                          </a:solidFill>
                          <a:latin typeface="Arial"/>
                          <a:ea typeface="Arial"/>
                          <a:cs typeface="Arial"/>
                        </a:rPr>
                        <a:t>Manage employees</a:t>
                      </a:r>
                    </a:p>
                  </a:txBody>
                  <a:tcPr marL="91440" marR="91440" marT="45720" marB="45720" anchor="ctr">
                    <a:lnL w="6668">
                      <a:solidFill>
                        <a:srgbClr val="F6F8FC"/>
                      </a:solidFill>
                      <a:prstDash val="solid"/>
                    </a:lnL>
                    <a:lnR w="6668">
                      <a:solidFill>
                        <a:srgbClr val="F6F8FC"/>
                      </a:solidFill>
                      <a:prstDash val="solid"/>
                    </a:lnR>
                    <a:lnB w="6668">
                      <a:solidFill>
                        <a:srgbClr val="F6F8FC"/>
                      </a:solidFill>
                      <a:prstDash val="solid"/>
                    </a:lnB>
                    <a:solidFill>
                      <a:srgbClr val="FFFFFF"/>
                    </a:solidFill>
                  </a:tcPr>
                </a:tc>
                <a:tc>
                  <a:txBody>
                    <a:bodyPr lIns="133350" tIns="133350" rIns="133350" bIns="95250"/>
                    <a:lstStyle/>
                    <a:p>
                      <a:r>
                        <a:rPr sz="1875" b="0">
                          <a:solidFill>
                            <a:srgbClr val="13243F"/>
                          </a:solidFill>
                          <a:latin typeface="Arial"/>
                          <a:ea typeface="Arial"/>
                          <a:cs typeface="Arial"/>
                        </a:rPr>
                        <a:t>Staff profiles, attendance and shop assignments</a:t>
                      </a:r>
                    </a:p>
                  </a:txBody>
                  <a:tcPr marL="91440" marR="91440" marT="45720" marB="45720" anchor="ctr">
                    <a:lnR w="6668">
                      <a:solidFill>
                        <a:srgbClr val="F6F8FC"/>
                      </a:solidFill>
                      <a:prstDash val="solid"/>
                    </a:lnR>
                    <a:lnB w="6668">
                      <a:solidFill>
                        <a:srgbClr val="F6F8FC"/>
                      </a:solidFill>
                      <a:prstDash val="solid"/>
                    </a:lnB>
                    <a:solidFill>
                      <a:srgbClr val="FFFFFF"/>
                    </a:solidFill>
                  </a:tcPr>
                </a:tc>
                <a:tc>
                  <a:txBody>
                    <a:bodyPr lIns="133350" tIns="133350" rIns="133350" bIns="95250"/>
                    <a:lstStyle/>
                    <a:p>
                      <a:r>
                        <a:rPr sz="1875" b="0">
                          <a:solidFill>
                            <a:srgbClr val="13243F"/>
                          </a:solidFill>
                          <a:latin typeface="Arial"/>
                          <a:ea typeface="Arial"/>
                          <a:cs typeface="Arial"/>
                        </a:rPr>
                        <a:t>Controlled access to shop records</a:t>
                      </a:r>
                    </a:p>
                  </a:txBody>
                  <a:tcPr marL="91440" marR="91440" marT="45720" marB="45720" anchor="ctr">
                    <a:lnR w="6668">
                      <a:solidFill>
                        <a:srgbClr val="F6F8FC"/>
                      </a:solidFill>
                      <a:prstDash val="solid"/>
                    </a:lnR>
                    <a:lnB w="6668">
                      <a:solidFill>
                        <a:srgbClr val="F6F8FC"/>
                      </a:solidFill>
                      <a:prstDash val="solid"/>
                    </a:lnB>
                    <a:solidFill>
                      <a:srgbClr val="FFFFFF"/>
                    </a:solidFill>
                  </a:tcPr>
                </a:tc>
              </a:tr>
            </a:tbl>
          </a:graphicData>
        </a:graphic>
      </p:graphicFrame>
      <p:sp>
        <p:nvSpPr>
          <p:cNvPr id="6" name="A credit sale reduces stock and records money owed. A later ">
            <a:extLst xmlns:a="http://schemas.openxmlformats.org/drawingml/2006/main">
              <a:ext uri="{FF2B5EF4-FFF2-40B4-BE49-F238E27FC236}">
                <a16:creationId xmlns:a16="http://schemas.microsoft.com/office/drawing/2014/main" id="{F15DD704-1CDC-4331-A6E1-C222E284E5B1}"/>
              </a:ext>
            </a:extLst>
          </p:cNvPr>
          <p:cNvSpPr>
            <a:spLocks xmlns:a="http://schemas.openxmlformats.org/drawingml/2006/main" noGrp="1"/>
          </p:cNvSpPr>
          <p:nvPr/>
        </p:nvSpPr>
        <p:spPr>
          <a:xfrm xmlns:a="http://schemas.openxmlformats.org/drawingml/2006/main">
            <a:off x="723900" y="7181850"/>
            <a:ext cx="1379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463EB"/>
                </a:solidFill>
                <a:latin typeface="Arial"/>
                <a:ea typeface="Arial"/>
                <a:cs typeface="Arial"/>
              </a:defRPr>
            </a:defPPr>
          </a:lstStyle>
          <a:p xmlns:a="http://schemas.openxmlformats.org/drawingml/2006/main">
            <a:pPr algn="l">
              <a:defRPr sz="2175" b="1">
                <a:solidFill>
                  <a:srgbClr val="2463EB"/>
                </a:solidFill>
                <a:latin typeface="Arial"/>
                <a:ea typeface="Arial"/>
                <a:cs typeface="Arial"/>
              </a:defRPr>
            </a:pPr>
            <a:r>
              <a:rPr sz="2175" b="1">
                <a:solidFill>
                  <a:srgbClr val="2463EB"/>
                </a:solidFill>
                <a:latin typeface="Arial"/>
                <a:ea typeface="Arial"/>
                <a:cs typeface="Arial"/>
              </a:rPr>
              <a:t>A credit sale reduces stock and records money owed.</a:t>
            </a:r>
          </a:p>
          <a:p xmlns:a="http://schemas.openxmlformats.org/drawingml/2006/main">
            <a:pPr algn="l">
              <a:defRPr sz="2175" b="1">
                <a:solidFill>
                  <a:srgbClr val="2463EB"/>
                </a:solidFill>
                <a:latin typeface="Arial"/>
                <a:ea typeface="Arial"/>
                <a:cs typeface="Arial"/>
              </a:defRPr>
            </a:pPr>
            <a:r>
              <a:rPr sz="2175" b="1">
                <a:solidFill>
                  <a:srgbClr val="2463EB"/>
                </a:solidFill>
                <a:latin typeface="Arial"/>
                <a:ea typeface="Arial"/>
                <a:cs typeface="Arial"/>
              </a:rPr>
              <a:t>A later collection adds a payment record to the same shop.</a:t>
            </a:r>
          </a:p>
        </p:txBody>
      </p:sp>
      <p:sp>
        <p:nvSpPr>
          <p:cNvPr id="7" name="Implemented application workflows. Presentation screenshots ">
            <a:extLst xmlns:a="http://schemas.openxmlformats.org/drawingml/2006/main">
              <a:ext uri="{FF2B5EF4-FFF2-40B4-BE49-F238E27FC236}">
                <a16:creationId xmlns:a16="http://schemas.microsoft.com/office/drawing/2014/main" id="{1C459E67-6968-42B3-BEF1-0F6DE7356635}"/>
              </a:ext>
            </a:extLst>
          </p:cNvPr>
          <p:cNvSpPr>
            <a:spLocks xmlns:a="http://schemas.openxmlformats.org/drawingml/2006/main" noGrp="1"/>
          </p:cNvSpPr>
          <p:nvPr/>
        </p:nvSpPr>
        <p:spPr>
          <a:xfrm xmlns:a="http://schemas.openxmlformats.org/drawingml/2006/main">
            <a:off x="685800" y="7915275"/>
            <a:ext cx="13868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37089"/>
                </a:solidFill>
                <a:latin typeface="Arial"/>
                <a:ea typeface="Arial"/>
                <a:cs typeface="Arial"/>
              </a:defRPr>
            </a:defPPr>
          </a:lstStyle>
          <a:p xmlns:a="http://schemas.openxmlformats.org/drawingml/2006/main">
            <a:pPr algn="l">
              <a:defRPr sz="1425" b="0">
                <a:solidFill>
                  <a:srgbClr val="637089"/>
                </a:solidFill>
                <a:latin typeface="Arial"/>
                <a:ea typeface="Arial"/>
                <a:cs typeface="Arial"/>
              </a:defRPr>
            </a:pPr>
            <a:r>
              <a:rPr sz="1425" b="0">
                <a:solidFill>
                  <a:srgbClr val="637089"/>
                </a:solidFill>
                <a:latin typeface="Arial"/>
                <a:ea typeface="Arial"/>
                <a:cs typeface="Arial"/>
              </a:rPr>
              <a:t>Implemented application workflows. Presentation screenshots use illustrative seeded data.</a:t>
            </a:r>
          </a:p>
        </p:txBody>
      </p:sp>
    </p:spTree>
    <p:extLst>
      <p:ext uri="{BB962C8B-B14F-4D97-AF65-F5344CB8AC3E}">
        <p14:creationId xmlns:p14="http://schemas.microsoft.com/office/powerpoint/2010/main" val="1640052467"/>
      </p:ext>
    </p:extLst>
  </p:cSld>
</p:sld>
</file>

<file path=ppt/slides/slide6.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3" name="BizWizard">
            <a:extLst xmlns:a="http://schemas.openxmlformats.org/drawingml/2006/main">
              <a:ext uri="{FF2B5EF4-FFF2-40B4-BE49-F238E27FC236}">
                <a16:creationId xmlns:a16="http://schemas.microsoft.com/office/drawing/2014/main" id="{0473E413-9222-479E-9437-8D04641C04BD}"/>
              </a:ext>
            </a:extLst>
          </p:cNvPr>
          <p:cNvSpPr>
            <a:spLocks xmlns:a="http://schemas.openxmlformats.org/drawingml/2006/main" noGrp="1"/>
          </p:cNvSpPr>
          <p:nvPr/>
        </p:nvSpPr>
        <p:spPr>
          <a:xfrm xmlns:a="http://schemas.openxmlformats.org/drawingml/2006/main">
            <a:off x="685800" y="3238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01F3C"/>
                </a:solidFill>
                <a:latin typeface="Arial"/>
                <a:ea typeface="Arial"/>
                <a:cs typeface="Arial"/>
              </a:defRPr>
            </a:defPPr>
          </a:lstStyle>
          <a:p xmlns:a="http://schemas.openxmlformats.org/drawingml/2006/main">
            <a:pPr algn="l">
              <a:defRPr sz="1575" b="1">
                <a:solidFill>
                  <a:srgbClr val="101F3C"/>
                </a:solidFill>
                <a:latin typeface="Arial"/>
                <a:ea typeface="Arial"/>
                <a:cs typeface="Arial"/>
              </a:defRPr>
            </a:pPr>
            <a:r>
              <a:rPr sz="1575" b="1">
                <a:solidFill>
                  <a:srgbClr val="101F3C"/>
                </a:solidFill>
                <a:latin typeface="Arial"/>
                <a:ea typeface="Arial"/>
                <a:cs typeface="Arial"/>
              </a:rPr>
              <a:t>BizWizard</a:t>
            </a:r>
          </a:p>
        </p:txBody>
      </p:sp>
      <p:sp>
        <p:nvSpPr>
          <p:cNvPr id="2" name="06">
            <a:extLst xmlns:a="http://schemas.openxmlformats.org/drawingml/2006/main">
              <a:ext uri="{FF2B5EF4-FFF2-40B4-BE49-F238E27FC236}">
                <a16:creationId xmlns:a16="http://schemas.microsoft.com/office/drawing/2014/main" id="{D5EBD4DB-A7B1-454A-AC39-8BA128B4B4A5}"/>
              </a:ext>
            </a:extLst>
          </p:cNvPr>
          <p:cNvSpPr>
            <a:spLocks xmlns:a="http://schemas.openxmlformats.org/drawingml/2006/main" noGrp="1"/>
          </p:cNvSpPr>
          <p:nvPr/>
        </p:nvSpPr>
        <p:spPr>
          <a:xfrm xmlns:a="http://schemas.openxmlformats.org/drawingml/2006/main">
            <a:off x="12573000" y="323850"/>
            <a:ext cx="198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37089"/>
                </a:solidFill>
                <a:latin typeface="Arial"/>
                <a:ea typeface="Arial"/>
                <a:cs typeface="Arial"/>
              </a:defRPr>
            </a:defPPr>
          </a:lstStyle>
          <a:p xmlns:a="http://schemas.openxmlformats.org/drawingml/2006/main">
            <a:pPr algn="r">
              <a:defRPr sz="1425" b="0">
                <a:solidFill>
                  <a:srgbClr val="637089"/>
                </a:solidFill>
                <a:latin typeface="Arial"/>
                <a:ea typeface="Arial"/>
                <a:cs typeface="Arial"/>
              </a:defRPr>
            </a:pPr>
            <a:r>
              <a:rPr sz="1425" b="0">
                <a:solidFill>
                  <a:srgbClr val="637089"/>
                </a:solidFill>
                <a:latin typeface="Arial"/>
                <a:ea typeface="Arial"/>
                <a:cs typeface="Arial"/>
              </a:rPr>
              <a:t>06</a:t>
            </a:r>
          </a:p>
        </p:txBody>
      </p:sp>
      <p:sp>
        <p:nvSpPr>
          <p:cNvPr id="3" name="Slide heading">
            <a:extLst xmlns:a="http://schemas.openxmlformats.org/drawingml/2006/main">
              <a:ext uri="{FF2B5EF4-FFF2-40B4-BE49-F238E27FC236}">
                <a16:creationId xmlns:a16="http://schemas.microsoft.com/office/drawing/2014/main" id="{1464054B-71F1-4F9A-BE72-ECEC72C0DFE7}"/>
              </a:ext>
            </a:extLst>
          </p:cNvPr>
          <p:cNvSpPr>
            <a:spLocks xmlns:a="http://schemas.openxmlformats.org/drawingml/2006/main" noGrp="1"/>
          </p:cNvSpPr>
          <p:nvPr/>
        </p:nvSpPr>
        <p:spPr>
          <a:xfrm xmlns:a="http://schemas.openxmlformats.org/drawingml/2006/main">
            <a:off x="685800" y="1000125"/>
            <a:ext cx="138684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13243F"/>
                </a:solidFill>
                <a:latin typeface="Arial"/>
                <a:ea typeface="Arial"/>
                <a:cs typeface="Arial"/>
              </a:defRPr>
            </a:defPPr>
          </a:lstStyle>
          <a:p xmlns:a="http://schemas.openxmlformats.org/drawingml/2006/main">
            <a:pPr algn="l">
              <a:defRPr sz="4500" b="1">
                <a:solidFill>
                  <a:srgbClr val="13243F"/>
                </a:solidFill>
                <a:latin typeface="Arial"/>
                <a:ea typeface="Arial"/>
                <a:cs typeface="Arial"/>
              </a:defRPr>
            </a:pPr>
            <a:r>
              <a:rPr sz="4500" b="1">
                <a:solidFill>
                  <a:srgbClr val="13243F"/>
                </a:solidFill>
                <a:latin typeface="Arial"/>
                <a:ea typeface="Arial"/>
                <a:cs typeface="Arial"/>
              </a:rPr>
              <a:t>Financing that starts with affordability</a:t>
            </a:r>
          </a:p>
        </p:txBody>
      </p:sp>
      <p:sp>
        <p:nvSpPr>
          <p:cNvPr id="4" name="1 Check eligibility">
            <a:extLst xmlns:a="http://schemas.openxmlformats.org/drawingml/2006/main">
              <a:ext uri="{FF2B5EF4-FFF2-40B4-BE49-F238E27FC236}">
                <a16:creationId xmlns:a16="http://schemas.microsoft.com/office/drawing/2014/main" id="{E4449B83-9C8D-4D2B-B265-94B1A0F37069}"/>
              </a:ext>
            </a:extLst>
          </p:cNvPr>
          <p:cNvSpPr>
            <a:spLocks xmlns:a="http://schemas.openxmlformats.org/drawingml/2006/main" noGrp="1"/>
          </p:cNvSpPr>
          <p:nvPr/>
        </p:nvSpPr>
        <p:spPr>
          <a:xfrm xmlns:a="http://schemas.openxmlformats.org/drawingml/2006/main">
            <a:off x="723900" y="2533650"/>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3243F"/>
                </a:solidFill>
                <a:latin typeface="Arial"/>
                <a:ea typeface="Arial"/>
                <a:cs typeface="Arial"/>
              </a:defRPr>
            </a:defPPr>
          </a:lstStyle>
          <a:p xmlns:a="http://schemas.openxmlformats.org/drawingml/2006/main">
            <a:pPr algn="l">
              <a:defRPr sz="2400" b="1">
                <a:solidFill>
                  <a:srgbClr val="13243F"/>
                </a:solidFill>
                <a:latin typeface="Arial"/>
                <a:ea typeface="Arial"/>
                <a:cs typeface="Arial"/>
              </a:defRPr>
            </a:pPr>
            <a:r>
              <a:rPr sz="2400" b="1">
                <a:solidFill>
                  <a:srgbClr val="13243F"/>
                </a:solidFill>
                <a:latin typeface="Arial"/>
                <a:ea typeface="Arial"/>
                <a:cs typeface="Arial"/>
              </a:rPr>
              <a:t>1  Check eligibility</a:t>
            </a:r>
          </a:p>
        </p:txBody>
      </p:sp>
      <p:sp>
        <p:nvSpPr>
          <p:cNvPr id="5" name="90 days of sales history. At least 60% sales-day coverage.">
            <a:extLst xmlns:a="http://schemas.openxmlformats.org/drawingml/2006/main">
              <a:ext uri="{FF2B5EF4-FFF2-40B4-BE49-F238E27FC236}">
                <a16:creationId xmlns:a16="http://schemas.microsoft.com/office/drawing/2014/main" id="{2582D722-759D-4977-84F4-BF74E4204AC5}"/>
              </a:ext>
            </a:extLst>
          </p:cNvPr>
          <p:cNvSpPr>
            <a:spLocks xmlns:a="http://schemas.openxmlformats.org/drawingml/2006/main" noGrp="1"/>
          </p:cNvSpPr>
          <p:nvPr/>
        </p:nvSpPr>
        <p:spPr>
          <a:xfrm xmlns:a="http://schemas.openxmlformats.org/drawingml/2006/main">
            <a:off x="723900" y="3067050"/>
            <a:ext cx="4667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37089"/>
                </a:solidFill>
                <a:latin typeface="Arial"/>
                <a:ea typeface="Arial"/>
                <a:cs typeface="Arial"/>
              </a:defRPr>
            </a:defPPr>
          </a:lstStyle>
          <a:p xmlns:a="http://schemas.openxmlformats.org/drawingml/2006/main">
            <a:pPr algn="l">
              <a:defRPr sz="2100" b="0">
                <a:solidFill>
                  <a:srgbClr val="637089"/>
                </a:solidFill>
                <a:latin typeface="Arial"/>
                <a:ea typeface="Arial"/>
                <a:cs typeface="Arial"/>
              </a:defRPr>
            </a:pPr>
            <a:r>
              <a:rPr sz="2100" b="0">
                <a:solidFill>
                  <a:srgbClr val="637089"/>
                </a:solidFill>
                <a:latin typeface="Arial"/>
                <a:ea typeface="Arial"/>
                <a:cs typeface="Arial"/>
              </a:rPr>
              <a:t>90 days of sales history.</a:t>
            </a:r>
          </a:p>
          <a:p xmlns:a="http://schemas.openxmlformats.org/drawingml/2006/main">
            <a:pPr algn="l">
              <a:defRPr sz="2100" b="0">
                <a:solidFill>
                  <a:srgbClr val="637089"/>
                </a:solidFill>
                <a:latin typeface="Arial"/>
                <a:ea typeface="Arial"/>
                <a:cs typeface="Arial"/>
              </a:defRPr>
            </a:pPr>
            <a:r>
              <a:rPr sz="2100" b="0">
                <a:solidFill>
                  <a:srgbClr val="637089"/>
                </a:solidFill>
                <a:latin typeface="Arial"/>
                <a:ea typeface="Arial"/>
                <a:cs typeface="Arial"/>
              </a:rPr>
              <a:t>At least 60% sales-day coverage.</a:t>
            </a:r>
          </a:p>
        </p:txBody>
      </p:sp>
      <p:sp>
        <p:nvSpPr>
          <p:cNvPr id="6" name="2 Compare feasible options">
            <a:extLst xmlns:a="http://schemas.openxmlformats.org/drawingml/2006/main">
              <a:ext uri="{FF2B5EF4-FFF2-40B4-BE49-F238E27FC236}">
                <a16:creationId xmlns:a16="http://schemas.microsoft.com/office/drawing/2014/main" id="{7DC290C8-6A28-43F8-A163-464C281D2766}"/>
              </a:ext>
            </a:extLst>
          </p:cNvPr>
          <p:cNvSpPr>
            <a:spLocks xmlns:a="http://schemas.openxmlformats.org/drawingml/2006/main" noGrp="1"/>
          </p:cNvSpPr>
          <p:nvPr/>
        </p:nvSpPr>
        <p:spPr>
          <a:xfrm xmlns:a="http://schemas.openxmlformats.org/drawingml/2006/main">
            <a:off x="723900" y="4200525"/>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3243F"/>
                </a:solidFill>
                <a:latin typeface="Arial"/>
                <a:ea typeface="Arial"/>
                <a:cs typeface="Arial"/>
              </a:defRPr>
            </a:defPPr>
          </a:lstStyle>
          <a:p xmlns:a="http://schemas.openxmlformats.org/drawingml/2006/main">
            <a:pPr algn="l">
              <a:defRPr sz="2400" b="1">
                <a:solidFill>
                  <a:srgbClr val="13243F"/>
                </a:solidFill>
                <a:latin typeface="Arial"/>
                <a:ea typeface="Arial"/>
                <a:cs typeface="Arial"/>
              </a:defRPr>
            </a:pPr>
            <a:r>
              <a:rPr sz="2400" b="1">
                <a:solidFill>
                  <a:srgbClr val="13243F"/>
                </a:solidFill>
                <a:latin typeface="Arial"/>
                <a:ea typeface="Arial"/>
                <a:cs typeface="Arial"/>
              </a:rPr>
              <a:t>2  Compare feasible options</a:t>
            </a:r>
          </a:p>
        </p:txBody>
      </p:sp>
      <p:sp>
        <p:nvSpPr>
          <p:cNvPr id="7" name="AI can enrich the ranking. Code prices the offer.">
            <a:extLst xmlns:a="http://schemas.openxmlformats.org/drawingml/2006/main">
              <a:ext uri="{FF2B5EF4-FFF2-40B4-BE49-F238E27FC236}">
                <a16:creationId xmlns:a16="http://schemas.microsoft.com/office/drawing/2014/main" id="{756B3C32-4344-49B6-8AFF-A5E44BBBD3A7}"/>
              </a:ext>
            </a:extLst>
          </p:cNvPr>
          <p:cNvSpPr>
            <a:spLocks xmlns:a="http://schemas.openxmlformats.org/drawingml/2006/main" noGrp="1"/>
          </p:cNvSpPr>
          <p:nvPr/>
        </p:nvSpPr>
        <p:spPr>
          <a:xfrm xmlns:a="http://schemas.openxmlformats.org/drawingml/2006/main">
            <a:off x="723900" y="4733925"/>
            <a:ext cx="4667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37089"/>
                </a:solidFill>
                <a:latin typeface="Arial"/>
                <a:ea typeface="Arial"/>
                <a:cs typeface="Arial"/>
              </a:defRPr>
            </a:defPPr>
          </a:lstStyle>
          <a:p xmlns:a="http://schemas.openxmlformats.org/drawingml/2006/main">
            <a:pPr algn="l">
              <a:defRPr sz="2100" b="0">
                <a:solidFill>
                  <a:srgbClr val="637089"/>
                </a:solidFill>
                <a:latin typeface="Arial"/>
                <a:ea typeface="Arial"/>
                <a:cs typeface="Arial"/>
              </a:defRPr>
            </a:pPr>
            <a:r>
              <a:rPr sz="2100" b="0">
                <a:solidFill>
                  <a:srgbClr val="637089"/>
                </a:solidFill>
                <a:latin typeface="Arial"/>
                <a:ea typeface="Arial"/>
                <a:cs typeface="Arial"/>
              </a:rPr>
              <a:t>AI can enrich the ranking.</a:t>
            </a:r>
          </a:p>
          <a:p xmlns:a="http://schemas.openxmlformats.org/drawingml/2006/main">
            <a:pPr algn="l">
              <a:defRPr sz="2100" b="0">
                <a:solidFill>
                  <a:srgbClr val="637089"/>
                </a:solidFill>
                <a:latin typeface="Arial"/>
                <a:ea typeface="Arial"/>
                <a:cs typeface="Arial"/>
              </a:defRPr>
            </a:pPr>
            <a:r>
              <a:rPr sz="2100" b="0">
                <a:solidFill>
                  <a:srgbClr val="637089"/>
                </a:solidFill>
                <a:latin typeface="Arial"/>
                <a:ea typeface="Arial"/>
                <a:cs typeface="Arial"/>
              </a:rPr>
              <a:t>Code prices the offer.</a:t>
            </a:r>
          </a:p>
        </p:txBody>
      </p:sp>
      <p:sp>
        <p:nvSpPr>
          <p:cNvPr id="8" name="3 Review the terms">
            <a:extLst xmlns:a="http://schemas.openxmlformats.org/drawingml/2006/main">
              <a:ext uri="{FF2B5EF4-FFF2-40B4-BE49-F238E27FC236}">
                <a16:creationId xmlns:a16="http://schemas.microsoft.com/office/drawing/2014/main" id="{91CCD318-8F86-4EA6-B73A-B87C92ECE575}"/>
              </a:ext>
            </a:extLst>
          </p:cNvPr>
          <p:cNvSpPr>
            <a:spLocks xmlns:a="http://schemas.openxmlformats.org/drawingml/2006/main" noGrp="1"/>
          </p:cNvSpPr>
          <p:nvPr/>
        </p:nvSpPr>
        <p:spPr>
          <a:xfrm xmlns:a="http://schemas.openxmlformats.org/drawingml/2006/main">
            <a:off x="723900" y="5867400"/>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3243F"/>
                </a:solidFill>
                <a:latin typeface="Arial"/>
                <a:ea typeface="Arial"/>
                <a:cs typeface="Arial"/>
              </a:defRPr>
            </a:defPPr>
          </a:lstStyle>
          <a:p xmlns:a="http://schemas.openxmlformats.org/drawingml/2006/main">
            <a:pPr algn="l">
              <a:defRPr sz="2400" b="1">
                <a:solidFill>
                  <a:srgbClr val="13243F"/>
                </a:solidFill>
                <a:latin typeface="Arial"/>
                <a:ea typeface="Arial"/>
                <a:cs typeface="Arial"/>
              </a:defRPr>
            </a:pPr>
            <a:r>
              <a:rPr sz="2400" b="1">
                <a:solidFill>
                  <a:srgbClr val="13243F"/>
                </a:solidFill>
                <a:latin typeface="Arial"/>
                <a:ea typeface="Arial"/>
                <a:cs typeface="Arial"/>
              </a:rPr>
              <a:t>3  Review the terms</a:t>
            </a:r>
          </a:p>
        </p:txBody>
      </p:sp>
      <p:sp>
        <p:nvSpPr>
          <p:cNvPr id="9" name="Deterministic policies negotiate for up to three rounds.">
            <a:extLst xmlns:a="http://schemas.openxmlformats.org/drawingml/2006/main">
              <a:ext uri="{FF2B5EF4-FFF2-40B4-BE49-F238E27FC236}">
                <a16:creationId xmlns:a16="http://schemas.microsoft.com/office/drawing/2014/main" id="{55A2031E-DC03-42E2-B751-E85F1200A98B}"/>
              </a:ext>
            </a:extLst>
          </p:cNvPr>
          <p:cNvSpPr>
            <a:spLocks xmlns:a="http://schemas.openxmlformats.org/drawingml/2006/main" noGrp="1"/>
          </p:cNvSpPr>
          <p:nvPr/>
        </p:nvSpPr>
        <p:spPr>
          <a:xfrm xmlns:a="http://schemas.openxmlformats.org/drawingml/2006/main">
            <a:off x="723900" y="6400800"/>
            <a:ext cx="4667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37089"/>
                </a:solidFill>
                <a:latin typeface="Arial"/>
                <a:ea typeface="Arial"/>
                <a:cs typeface="Arial"/>
              </a:defRPr>
            </a:defPPr>
          </a:lstStyle>
          <a:p xmlns:a="http://schemas.openxmlformats.org/drawingml/2006/main">
            <a:pPr algn="l">
              <a:defRPr sz="2100" b="0">
                <a:solidFill>
                  <a:srgbClr val="637089"/>
                </a:solidFill>
                <a:latin typeface="Arial"/>
                <a:ea typeface="Arial"/>
                <a:cs typeface="Arial"/>
              </a:defRPr>
            </a:pPr>
            <a:r>
              <a:rPr sz="2100" b="0">
                <a:solidFill>
                  <a:srgbClr val="637089"/>
                </a:solidFill>
                <a:latin typeface="Arial"/>
                <a:ea typeface="Arial"/>
                <a:cs typeface="Arial"/>
              </a:rPr>
              <a:t>Deterministic policies negotiate</a:t>
            </a:r>
          </a:p>
          <a:p xmlns:a="http://schemas.openxmlformats.org/drawingml/2006/main">
            <a:pPr algn="l">
              <a:defRPr sz="2100" b="0">
                <a:solidFill>
                  <a:srgbClr val="637089"/>
                </a:solidFill>
                <a:latin typeface="Arial"/>
                <a:ea typeface="Arial"/>
                <a:cs typeface="Arial"/>
              </a:defRPr>
            </a:pPr>
            <a:r>
              <a:rPr sz="2100" b="0">
                <a:solidFill>
                  <a:srgbClr val="637089"/>
                </a:solidFill>
                <a:latin typeface="Arial"/>
                <a:ea typeface="Arial"/>
                <a:cs typeface="Arial"/>
              </a:rPr>
              <a:t>for up to three rounds.</a:t>
            </a:r>
          </a:p>
        </p:txBody>
      </p:sp>
      <p:sp>
        <p:nvSpPr>
          <p:cNvPr id="10" name="7 simulated lenders / 12 seeded products">
            <a:extLst xmlns:a="http://schemas.openxmlformats.org/drawingml/2006/main">
              <a:ext uri="{FF2B5EF4-FFF2-40B4-BE49-F238E27FC236}">
                <a16:creationId xmlns:a16="http://schemas.microsoft.com/office/drawing/2014/main" id="{8AA53C1B-6BBF-45E8-ACF1-79C01AF7C3F3}"/>
              </a:ext>
            </a:extLst>
          </p:cNvPr>
          <p:cNvSpPr>
            <a:spLocks xmlns:a="http://schemas.openxmlformats.org/drawingml/2006/main" noGrp="1"/>
          </p:cNvSpPr>
          <p:nvPr/>
        </p:nvSpPr>
        <p:spPr>
          <a:xfrm xmlns:a="http://schemas.openxmlformats.org/drawingml/2006/main">
            <a:off x="5724525" y="2562225"/>
            <a:ext cx="88296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463EB"/>
                </a:solidFill>
                <a:latin typeface="Arial"/>
                <a:ea typeface="Arial"/>
                <a:cs typeface="Arial"/>
              </a:defRPr>
            </a:defPPr>
          </a:lstStyle>
          <a:p xmlns:a="http://schemas.openxmlformats.org/drawingml/2006/main">
            <a:pPr algn="l">
              <a:defRPr sz="2175" b="1">
                <a:solidFill>
                  <a:srgbClr val="2463EB"/>
                </a:solidFill>
                <a:latin typeface="Arial"/>
                <a:ea typeface="Arial"/>
                <a:cs typeface="Arial"/>
              </a:defRPr>
            </a:pPr>
            <a:r>
              <a:rPr sz="2175" b="1">
                <a:solidFill>
                  <a:srgbClr val="2463EB"/>
                </a:solidFill>
                <a:latin typeface="Arial"/>
                <a:ea typeface="Arial"/>
                <a:cs typeface="Arial"/>
              </a:rPr>
              <a:t>7 simulated lenders   /   12 seeded products</a:t>
            </a:r>
          </a:p>
        </p:txBody>
      </p:sp>
      <p:pic>
        <p:nvPicPr>
          <p:cNvPr id="11" name="">
            <a:extLst xmlns:a="http://schemas.openxmlformats.org/drawingml/2006/main">
              <a:ext uri="{FF2B5EF4-FFF2-40B4-BE49-F238E27FC236}">
                <a16:creationId xmlns:a16="http://schemas.microsoft.com/office/drawing/2014/main" id="{85E6F0A0-34DF-4902-93C2-B25126B9FC30}"/>
              </a:ext>
            </a:extLst>
          </p:cNvPr>
          <p:cNvPicPr>
            <a:picLocks xmlns:a="http://schemas.openxmlformats.org/drawingml/2006/main" noChangeAspect="1"/>
          </p:cNvPicPr>
          <p:nvPr/>
        </p:nvPicPr>
        <p:blipFill>
          <a:blip xmlns:r="http://schemas.openxmlformats.org/officeDocument/2006/relationships" xmlns:a="http://schemas.openxmlformats.org/drawingml/2006/main" r:embed="R3e2316a6729447e6"/>
          <a:stretch xmlns:a="http://schemas.openxmlformats.org/drawingml/2006/main"/>
        </p:blipFill>
        <p:spPr>
          <a:xfrm xmlns:a="http://schemas.openxmlformats.org/drawingml/2006/main">
            <a:off x="6105525" y="3374149"/>
            <a:ext cx="8067675" cy="3805402"/>
          </a:xfrm>
          <a:prstGeom xmlns:a="http://schemas.openxmlformats.org/drawingml/2006/main" prst="rect">
            <a:avLst/>
          </a:prstGeom>
        </p:spPr>
      </p:pic>
      <p:sp>
        <p:nvSpPr>
          <p:cNvPr id="12" name="Live app with seeded demo records. Eligible matches do not g">
            <a:extLst xmlns:a="http://schemas.openxmlformats.org/drawingml/2006/main">
              <a:ext uri="{FF2B5EF4-FFF2-40B4-BE49-F238E27FC236}">
                <a16:creationId xmlns:a16="http://schemas.microsoft.com/office/drawing/2014/main" id="{DE0D715A-C1BA-4C0D-B707-6FE345B0F1F6}"/>
              </a:ext>
            </a:extLst>
          </p:cNvPr>
          <p:cNvSpPr>
            <a:spLocks xmlns:a="http://schemas.openxmlformats.org/drawingml/2006/main" noGrp="1"/>
          </p:cNvSpPr>
          <p:nvPr/>
        </p:nvSpPr>
        <p:spPr>
          <a:xfrm xmlns:a="http://schemas.openxmlformats.org/drawingml/2006/main">
            <a:off x="685800" y="7915275"/>
            <a:ext cx="13868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37089"/>
                </a:solidFill>
                <a:latin typeface="Arial"/>
                <a:ea typeface="Arial"/>
                <a:cs typeface="Arial"/>
              </a:defRPr>
            </a:defPPr>
          </a:lstStyle>
          <a:p xmlns:a="http://schemas.openxmlformats.org/drawingml/2006/main">
            <a:pPr algn="l">
              <a:defRPr sz="1425" b="0">
                <a:solidFill>
                  <a:srgbClr val="637089"/>
                </a:solidFill>
                <a:latin typeface="Arial"/>
                <a:ea typeface="Arial"/>
                <a:cs typeface="Arial"/>
              </a:defRPr>
            </a:pPr>
            <a:r>
              <a:rPr sz="1425" b="0">
                <a:solidFill>
                  <a:srgbClr val="637089"/>
                </a:solidFill>
                <a:latin typeface="Arial"/>
                <a:ea typeface="Arial"/>
                <a:cs typeface="Arial"/>
              </a:rPr>
              <a:t>Live app with seeded demo records. Eligible matches do not guarantee an offer. No loan disbursement.</a:t>
            </a:r>
          </a:p>
        </p:txBody>
      </p:sp>
    </p:spTree>
    <p:extLst>
      <p:ext uri="{BB962C8B-B14F-4D97-AF65-F5344CB8AC3E}">
        <p14:creationId xmlns:p14="http://schemas.microsoft.com/office/powerpoint/2010/main" val="1572550933"/>
      </p:ext>
    </p:extLst>
  </p:cSld>
</p:sld>
</file>

<file path=ppt/slides/slide7.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3" name="BizWizard">
            <a:extLst xmlns:a="http://schemas.openxmlformats.org/drawingml/2006/main">
              <a:ext uri="{FF2B5EF4-FFF2-40B4-BE49-F238E27FC236}">
                <a16:creationId xmlns:a16="http://schemas.microsoft.com/office/drawing/2014/main" id="{AAA359B3-874B-44FA-970B-A619775240BA}"/>
              </a:ext>
            </a:extLst>
          </p:cNvPr>
          <p:cNvSpPr>
            <a:spLocks xmlns:a="http://schemas.openxmlformats.org/drawingml/2006/main" noGrp="1"/>
          </p:cNvSpPr>
          <p:nvPr/>
        </p:nvSpPr>
        <p:spPr>
          <a:xfrm xmlns:a="http://schemas.openxmlformats.org/drawingml/2006/main">
            <a:off x="685800" y="3238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01F3C"/>
                </a:solidFill>
                <a:latin typeface="Arial"/>
                <a:ea typeface="Arial"/>
                <a:cs typeface="Arial"/>
              </a:defRPr>
            </a:defPPr>
          </a:lstStyle>
          <a:p xmlns:a="http://schemas.openxmlformats.org/drawingml/2006/main">
            <a:pPr algn="l">
              <a:defRPr sz="1575" b="1">
                <a:solidFill>
                  <a:srgbClr val="101F3C"/>
                </a:solidFill>
                <a:latin typeface="Arial"/>
                <a:ea typeface="Arial"/>
                <a:cs typeface="Arial"/>
              </a:defRPr>
            </a:pPr>
            <a:r>
              <a:rPr sz="1575" b="1">
                <a:solidFill>
                  <a:srgbClr val="101F3C"/>
                </a:solidFill>
                <a:latin typeface="Arial"/>
                <a:ea typeface="Arial"/>
                <a:cs typeface="Arial"/>
              </a:rPr>
              <a:t>BizWizard</a:t>
            </a:r>
          </a:p>
        </p:txBody>
      </p:sp>
      <p:sp>
        <p:nvSpPr>
          <p:cNvPr id="2" name="07">
            <a:extLst xmlns:a="http://schemas.openxmlformats.org/drawingml/2006/main">
              <a:ext uri="{FF2B5EF4-FFF2-40B4-BE49-F238E27FC236}">
                <a16:creationId xmlns:a16="http://schemas.microsoft.com/office/drawing/2014/main" id="{CF587DE2-5321-44C8-B8D1-E46627885150}"/>
              </a:ext>
            </a:extLst>
          </p:cNvPr>
          <p:cNvSpPr>
            <a:spLocks xmlns:a="http://schemas.openxmlformats.org/drawingml/2006/main" noGrp="1"/>
          </p:cNvSpPr>
          <p:nvPr/>
        </p:nvSpPr>
        <p:spPr>
          <a:xfrm xmlns:a="http://schemas.openxmlformats.org/drawingml/2006/main">
            <a:off x="12573000" y="323850"/>
            <a:ext cx="198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37089"/>
                </a:solidFill>
                <a:latin typeface="Arial"/>
                <a:ea typeface="Arial"/>
                <a:cs typeface="Arial"/>
              </a:defRPr>
            </a:defPPr>
          </a:lstStyle>
          <a:p xmlns:a="http://schemas.openxmlformats.org/drawingml/2006/main">
            <a:pPr algn="r">
              <a:defRPr sz="1425" b="0">
                <a:solidFill>
                  <a:srgbClr val="637089"/>
                </a:solidFill>
                <a:latin typeface="Arial"/>
                <a:ea typeface="Arial"/>
                <a:cs typeface="Arial"/>
              </a:defRPr>
            </a:pPr>
            <a:r>
              <a:rPr sz="1425" b="0">
                <a:solidFill>
                  <a:srgbClr val="637089"/>
                </a:solidFill>
                <a:latin typeface="Arial"/>
                <a:ea typeface="Arial"/>
                <a:cs typeface="Arial"/>
              </a:rPr>
              <a:t>07</a:t>
            </a:r>
          </a:p>
        </p:txBody>
      </p:sp>
      <p:sp>
        <p:nvSpPr>
          <p:cNvPr id="3" name="Slide heading">
            <a:extLst xmlns:a="http://schemas.openxmlformats.org/drawingml/2006/main">
              <a:ext uri="{FF2B5EF4-FFF2-40B4-BE49-F238E27FC236}">
                <a16:creationId xmlns:a16="http://schemas.microsoft.com/office/drawing/2014/main" id="{7F15916B-4155-4F65-BBE3-23FE0CD053B3}"/>
              </a:ext>
            </a:extLst>
          </p:cNvPr>
          <p:cNvSpPr>
            <a:spLocks xmlns:a="http://schemas.openxmlformats.org/drawingml/2006/main" noGrp="1"/>
          </p:cNvSpPr>
          <p:nvPr/>
        </p:nvSpPr>
        <p:spPr>
          <a:xfrm xmlns:a="http://schemas.openxmlformats.org/drawingml/2006/main">
            <a:off x="685800" y="1000125"/>
            <a:ext cx="138684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13243F"/>
                </a:solidFill>
                <a:latin typeface="Arial"/>
                <a:ea typeface="Arial"/>
                <a:cs typeface="Arial"/>
              </a:defRPr>
            </a:defPPr>
          </a:lstStyle>
          <a:p xmlns:a="http://schemas.openxmlformats.org/drawingml/2006/main">
            <a:pPr algn="l">
              <a:defRPr sz="4500" b="1">
                <a:solidFill>
                  <a:srgbClr val="13243F"/>
                </a:solidFill>
                <a:latin typeface="Arial"/>
                <a:ea typeface="Arial"/>
                <a:cs typeface="Arial"/>
              </a:defRPr>
            </a:pPr>
            <a:r>
              <a:rPr sz="4500" b="1">
                <a:solidFill>
                  <a:srgbClr val="13243F"/>
                </a:solidFill>
                <a:latin typeface="Arial"/>
                <a:ea typeface="Arial"/>
                <a:cs typeface="Arial"/>
              </a:rPr>
              <a:t>Financing rules and negotiation</a:t>
            </a:r>
          </a:p>
        </p:txBody>
      </p:sp>
      <p:sp>
        <p:nvSpPr>
          <p:cNvPr id="4" name="Ten eligibility rules run before AI sees the eligible produc">
            <a:extLst xmlns:a="http://schemas.openxmlformats.org/drawingml/2006/main">
              <a:ext uri="{FF2B5EF4-FFF2-40B4-BE49-F238E27FC236}">
                <a16:creationId xmlns:a16="http://schemas.microsoft.com/office/drawing/2014/main" id="{848FB598-9458-4B4C-98D1-0A8C84B3F5B0}"/>
              </a:ext>
            </a:extLst>
          </p:cNvPr>
          <p:cNvSpPr>
            <a:spLocks xmlns:a="http://schemas.openxmlformats.org/drawingml/2006/main" noGrp="1"/>
          </p:cNvSpPr>
          <p:nvPr/>
        </p:nvSpPr>
        <p:spPr>
          <a:xfrm xmlns:a="http://schemas.openxmlformats.org/drawingml/2006/main">
            <a:off x="723900" y="2266950"/>
            <a:ext cx="13792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3243F"/>
                </a:solidFill>
                <a:latin typeface="Arial"/>
                <a:ea typeface="Arial"/>
                <a:cs typeface="Arial"/>
              </a:defRPr>
            </a:defPPr>
          </a:lstStyle>
          <a:p xmlns:a="http://schemas.openxmlformats.org/drawingml/2006/main">
            <a:pPr algn="l">
              <a:defRPr sz="2400" b="1">
                <a:solidFill>
                  <a:srgbClr val="13243F"/>
                </a:solidFill>
                <a:latin typeface="Arial"/>
                <a:ea typeface="Arial"/>
                <a:cs typeface="Arial"/>
              </a:defRPr>
            </a:pPr>
            <a:r>
              <a:rPr sz="2400" b="1">
                <a:solidFill>
                  <a:srgbClr val="13243F"/>
                </a:solidFill>
                <a:latin typeface="Arial"/>
                <a:ea typeface="Arial"/>
                <a:cs typeface="Arial"/>
              </a:rPr>
              <a:t>Ten eligibility rules run before AI sees the eligible products.</a:t>
            </a:r>
          </a:p>
        </p:txBody>
      </p:sp>
      <p:graphicFrame>
        <p:nvGraphicFramePr>
          <p:cNvPr id="5" name="">
            <a:extLst xmlns:a="http://schemas.openxmlformats.org/drawingml/2006/main">
              <a:ext uri="{FF2B5EF4-FFF2-40B4-BE49-F238E27FC236}">
                <a16:creationId xmlns:a16="http://schemas.microsoft.com/office/drawing/2014/main" id="{654A591C-B5E4-4EA9-90AA-779B5A028F57}"/>
              </a:ext>
            </a:extLst>
          </p:cNvPr>
          <p:cNvGraphicFramePr/>
          <p:nvPr/>
        </p:nvGraphicFramePr>
        <p:xfrm>
          <a:off xmlns:a="http://schemas.openxmlformats.org/drawingml/2006/main" x="723900" y="3038475"/>
          <a:ext xmlns:a="http://schemas.openxmlformats.org/drawingml/2006/main" cx="13792200" cy="1428750"/>
        </p:xfrm>
        <a:graphic xmlns:a="http://schemas.openxmlformats.org/drawingml/2006/main">
          <a:graphicData uri="http://schemas.openxmlformats.org/drawingml/2006/table">
            <a:tbl>
              <a:tblPr firstRow="1" bandRow="0"/>
              <a:tblGrid>
                <a:gridCol w="2952750"/>
                <a:gridCol w="2381250"/>
                <a:gridCol w="2762250"/>
                <a:gridCol w="2857500"/>
                <a:gridCol w="2838450"/>
              </a:tblGrid>
              <a:tr h="714375">
                <a:tc>
                  <a:txBody>
                    <a:bodyPr lIns="133350" tIns="133350" rIns="133350" bIns="95250"/>
                    <a:lstStyle/>
                    <a:p>
                      <a:r>
                        <a:rPr sz="2100" b="1">
                          <a:solidFill>
                            <a:srgbClr val="FFFFFF"/>
                          </a:solidFill>
                          <a:latin typeface="Arial"/>
                          <a:ea typeface="Arial"/>
                          <a:cs typeface="Arial"/>
                        </a:rPr>
                        <a:t>Affordability</a:t>
                      </a:r>
                    </a:p>
                  </a:txBody>
                  <a:tcPr marL="91440" marR="91440" marT="45720" marB="45720" anchor="ctr">
                    <a:lnL w="6668">
                      <a:solidFill>
                        <a:srgbClr val="F6F8FC"/>
                      </a:solidFill>
                      <a:prstDash val="solid"/>
                    </a:lnL>
                    <a:lnR w="6668">
                      <a:solidFill>
                        <a:srgbClr val="F6F8FC"/>
                      </a:solidFill>
                      <a:prstDash val="solid"/>
                    </a:lnR>
                    <a:lnT w="6668">
                      <a:solidFill>
                        <a:srgbClr val="F6F8FC"/>
                      </a:solidFill>
                      <a:prstDash val="solid"/>
                    </a:lnT>
                    <a:lnB w="6668">
                      <a:solidFill>
                        <a:srgbClr val="F6F8FC"/>
                      </a:solidFill>
                      <a:prstDash val="solid"/>
                    </a:lnB>
                    <a:solidFill>
                      <a:srgbClr val="101F3C"/>
                    </a:solidFill>
                  </a:tcPr>
                </a:tc>
                <a:tc>
                  <a:txBody>
                    <a:bodyPr lIns="133350" tIns="133350" rIns="133350" bIns="95250"/>
                    <a:lstStyle/>
                    <a:p>
                      <a:r>
                        <a:rPr sz="2100" b="1">
                          <a:solidFill>
                            <a:srgbClr val="FFFFFF"/>
                          </a:solidFill>
                          <a:latin typeface="Arial"/>
                          <a:ea typeface="Arial"/>
                          <a:cs typeface="Arial"/>
                        </a:rPr>
                        <a:t>Cost</a:t>
                      </a:r>
                    </a:p>
                  </a:txBody>
                  <a:tcPr marL="91440" marR="91440" marT="45720" marB="45720" anchor="ctr">
                    <a:lnR w="6668">
                      <a:solidFill>
                        <a:srgbClr val="F6F8FC"/>
                      </a:solidFill>
                      <a:prstDash val="solid"/>
                    </a:lnR>
                    <a:lnT w="6668">
                      <a:solidFill>
                        <a:srgbClr val="F6F8FC"/>
                      </a:solidFill>
                      <a:prstDash val="solid"/>
                    </a:lnT>
                    <a:lnB w="6668">
                      <a:solidFill>
                        <a:srgbClr val="F6F8FC"/>
                      </a:solidFill>
                      <a:prstDash val="solid"/>
                    </a:lnB>
                    <a:solidFill>
                      <a:srgbClr val="101F3C"/>
                    </a:solidFill>
                  </a:tcPr>
                </a:tc>
                <a:tc>
                  <a:txBody>
                    <a:bodyPr lIns="133350" tIns="133350" rIns="133350" bIns="95250"/>
                    <a:lstStyle/>
                    <a:p>
                      <a:r>
                        <a:rPr sz="2100" b="1">
                          <a:solidFill>
                            <a:srgbClr val="FFFFFF"/>
                          </a:solidFill>
                          <a:latin typeface="Arial"/>
                          <a:ea typeface="Arial"/>
                          <a:cs typeface="Arial"/>
                        </a:rPr>
                        <a:t>Liquidity</a:t>
                      </a:r>
                    </a:p>
                  </a:txBody>
                  <a:tcPr marL="91440" marR="91440" marT="45720" marB="45720" anchor="ctr">
                    <a:lnR w="6668">
                      <a:solidFill>
                        <a:srgbClr val="F6F8FC"/>
                      </a:solidFill>
                      <a:prstDash val="solid"/>
                    </a:lnR>
                    <a:lnT w="6668">
                      <a:solidFill>
                        <a:srgbClr val="F6F8FC"/>
                      </a:solidFill>
                      <a:prstDash val="solid"/>
                    </a:lnT>
                    <a:lnB w="6668">
                      <a:solidFill>
                        <a:srgbClr val="F6F8FC"/>
                      </a:solidFill>
                      <a:prstDash val="solid"/>
                    </a:lnB>
                    <a:solidFill>
                      <a:srgbClr val="101F3C"/>
                    </a:solidFill>
                  </a:tcPr>
                </a:tc>
                <a:tc>
                  <a:txBody>
                    <a:bodyPr lIns="133350" tIns="133350" rIns="133350" bIns="95250"/>
                    <a:lstStyle/>
                    <a:p>
                      <a:r>
                        <a:rPr sz="2100" b="1">
                          <a:solidFill>
                            <a:srgbClr val="FFFFFF"/>
                          </a:solidFill>
                          <a:latin typeface="Arial"/>
                          <a:ea typeface="Arial"/>
                          <a:cs typeface="Arial"/>
                        </a:rPr>
                        <a:t>Collateral</a:t>
                      </a:r>
                    </a:p>
                  </a:txBody>
                  <a:tcPr marL="91440" marR="91440" marT="45720" marB="45720" anchor="ctr">
                    <a:lnR w="6668">
                      <a:solidFill>
                        <a:srgbClr val="F6F8FC"/>
                      </a:solidFill>
                      <a:prstDash val="solid"/>
                    </a:lnR>
                    <a:lnT w="6668">
                      <a:solidFill>
                        <a:srgbClr val="F6F8FC"/>
                      </a:solidFill>
                      <a:prstDash val="solid"/>
                    </a:lnT>
                    <a:lnB w="6668">
                      <a:solidFill>
                        <a:srgbClr val="F6F8FC"/>
                      </a:solidFill>
                      <a:prstDash val="solid"/>
                    </a:lnB>
                    <a:solidFill>
                      <a:srgbClr val="101F3C"/>
                    </a:solidFill>
                  </a:tcPr>
                </a:tc>
                <a:tc>
                  <a:txBody>
                    <a:bodyPr lIns="133350" tIns="133350" rIns="133350" bIns="95250"/>
                    <a:lstStyle/>
                    <a:p>
                      <a:r>
                        <a:rPr sz="2100" b="1">
                          <a:solidFill>
                            <a:srgbClr val="FFFFFF"/>
                          </a:solidFill>
                          <a:latin typeface="Arial"/>
                          <a:ea typeface="Arial"/>
                          <a:cs typeface="Arial"/>
                        </a:rPr>
                        <a:t>Flexibility</a:t>
                      </a:r>
                    </a:p>
                  </a:txBody>
                  <a:tcPr marL="91440" marR="91440" marT="45720" marB="45720" anchor="ctr">
                    <a:lnR w="6668">
                      <a:solidFill>
                        <a:srgbClr val="F6F8FC"/>
                      </a:solidFill>
                      <a:prstDash val="solid"/>
                    </a:lnR>
                    <a:lnT w="6668">
                      <a:solidFill>
                        <a:srgbClr val="F6F8FC"/>
                      </a:solidFill>
                      <a:prstDash val="solid"/>
                    </a:lnT>
                    <a:lnB w="6668">
                      <a:solidFill>
                        <a:srgbClr val="F6F8FC"/>
                      </a:solidFill>
                      <a:prstDash val="solid"/>
                    </a:lnB>
                    <a:solidFill>
                      <a:srgbClr val="101F3C"/>
                    </a:solidFill>
                  </a:tcPr>
                </a:tc>
              </a:tr>
              <a:tr h="714375">
                <a:tc>
                  <a:txBody>
                    <a:bodyPr lIns="133350" tIns="133350" rIns="133350" bIns="95250"/>
                    <a:lstStyle/>
                    <a:p>
                      <a:r>
                        <a:rPr sz="2100" b="0">
                          <a:solidFill>
                            <a:srgbClr val="13243F"/>
                          </a:solidFill>
                          <a:latin typeface="Arial"/>
                          <a:ea typeface="Arial"/>
                          <a:cs typeface="Arial"/>
                        </a:rPr>
                        <a:t>30%</a:t>
                      </a:r>
                    </a:p>
                  </a:txBody>
                  <a:tcPr marL="91440" marR="91440" marT="45720" marB="45720" anchor="ctr">
                    <a:lnL w="6668">
                      <a:solidFill>
                        <a:srgbClr val="F6F8FC"/>
                      </a:solidFill>
                      <a:prstDash val="solid"/>
                    </a:lnL>
                    <a:lnR w="6668">
                      <a:solidFill>
                        <a:srgbClr val="F6F8FC"/>
                      </a:solidFill>
                      <a:prstDash val="solid"/>
                    </a:lnR>
                    <a:lnB w="6668">
                      <a:solidFill>
                        <a:srgbClr val="F6F8FC"/>
                      </a:solidFill>
                      <a:prstDash val="solid"/>
                    </a:lnB>
                    <a:solidFill>
                      <a:srgbClr val="FFFFFF"/>
                    </a:solidFill>
                  </a:tcPr>
                </a:tc>
                <a:tc>
                  <a:txBody>
                    <a:bodyPr lIns="133350" tIns="133350" rIns="133350" bIns="95250"/>
                    <a:lstStyle/>
                    <a:p>
                      <a:r>
                        <a:rPr sz="2100" b="0">
                          <a:solidFill>
                            <a:srgbClr val="13243F"/>
                          </a:solidFill>
                          <a:latin typeface="Arial"/>
                          <a:ea typeface="Arial"/>
                          <a:cs typeface="Arial"/>
                        </a:rPr>
                        <a:t>25%</a:t>
                      </a:r>
                    </a:p>
                  </a:txBody>
                  <a:tcPr marL="91440" marR="91440" marT="45720" marB="45720" anchor="ctr">
                    <a:lnR w="6668">
                      <a:solidFill>
                        <a:srgbClr val="F6F8FC"/>
                      </a:solidFill>
                      <a:prstDash val="solid"/>
                    </a:lnR>
                    <a:lnB w="6668">
                      <a:solidFill>
                        <a:srgbClr val="F6F8FC"/>
                      </a:solidFill>
                      <a:prstDash val="solid"/>
                    </a:lnB>
                    <a:solidFill>
                      <a:srgbClr val="FFFFFF"/>
                    </a:solidFill>
                  </a:tcPr>
                </a:tc>
                <a:tc>
                  <a:txBody>
                    <a:bodyPr lIns="133350" tIns="133350" rIns="133350" bIns="95250"/>
                    <a:lstStyle/>
                    <a:p>
                      <a:r>
                        <a:rPr sz="2100" b="0">
                          <a:solidFill>
                            <a:srgbClr val="13243F"/>
                          </a:solidFill>
                          <a:latin typeface="Arial"/>
                          <a:ea typeface="Arial"/>
                          <a:cs typeface="Arial"/>
                        </a:rPr>
                        <a:t>20%</a:t>
                      </a:r>
                    </a:p>
                  </a:txBody>
                  <a:tcPr marL="91440" marR="91440" marT="45720" marB="45720" anchor="ctr">
                    <a:lnR w="6668">
                      <a:solidFill>
                        <a:srgbClr val="F6F8FC"/>
                      </a:solidFill>
                      <a:prstDash val="solid"/>
                    </a:lnR>
                    <a:lnB w="6668">
                      <a:solidFill>
                        <a:srgbClr val="F6F8FC"/>
                      </a:solidFill>
                      <a:prstDash val="solid"/>
                    </a:lnB>
                    <a:solidFill>
                      <a:srgbClr val="FFFFFF"/>
                    </a:solidFill>
                  </a:tcPr>
                </a:tc>
                <a:tc>
                  <a:txBody>
                    <a:bodyPr lIns="133350" tIns="133350" rIns="133350" bIns="95250"/>
                    <a:lstStyle/>
                    <a:p>
                      <a:r>
                        <a:rPr sz="2100" b="0">
                          <a:solidFill>
                            <a:srgbClr val="13243F"/>
                          </a:solidFill>
                          <a:latin typeface="Arial"/>
                          <a:ea typeface="Arial"/>
                          <a:cs typeface="Arial"/>
                        </a:rPr>
                        <a:t>15%</a:t>
                      </a:r>
                    </a:p>
                  </a:txBody>
                  <a:tcPr marL="91440" marR="91440" marT="45720" marB="45720" anchor="ctr">
                    <a:lnR w="6668">
                      <a:solidFill>
                        <a:srgbClr val="F6F8FC"/>
                      </a:solidFill>
                      <a:prstDash val="solid"/>
                    </a:lnR>
                    <a:lnB w="6668">
                      <a:solidFill>
                        <a:srgbClr val="F6F8FC"/>
                      </a:solidFill>
                      <a:prstDash val="solid"/>
                    </a:lnB>
                    <a:solidFill>
                      <a:srgbClr val="FFFFFF"/>
                    </a:solidFill>
                  </a:tcPr>
                </a:tc>
                <a:tc>
                  <a:txBody>
                    <a:bodyPr lIns="133350" tIns="133350" rIns="133350" bIns="95250"/>
                    <a:lstStyle/>
                    <a:p>
                      <a:r>
                        <a:rPr sz="2100" b="0">
                          <a:solidFill>
                            <a:srgbClr val="13243F"/>
                          </a:solidFill>
                          <a:latin typeface="Arial"/>
                          <a:ea typeface="Arial"/>
                          <a:cs typeface="Arial"/>
                        </a:rPr>
                        <a:t>10%</a:t>
                      </a:r>
                    </a:p>
                  </a:txBody>
                  <a:tcPr marL="91440" marR="91440" marT="45720" marB="45720" anchor="ctr">
                    <a:lnR w="6668">
                      <a:solidFill>
                        <a:srgbClr val="F6F8FC"/>
                      </a:solidFill>
                      <a:prstDash val="solid"/>
                    </a:lnR>
                    <a:lnB w="6668">
                      <a:solidFill>
                        <a:srgbClr val="F6F8FC"/>
                      </a:solidFill>
                      <a:prstDash val="solid"/>
                    </a:lnB>
                    <a:solidFill>
                      <a:srgbClr val="FFFFFF"/>
                    </a:solidFill>
                  </a:tcPr>
                </a:tc>
              </a:tr>
            </a:tbl>
          </a:graphicData>
        </a:graphic>
      </p:graphicFrame>
      <p:sp>
        <p:nvSpPr>
          <p:cNvPr id="6" name="Final score = 60% rules + 40% AI">
            <a:extLst xmlns:a="http://schemas.openxmlformats.org/drawingml/2006/main">
              <a:ext uri="{FF2B5EF4-FFF2-40B4-BE49-F238E27FC236}">
                <a16:creationId xmlns:a16="http://schemas.microsoft.com/office/drawing/2014/main" id="{C946A7E9-6B17-4E75-B430-3D5574FC0B83}"/>
              </a:ext>
            </a:extLst>
          </p:cNvPr>
          <p:cNvSpPr>
            <a:spLocks xmlns:a="http://schemas.openxmlformats.org/drawingml/2006/main" noGrp="1"/>
          </p:cNvSpPr>
          <p:nvPr/>
        </p:nvSpPr>
        <p:spPr>
          <a:xfrm xmlns:a="http://schemas.openxmlformats.org/drawingml/2006/main">
            <a:off x="723900" y="4838700"/>
            <a:ext cx="809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2463EB"/>
                </a:solidFill>
                <a:latin typeface="Arial"/>
                <a:ea typeface="Arial"/>
                <a:cs typeface="Arial"/>
              </a:defRPr>
            </a:defPPr>
          </a:lstStyle>
          <a:p xmlns:a="http://schemas.openxmlformats.org/drawingml/2006/main">
            <a:pPr algn="l">
              <a:defRPr sz="2850" b="1">
                <a:solidFill>
                  <a:srgbClr val="2463EB"/>
                </a:solidFill>
                <a:latin typeface="Arial"/>
                <a:ea typeface="Arial"/>
                <a:cs typeface="Arial"/>
              </a:defRPr>
            </a:pPr>
            <a:r>
              <a:rPr sz="2850" b="1">
                <a:solidFill>
                  <a:srgbClr val="2463EB"/>
                </a:solidFill>
                <a:latin typeface="Arial"/>
                <a:ea typeface="Arial"/>
                <a:cs typeface="Arial"/>
              </a:rPr>
              <a:t>Final score = 60% rules + 40% AI</a:t>
            </a:r>
          </a:p>
        </p:txBody>
      </p:sp>
      <p:sp>
        <p:nvSpPr>
          <p:cNvPr id="7" name="The AI score stays within ±15 points of the rules score.">
            <a:extLst xmlns:a="http://schemas.openxmlformats.org/drawingml/2006/main">
              <a:ext uri="{FF2B5EF4-FFF2-40B4-BE49-F238E27FC236}">
                <a16:creationId xmlns:a16="http://schemas.microsoft.com/office/drawing/2014/main" id="{A41669EA-1509-4F53-A815-E1B6C0943499}"/>
              </a:ext>
            </a:extLst>
          </p:cNvPr>
          <p:cNvSpPr>
            <a:spLocks xmlns:a="http://schemas.openxmlformats.org/drawingml/2006/main" noGrp="1"/>
          </p:cNvSpPr>
          <p:nvPr/>
        </p:nvSpPr>
        <p:spPr>
          <a:xfrm xmlns:a="http://schemas.openxmlformats.org/drawingml/2006/main">
            <a:off x="723900" y="54102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37089"/>
                </a:solidFill>
                <a:latin typeface="Arial"/>
                <a:ea typeface="Arial"/>
                <a:cs typeface="Arial"/>
              </a:defRPr>
            </a:defPPr>
          </a:lstStyle>
          <a:p xmlns:a="http://schemas.openxmlformats.org/drawingml/2006/main">
            <a:pPr algn="l">
              <a:defRPr sz="2175" b="0">
                <a:solidFill>
                  <a:srgbClr val="637089"/>
                </a:solidFill>
                <a:latin typeface="Arial"/>
                <a:ea typeface="Arial"/>
                <a:cs typeface="Arial"/>
              </a:defRPr>
            </a:pPr>
            <a:r>
              <a:rPr sz="2175" b="0">
                <a:solidFill>
                  <a:srgbClr val="637089"/>
                </a:solidFill>
                <a:latin typeface="Arial"/>
                <a:ea typeface="Arial"/>
                <a:cs typeface="Arial"/>
              </a:rPr>
              <a:t>The AI score stays within ±15 points of the rules score.</a:t>
            </a:r>
          </a:p>
        </p:txBody>
      </p:sp>
      <p:sp>
        <p:nvSpPr>
          <p:cNvPr id="8" name="Repayment capacity">
            <a:extLst xmlns:a="http://schemas.openxmlformats.org/drawingml/2006/main">
              <a:ext uri="{FF2B5EF4-FFF2-40B4-BE49-F238E27FC236}">
                <a16:creationId xmlns:a16="http://schemas.microsoft.com/office/drawing/2014/main" id="{5890DAEC-338B-4C48-A15C-883755A5D351}"/>
              </a:ext>
            </a:extLst>
          </p:cNvPr>
          <p:cNvSpPr>
            <a:spLocks xmlns:a="http://schemas.openxmlformats.org/drawingml/2006/main" noGrp="1"/>
          </p:cNvSpPr>
          <p:nvPr/>
        </p:nvSpPr>
        <p:spPr>
          <a:xfrm xmlns:a="http://schemas.openxmlformats.org/drawingml/2006/main">
            <a:off x="723900" y="6191250"/>
            <a:ext cx="685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3243F"/>
                </a:solidFill>
                <a:latin typeface="Arial"/>
                <a:ea typeface="Arial"/>
                <a:cs typeface="Arial"/>
              </a:defRPr>
            </a:defPPr>
          </a:lstStyle>
          <a:p xmlns:a="http://schemas.openxmlformats.org/drawingml/2006/main">
            <a:pPr algn="l">
              <a:defRPr sz="2400" b="1">
                <a:solidFill>
                  <a:srgbClr val="13243F"/>
                </a:solidFill>
                <a:latin typeface="Arial"/>
                <a:ea typeface="Arial"/>
                <a:cs typeface="Arial"/>
              </a:defRPr>
            </a:pPr>
            <a:r>
              <a:rPr sz="2400" b="1">
                <a:solidFill>
                  <a:srgbClr val="13243F"/>
                </a:solidFill>
                <a:latin typeface="Arial"/>
                <a:ea typeface="Arial"/>
                <a:cs typeface="Arial"/>
              </a:rPr>
              <a:t>Repayment capacity</a:t>
            </a:r>
          </a:p>
        </p:txBody>
      </p:sp>
      <p:sp>
        <p:nvSpPr>
          <p:cNvPr id="9" name="Monthly installment ≤50% of free cash flow. Secured principa">
            <a:extLst xmlns:a="http://schemas.openxmlformats.org/drawingml/2006/main">
              <a:ext uri="{FF2B5EF4-FFF2-40B4-BE49-F238E27FC236}">
                <a16:creationId xmlns:a16="http://schemas.microsoft.com/office/drawing/2014/main" id="{7CF521D6-3CED-4410-8E49-CB17210064C4}"/>
              </a:ext>
            </a:extLst>
          </p:cNvPr>
          <p:cNvSpPr>
            <a:spLocks xmlns:a="http://schemas.openxmlformats.org/drawingml/2006/main" noGrp="1"/>
          </p:cNvSpPr>
          <p:nvPr/>
        </p:nvSpPr>
        <p:spPr>
          <a:xfrm xmlns:a="http://schemas.openxmlformats.org/drawingml/2006/main">
            <a:off x="723900" y="6724650"/>
            <a:ext cx="685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637089"/>
                </a:solidFill>
                <a:latin typeface="Arial"/>
                <a:ea typeface="Arial"/>
                <a:cs typeface="Arial"/>
              </a:defRPr>
            </a:defPPr>
          </a:lstStyle>
          <a:p xmlns:a="http://schemas.openxmlformats.org/drawingml/2006/main">
            <a:pPr algn="l">
              <a:defRPr sz="2025" b="0">
                <a:solidFill>
                  <a:srgbClr val="637089"/>
                </a:solidFill>
                <a:latin typeface="Arial"/>
                <a:ea typeface="Arial"/>
                <a:cs typeface="Arial"/>
              </a:defRPr>
            </a:pPr>
            <a:r>
              <a:rPr sz="2025" b="0">
                <a:solidFill>
                  <a:srgbClr val="637089"/>
                </a:solidFill>
                <a:latin typeface="Arial"/>
                <a:ea typeface="Arial"/>
                <a:cs typeface="Arial"/>
              </a:rPr>
              <a:t>Monthly installment ≤50% of free cash flow.</a:t>
            </a:r>
          </a:p>
          <a:p xmlns:a="http://schemas.openxmlformats.org/drawingml/2006/main">
            <a:pPr algn="l">
              <a:defRPr sz="2025" b="0">
                <a:solidFill>
                  <a:srgbClr val="637089"/>
                </a:solidFill>
                <a:latin typeface="Arial"/>
                <a:ea typeface="Arial"/>
                <a:cs typeface="Arial"/>
              </a:defRPr>
            </a:pPr>
            <a:r>
              <a:rPr sz="2025" b="0">
                <a:solidFill>
                  <a:srgbClr val="637089"/>
                </a:solidFill>
                <a:latin typeface="Arial"/>
                <a:ea typeface="Arial"/>
                <a:cs typeface="Arial"/>
              </a:rPr>
              <a:t>Secured principal also respects 85% of collateral.</a:t>
            </a:r>
          </a:p>
        </p:txBody>
      </p:sp>
      <p:sp>
        <p:nvSpPr>
          <p:cNvPr id="10" name="Negotiation limits">
            <a:extLst xmlns:a="http://schemas.openxmlformats.org/drawingml/2006/main">
              <a:ext uri="{FF2B5EF4-FFF2-40B4-BE49-F238E27FC236}">
                <a16:creationId xmlns:a16="http://schemas.microsoft.com/office/drawing/2014/main" id="{EDAC37C3-D444-4C48-8748-4C9999A686AF}"/>
              </a:ext>
            </a:extLst>
          </p:cNvPr>
          <p:cNvSpPr>
            <a:spLocks xmlns:a="http://schemas.openxmlformats.org/drawingml/2006/main" noGrp="1"/>
          </p:cNvSpPr>
          <p:nvPr/>
        </p:nvSpPr>
        <p:spPr>
          <a:xfrm xmlns:a="http://schemas.openxmlformats.org/drawingml/2006/main">
            <a:off x="8172450" y="6191250"/>
            <a:ext cx="638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3243F"/>
                </a:solidFill>
                <a:latin typeface="Arial"/>
                <a:ea typeface="Arial"/>
                <a:cs typeface="Arial"/>
              </a:defRPr>
            </a:defPPr>
          </a:lstStyle>
          <a:p xmlns:a="http://schemas.openxmlformats.org/drawingml/2006/main">
            <a:pPr algn="l">
              <a:defRPr sz="2400" b="1">
                <a:solidFill>
                  <a:srgbClr val="13243F"/>
                </a:solidFill>
                <a:latin typeface="Arial"/>
                <a:ea typeface="Arial"/>
                <a:cs typeface="Arial"/>
              </a:defRPr>
            </a:pPr>
            <a:r>
              <a:rPr sz="2400" b="1">
                <a:solidFill>
                  <a:srgbClr val="13243F"/>
                </a:solidFill>
                <a:latin typeface="Arial"/>
                <a:ea typeface="Arial"/>
                <a:cs typeface="Arial"/>
              </a:rPr>
              <a:t>Negotiation limits</a:t>
            </a:r>
          </a:p>
        </p:txBody>
      </p:sp>
      <p:sp>
        <p:nvSpPr>
          <p:cNvPr id="11" name="Up to 3 rounds. Borrower acceptance tests a 35% installment ">
            <a:extLst xmlns:a="http://schemas.openxmlformats.org/drawingml/2006/main">
              <a:ext uri="{FF2B5EF4-FFF2-40B4-BE49-F238E27FC236}">
                <a16:creationId xmlns:a16="http://schemas.microsoft.com/office/drawing/2014/main" id="{CD45C545-09C8-4238-85FF-DCF09D2AEEA0}"/>
              </a:ext>
            </a:extLst>
          </p:cNvPr>
          <p:cNvSpPr>
            <a:spLocks xmlns:a="http://schemas.openxmlformats.org/drawingml/2006/main" noGrp="1"/>
          </p:cNvSpPr>
          <p:nvPr/>
        </p:nvSpPr>
        <p:spPr>
          <a:xfrm xmlns:a="http://schemas.openxmlformats.org/drawingml/2006/main">
            <a:off x="8172450" y="6724650"/>
            <a:ext cx="6381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637089"/>
                </a:solidFill>
                <a:latin typeface="Arial"/>
                <a:ea typeface="Arial"/>
                <a:cs typeface="Arial"/>
              </a:defRPr>
            </a:defPPr>
          </a:lstStyle>
          <a:p xmlns:a="http://schemas.openxmlformats.org/drawingml/2006/main">
            <a:pPr algn="l">
              <a:defRPr sz="2025" b="0">
                <a:solidFill>
                  <a:srgbClr val="637089"/>
                </a:solidFill>
                <a:latin typeface="Arial"/>
                <a:ea typeface="Arial"/>
                <a:cs typeface="Arial"/>
              </a:defRPr>
            </a:pPr>
            <a:r>
              <a:rPr sz="2025" b="0">
                <a:solidFill>
                  <a:srgbClr val="637089"/>
                </a:solidFill>
                <a:latin typeface="Arial"/>
                <a:ea typeface="Arial"/>
                <a:cs typeface="Arial"/>
              </a:rPr>
              <a:t>Up to 3 rounds. Borrower acceptance tests</a:t>
            </a:r>
          </a:p>
          <a:p xmlns:a="http://schemas.openxmlformats.org/drawingml/2006/main">
            <a:pPr algn="l">
              <a:defRPr sz="2025" b="0">
                <a:solidFill>
                  <a:srgbClr val="637089"/>
                </a:solidFill>
                <a:latin typeface="Arial"/>
                <a:ea typeface="Arial"/>
                <a:cs typeface="Arial"/>
              </a:defRPr>
            </a:pPr>
            <a:r>
              <a:rPr sz="2025" b="0">
                <a:solidFill>
                  <a:srgbClr val="637089"/>
                </a:solidFill>
                <a:latin typeface="Arial"/>
                <a:ea typeface="Arial"/>
                <a:cs typeface="Arial"/>
              </a:rPr>
              <a:t>a 35% installment burden and owner rate limits.</a:t>
            </a:r>
          </a:p>
        </p:txBody>
      </p:sp>
      <p:sp>
        <p:nvSpPr>
          <p:cNvPr id="12" name="Code prices offers from risk and product limits. A guard bre">
            <a:extLst xmlns:a="http://schemas.openxmlformats.org/drawingml/2006/main">
              <a:ext uri="{FF2B5EF4-FFF2-40B4-BE49-F238E27FC236}">
                <a16:creationId xmlns:a16="http://schemas.microsoft.com/office/drawing/2014/main" id="{35B6B1BF-4A4F-4641-8A90-1875C2EF62C6}"/>
              </a:ext>
            </a:extLst>
          </p:cNvPr>
          <p:cNvSpPr>
            <a:spLocks xmlns:a="http://schemas.openxmlformats.org/drawingml/2006/main" noGrp="1"/>
          </p:cNvSpPr>
          <p:nvPr/>
        </p:nvSpPr>
        <p:spPr>
          <a:xfrm xmlns:a="http://schemas.openxmlformats.org/drawingml/2006/main">
            <a:off x="685800" y="7915275"/>
            <a:ext cx="13868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37089"/>
                </a:solidFill>
                <a:latin typeface="Arial"/>
                <a:ea typeface="Arial"/>
                <a:cs typeface="Arial"/>
              </a:defRPr>
            </a:defPPr>
          </a:lstStyle>
          <a:p xmlns:a="http://schemas.openxmlformats.org/drawingml/2006/main">
            <a:pPr algn="l">
              <a:defRPr sz="1425" b="0">
                <a:solidFill>
                  <a:srgbClr val="637089"/>
                </a:solidFill>
                <a:latin typeface="Arial"/>
                <a:ea typeface="Arial"/>
                <a:cs typeface="Arial"/>
              </a:defRPr>
            </a:pPr>
            <a:r>
              <a:rPr sz="1425" b="0">
                <a:solidFill>
                  <a:srgbClr val="637089"/>
                </a:solidFill>
                <a:latin typeface="Arial"/>
                <a:ea typeface="Arial"/>
                <a:cs typeface="Arial"/>
              </a:rPr>
              <a:t>Code prices offers from risk and product limits. A guard breach produces no offer.</a:t>
            </a:r>
          </a:p>
        </p:txBody>
      </p:sp>
    </p:spTree>
    <p:extLst>
      <p:ext uri="{BB962C8B-B14F-4D97-AF65-F5344CB8AC3E}">
        <p14:creationId xmlns:p14="http://schemas.microsoft.com/office/powerpoint/2010/main" val="1782377643"/>
      </p:ext>
    </p:extLst>
  </p:cSld>
</p:sld>
</file>

<file path=ppt/slides/slide8.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2" name="BizWizard">
            <a:extLst xmlns:a="http://schemas.openxmlformats.org/drawingml/2006/main">
              <a:ext uri="{FF2B5EF4-FFF2-40B4-BE49-F238E27FC236}">
                <a16:creationId xmlns:a16="http://schemas.microsoft.com/office/drawing/2014/main" id="{A7BA545B-B054-43E3-828F-74D42D2C6354}"/>
              </a:ext>
            </a:extLst>
          </p:cNvPr>
          <p:cNvSpPr>
            <a:spLocks xmlns:a="http://schemas.openxmlformats.org/drawingml/2006/main" noGrp="1"/>
          </p:cNvSpPr>
          <p:nvPr/>
        </p:nvSpPr>
        <p:spPr>
          <a:xfrm xmlns:a="http://schemas.openxmlformats.org/drawingml/2006/main">
            <a:off x="685800" y="3238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01F3C"/>
                </a:solidFill>
                <a:latin typeface="Arial"/>
                <a:ea typeface="Arial"/>
                <a:cs typeface="Arial"/>
              </a:defRPr>
            </a:defPPr>
          </a:lstStyle>
          <a:p xmlns:a="http://schemas.openxmlformats.org/drawingml/2006/main">
            <a:pPr algn="l">
              <a:defRPr sz="1575" b="1">
                <a:solidFill>
                  <a:srgbClr val="101F3C"/>
                </a:solidFill>
                <a:latin typeface="Arial"/>
                <a:ea typeface="Arial"/>
                <a:cs typeface="Arial"/>
              </a:defRPr>
            </a:pPr>
            <a:r>
              <a:rPr sz="1575" b="1">
                <a:solidFill>
                  <a:srgbClr val="101F3C"/>
                </a:solidFill>
                <a:latin typeface="Arial"/>
                <a:ea typeface="Arial"/>
                <a:cs typeface="Arial"/>
              </a:rPr>
              <a:t>BizWizard</a:t>
            </a:r>
          </a:p>
        </p:txBody>
      </p:sp>
      <p:sp>
        <p:nvSpPr>
          <p:cNvPr id="2" name="08">
            <a:extLst xmlns:a="http://schemas.openxmlformats.org/drawingml/2006/main">
              <a:ext uri="{FF2B5EF4-FFF2-40B4-BE49-F238E27FC236}">
                <a16:creationId xmlns:a16="http://schemas.microsoft.com/office/drawing/2014/main" id="{3D4D41CA-7ACF-4502-8AEF-2AD04ABD6BE8}"/>
              </a:ext>
            </a:extLst>
          </p:cNvPr>
          <p:cNvSpPr>
            <a:spLocks xmlns:a="http://schemas.openxmlformats.org/drawingml/2006/main" noGrp="1"/>
          </p:cNvSpPr>
          <p:nvPr/>
        </p:nvSpPr>
        <p:spPr>
          <a:xfrm xmlns:a="http://schemas.openxmlformats.org/drawingml/2006/main">
            <a:off x="12573000" y="323850"/>
            <a:ext cx="198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37089"/>
                </a:solidFill>
                <a:latin typeface="Arial"/>
                <a:ea typeface="Arial"/>
                <a:cs typeface="Arial"/>
              </a:defRPr>
            </a:defPPr>
          </a:lstStyle>
          <a:p xmlns:a="http://schemas.openxmlformats.org/drawingml/2006/main">
            <a:pPr algn="r">
              <a:defRPr sz="1425" b="0">
                <a:solidFill>
                  <a:srgbClr val="637089"/>
                </a:solidFill>
                <a:latin typeface="Arial"/>
                <a:ea typeface="Arial"/>
                <a:cs typeface="Arial"/>
              </a:defRPr>
            </a:pPr>
            <a:r>
              <a:rPr sz="1425" b="0">
                <a:solidFill>
                  <a:srgbClr val="637089"/>
                </a:solidFill>
                <a:latin typeface="Arial"/>
                <a:ea typeface="Arial"/>
                <a:cs typeface="Arial"/>
              </a:rPr>
              <a:t>08</a:t>
            </a:r>
          </a:p>
        </p:txBody>
      </p:sp>
      <p:sp>
        <p:nvSpPr>
          <p:cNvPr id="3" name="Slide heading">
            <a:extLst xmlns:a="http://schemas.openxmlformats.org/drawingml/2006/main">
              <a:ext uri="{FF2B5EF4-FFF2-40B4-BE49-F238E27FC236}">
                <a16:creationId xmlns:a16="http://schemas.microsoft.com/office/drawing/2014/main" id="{318253E8-009A-4221-86DD-003990C82728}"/>
              </a:ext>
            </a:extLst>
          </p:cNvPr>
          <p:cNvSpPr>
            <a:spLocks xmlns:a="http://schemas.openxmlformats.org/drawingml/2006/main" noGrp="1"/>
          </p:cNvSpPr>
          <p:nvPr/>
        </p:nvSpPr>
        <p:spPr>
          <a:xfrm xmlns:a="http://schemas.openxmlformats.org/drawingml/2006/main">
            <a:off x="685800" y="1000125"/>
            <a:ext cx="138684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13243F"/>
                </a:solidFill>
                <a:latin typeface="Arial"/>
                <a:ea typeface="Arial"/>
                <a:cs typeface="Arial"/>
              </a:defRPr>
            </a:defPPr>
          </a:lstStyle>
          <a:p xmlns:a="http://schemas.openxmlformats.org/drawingml/2006/main">
            <a:pPr algn="l">
              <a:defRPr sz="4500" b="1">
                <a:solidFill>
                  <a:srgbClr val="13243F"/>
                </a:solidFill>
                <a:latin typeface="Arial"/>
                <a:ea typeface="Arial"/>
                <a:cs typeface="Arial"/>
              </a:defRPr>
            </a:pPr>
            <a:r>
              <a:rPr sz="4500" b="1">
                <a:solidFill>
                  <a:srgbClr val="13243F"/>
                </a:solidFill>
                <a:latin typeface="Arial"/>
                <a:ea typeface="Arial"/>
                <a:cs typeface="Arial"/>
              </a:rPr>
              <a:t>Cash flow before the next bill</a:t>
            </a:r>
          </a:p>
        </p:txBody>
      </p:sp>
      <p:pic>
        <p:nvPicPr>
          <p:cNvPr id="4" name="">
            <a:extLst xmlns:a="http://schemas.openxmlformats.org/drawingml/2006/main">
              <a:ext uri="{FF2B5EF4-FFF2-40B4-BE49-F238E27FC236}">
                <a16:creationId xmlns:a16="http://schemas.microsoft.com/office/drawing/2014/main" id="{C9A528B7-A3A0-4B9B-BC2B-F250C5229686}"/>
              </a:ext>
            </a:extLst>
          </p:cNvPr>
          <p:cNvPicPr>
            <a:picLocks xmlns:a="http://schemas.openxmlformats.org/drawingml/2006/main" noChangeAspect="1"/>
          </p:cNvPicPr>
          <p:nvPr/>
        </p:nvPicPr>
        <p:blipFill>
          <a:blip xmlns:r="http://schemas.openxmlformats.org/officeDocument/2006/relationships" xmlns:a="http://schemas.openxmlformats.org/drawingml/2006/main" r:embed="R1a8f84d1978e484c"/>
          <a:stretch xmlns:a="http://schemas.openxmlformats.org/drawingml/2006/main"/>
        </p:blipFill>
        <p:spPr>
          <a:xfrm xmlns:a="http://schemas.openxmlformats.org/drawingml/2006/main">
            <a:off x="914400" y="3151144"/>
            <a:ext cx="8953500" cy="3413213"/>
          </a:xfrm>
          <a:prstGeom xmlns:a="http://schemas.openxmlformats.org/drawingml/2006/main" prst="rect">
            <a:avLst/>
          </a:prstGeom>
        </p:spPr>
      </p:pic>
      <p:sp>
        <p:nvSpPr>
          <p:cNvPr id="5" name="90-day projection">
            <a:extLst xmlns:a="http://schemas.openxmlformats.org/drawingml/2006/main">
              <a:ext uri="{FF2B5EF4-FFF2-40B4-BE49-F238E27FC236}">
                <a16:creationId xmlns:a16="http://schemas.microsoft.com/office/drawing/2014/main" id="{FFFCACE4-4F95-4264-BF7F-E0F3FBEEE7F7}"/>
              </a:ext>
            </a:extLst>
          </p:cNvPr>
          <p:cNvSpPr>
            <a:spLocks xmlns:a="http://schemas.openxmlformats.org/drawingml/2006/main" noGrp="1"/>
          </p:cNvSpPr>
          <p:nvPr/>
        </p:nvSpPr>
        <p:spPr>
          <a:xfrm xmlns:a="http://schemas.openxmlformats.org/drawingml/2006/main">
            <a:off x="10772775" y="2590800"/>
            <a:ext cx="37433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3243F"/>
                </a:solidFill>
                <a:latin typeface="Arial"/>
                <a:ea typeface="Arial"/>
                <a:cs typeface="Arial"/>
              </a:defRPr>
            </a:defPPr>
          </a:lstStyle>
          <a:p xmlns:a="http://schemas.openxmlformats.org/drawingml/2006/main">
            <a:pPr algn="l">
              <a:defRPr sz="2400" b="1">
                <a:solidFill>
                  <a:srgbClr val="13243F"/>
                </a:solidFill>
                <a:latin typeface="Arial"/>
                <a:ea typeface="Arial"/>
                <a:cs typeface="Arial"/>
              </a:defRPr>
            </a:pPr>
            <a:r>
              <a:rPr sz="2400" b="1">
                <a:solidFill>
                  <a:srgbClr val="13243F"/>
                </a:solidFill>
                <a:latin typeface="Arial"/>
                <a:ea typeface="Arial"/>
                <a:cs typeface="Arial"/>
              </a:rPr>
              <a:t>90-day projection</a:t>
            </a:r>
          </a:p>
        </p:txBody>
      </p:sp>
      <p:sp>
        <p:nvSpPr>
          <p:cNvPr id="6" name="History, dated commitments and weighted receivables.">
            <a:extLst xmlns:a="http://schemas.openxmlformats.org/drawingml/2006/main">
              <a:ext uri="{FF2B5EF4-FFF2-40B4-BE49-F238E27FC236}">
                <a16:creationId xmlns:a16="http://schemas.microsoft.com/office/drawing/2014/main" id="{EEBD3A3D-E99D-4F9A-B609-4D7040D56C63}"/>
              </a:ext>
            </a:extLst>
          </p:cNvPr>
          <p:cNvSpPr>
            <a:spLocks xmlns:a="http://schemas.openxmlformats.org/drawingml/2006/main" noGrp="1"/>
          </p:cNvSpPr>
          <p:nvPr/>
        </p:nvSpPr>
        <p:spPr>
          <a:xfrm xmlns:a="http://schemas.openxmlformats.org/drawingml/2006/main">
            <a:off x="10772775" y="3124200"/>
            <a:ext cx="37433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37089"/>
                </a:solidFill>
                <a:latin typeface="Arial"/>
                <a:ea typeface="Arial"/>
                <a:cs typeface="Arial"/>
              </a:defRPr>
            </a:defPPr>
          </a:lstStyle>
          <a:p xmlns:a="http://schemas.openxmlformats.org/drawingml/2006/main">
            <a:pPr algn="l">
              <a:defRPr sz="2100" b="0">
                <a:solidFill>
                  <a:srgbClr val="637089"/>
                </a:solidFill>
                <a:latin typeface="Arial"/>
                <a:ea typeface="Arial"/>
                <a:cs typeface="Arial"/>
              </a:defRPr>
            </a:pPr>
            <a:r>
              <a:rPr sz="2100" b="0">
                <a:solidFill>
                  <a:srgbClr val="637089"/>
                </a:solidFill>
                <a:latin typeface="Arial"/>
                <a:ea typeface="Arial"/>
                <a:cs typeface="Arial"/>
              </a:rPr>
              <a:t>History, dated commitments</a:t>
            </a:r>
          </a:p>
          <a:p xmlns:a="http://schemas.openxmlformats.org/drawingml/2006/main">
            <a:pPr algn="l">
              <a:defRPr sz="2100" b="0">
                <a:solidFill>
                  <a:srgbClr val="637089"/>
                </a:solidFill>
                <a:latin typeface="Arial"/>
                <a:ea typeface="Arial"/>
                <a:cs typeface="Arial"/>
              </a:defRPr>
            </a:pPr>
            <a:r>
              <a:rPr sz="2100" b="0">
                <a:solidFill>
                  <a:srgbClr val="637089"/>
                </a:solidFill>
                <a:latin typeface="Arial"/>
                <a:ea typeface="Arial"/>
                <a:cs typeface="Arial"/>
              </a:rPr>
              <a:t>and weighted receivables.</a:t>
            </a:r>
          </a:p>
        </p:txBody>
      </p:sp>
      <p:sp>
        <p:nvSpPr>
          <p:cNvPr id="7" name="Nine alert conditions">
            <a:extLst xmlns:a="http://schemas.openxmlformats.org/drawingml/2006/main">
              <a:ext uri="{FF2B5EF4-FFF2-40B4-BE49-F238E27FC236}">
                <a16:creationId xmlns:a16="http://schemas.microsoft.com/office/drawing/2014/main" id="{B0740055-04F3-45A9-A75F-C479E1107A0D}"/>
              </a:ext>
            </a:extLst>
          </p:cNvPr>
          <p:cNvSpPr>
            <a:spLocks xmlns:a="http://schemas.openxmlformats.org/drawingml/2006/main" noGrp="1"/>
          </p:cNvSpPr>
          <p:nvPr/>
        </p:nvSpPr>
        <p:spPr>
          <a:xfrm xmlns:a="http://schemas.openxmlformats.org/drawingml/2006/main">
            <a:off x="10772775" y="4400550"/>
            <a:ext cx="37433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3243F"/>
                </a:solidFill>
                <a:latin typeface="Arial"/>
                <a:ea typeface="Arial"/>
                <a:cs typeface="Arial"/>
              </a:defRPr>
            </a:defPPr>
          </a:lstStyle>
          <a:p xmlns:a="http://schemas.openxmlformats.org/drawingml/2006/main">
            <a:pPr algn="l">
              <a:defRPr sz="2400" b="1">
                <a:solidFill>
                  <a:srgbClr val="13243F"/>
                </a:solidFill>
                <a:latin typeface="Arial"/>
                <a:ea typeface="Arial"/>
                <a:cs typeface="Arial"/>
              </a:defRPr>
            </a:pPr>
            <a:r>
              <a:rPr sz="2400" b="1">
                <a:solidFill>
                  <a:srgbClr val="13243F"/>
                </a:solidFill>
                <a:latin typeface="Arial"/>
                <a:ea typeface="Arial"/>
                <a:cs typeface="Arial"/>
              </a:rPr>
              <a:t>Nine alert conditions</a:t>
            </a:r>
          </a:p>
        </p:txBody>
      </p:sp>
      <p:sp>
        <p:nvSpPr>
          <p:cNvPr id="8" name="Shortfalls, cash buffers, aging debt and unusual costs.">
            <a:extLst xmlns:a="http://schemas.openxmlformats.org/drawingml/2006/main">
              <a:ext uri="{FF2B5EF4-FFF2-40B4-BE49-F238E27FC236}">
                <a16:creationId xmlns:a16="http://schemas.microsoft.com/office/drawing/2014/main" id="{4BDAB51D-6C68-4C54-80DC-173C9DF853F6}"/>
              </a:ext>
            </a:extLst>
          </p:cNvPr>
          <p:cNvSpPr>
            <a:spLocks xmlns:a="http://schemas.openxmlformats.org/drawingml/2006/main" noGrp="1"/>
          </p:cNvSpPr>
          <p:nvPr/>
        </p:nvSpPr>
        <p:spPr>
          <a:xfrm xmlns:a="http://schemas.openxmlformats.org/drawingml/2006/main">
            <a:off x="10772775" y="4933950"/>
            <a:ext cx="37433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37089"/>
                </a:solidFill>
                <a:latin typeface="Arial"/>
                <a:ea typeface="Arial"/>
                <a:cs typeface="Arial"/>
              </a:defRPr>
            </a:defPPr>
          </a:lstStyle>
          <a:p xmlns:a="http://schemas.openxmlformats.org/drawingml/2006/main">
            <a:pPr algn="l">
              <a:defRPr sz="2100" b="0">
                <a:solidFill>
                  <a:srgbClr val="637089"/>
                </a:solidFill>
                <a:latin typeface="Arial"/>
                <a:ea typeface="Arial"/>
                <a:cs typeface="Arial"/>
              </a:defRPr>
            </a:pPr>
            <a:r>
              <a:rPr sz="2100" b="0">
                <a:solidFill>
                  <a:srgbClr val="637089"/>
                </a:solidFill>
                <a:latin typeface="Arial"/>
                <a:ea typeface="Arial"/>
                <a:cs typeface="Arial"/>
              </a:rPr>
              <a:t>Shortfalls, cash buffers,</a:t>
            </a:r>
          </a:p>
          <a:p xmlns:a="http://schemas.openxmlformats.org/drawingml/2006/main">
            <a:pPr algn="l">
              <a:defRPr sz="2100" b="0">
                <a:solidFill>
                  <a:srgbClr val="637089"/>
                </a:solidFill>
                <a:latin typeface="Arial"/>
                <a:ea typeface="Arial"/>
                <a:cs typeface="Arial"/>
              </a:defRPr>
            </a:pPr>
            <a:r>
              <a:rPr sz="2100" b="0">
                <a:solidFill>
                  <a:srgbClr val="637089"/>
                </a:solidFill>
                <a:latin typeface="Arial"/>
                <a:ea typeface="Arial"/>
                <a:cs typeface="Arial"/>
              </a:rPr>
              <a:t>aging debt and unusual costs.</a:t>
            </a:r>
          </a:p>
        </p:txBody>
      </p:sp>
      <p:sp>
        <p:nvSpPr>
          <p:cNvPr id="9" name="A reviewable next step">
            <a:extLst xmlns:a="http://schemas.openxmlformats.org/drawingml/2006/main">
              <a:ext uri="{FF2B5EF4-FFF2-40B4-BE49-F238E27FC236}">
                <a16:creationId xmlns:a16="http://schemas.microsoft.com/office/drawing/2014/main" id="{7D6798CF-484E-4AAD-B1C5-FE1D1FB24A7B}"/>
              </a:ext>
            </a:extLst>
          </p:cNvPr>
          <p:cNvSpPr>
            <a:spLocks xmlns:a="http://schemas.openxmlformats.org/drawingml/2006/main" noGrp="1"/>
          </p:cNvSpPr>
          <p:nvPr/>
        </p:nvSpPr>
        <p:spPr>
          <a:xfrm xmlns:a="http://schemas.openxmlformats.org/drawingml/2006/main">
            <a:off x="10772775" y="6210300"/>
            <a:ext cx="37433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3243F"/>
                </a:solidFill>
                <a:latin typeface="Arial"/>
                <a:ea typeface="Arial"/>
                <a:cs typeface="Arial"/>
              </a:defRPr>
            </a:defPPr>
          </a:lstStyle>
          <a:p xmlns:a="http://schemas.openxmlformats.org/drawingml/2006/main">
            <a:pPr algn="l">
              <a:defRPr sz="2400" b="1">
                <a:solidFill>
                  <a:srgbClr val="13243F"/>
                </a:solidFill>
                <a:latin typeface="Arial"/>
                <a:ea typeface="Arial"/>
                <a:cs typeface="Arial"/>
              </a:defRPr>
            </a:pPr>
            <a:r>
              <a:rPr sz="2400" b="1">
                <a:solidFill>
                  <a:srgbClr val="13243F"/>
                </a:solidFill>
                <a:latin typeface="Arial"/>
                <a:ea typeface="Arial"/>
                <a:cs typeface="Arial"/>
              </a:rPr>
              <a:t>A reviewable next step</a:t>
            </a:r>
          </a:p>
        </p:txBody>
      </p:sp>
      <p:sp>
        <p:nvSpPr>
          <p:cNvPr id="10" name="The owner can inspect a plan before approving it.">
            <a:extLst xmlns:a="http://schemas.openxmlformats.org/drawingml/2006/main">
              <a:ext uri="{FF2B5EF4-FFF2-40B4-BE49-F238E27FC236}">
                <a16:creationId xmlns:a16="http://schemas.microsoft.com/office/drawing/2014/main" id="{F7EBD982-9598-49F5-9939-4DCC19877324}"/>
              </a:ext>
            </a:extLst>
          </p:cNvPr>
          <p:cNvSpPr>
            <a:spLocks xmlns:a="http://schemas.openxmlformats.org/drawingml/2006/main" noGrp="1"/>
          </p:cNvSpPr>
          <p:nvPr/>
        </p:nvSpPr>
        <p:spPr>
          <a:xfrm xmlns:a="http://schemas.openxmlformats.org/drawingml/2006/main">
            <a:off x="10772775" y="6743700"/>
            <a:ext cx="37433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37089"/>
                </a:solidFill>
                <a:latin typeface="Arial"/>
                <a:ea typeface="Arial"/>
                <a:cs typeface="Arial"/>
              </a:defRPr>
            </a:defPPr>
          </a:lstStyle>
          <a:p xmlns:a="http://schemas.openxmlformats.org/drawingml/2006/main">
            <a:pPr algn="l">
              <a:defRPr sz="1950" b="0">
                <a:solidFill>
                  <a:srgbClr val="637089"/>
                </a:solidFill>
                <a:latin typeface="Arial"/>
                <a:ea typeface="Arial"/>
                <a:cs typeface="Arial"/>
              </a:defRPr>
            </a:pPr>
            <a:r>
              <a:rPr sz="1950" b="0">
                <a:solidFill>
                  <a:srgbClr val="637089"/>
                </a:solidFill>
                <a:latin typeface="Arial"/>
                <a:ea typeface="Arial"/>
                <a:cs typeface="Arial"/>
              </a:rPr>
              <a:t>The owner can inspect a plan</a:t>
            </a:r>
          </a:p>
          <a:p xmlns:a="http://schemas.openxmlformats.org/drawingml/2006/main">
            <a:pPr algn="l">
              <a:defRPr sz="1950" b="0">
                <a:solidFill>
                  <a:srgbClr val="637089"/>
                </a:solidFill>
                <a:latin typeface="Arial"/>
                <a:ea typeface="Arial"/>
                <a:cs typeface="Arial"/>
              </a:defRPr>
            </a:pPr>
            <a:r>
              <a:rPr sz="1950" b="0">
                <a:solidFill>
                  <a:srgbClr val="637089"/>
                </a:solidFill>
                <a:latin typeface="Arial"/>
                <a:ea typeface="Arial"/>
                <a:cs typeface="Arial"/>
              </a:rPr>
              <a:t>before approving it.</a:t>
            </a:r>
          </a:p>
        </p:txBody>
      </p:sp>
      <p:sp>
        <p:nvSpPr>
          <p:cNvPr id="11" name="Live app with seeded demo records. Projected cash and propos">
            <a:extLst xmlns:a="http://schemas.openxmlformats.org/drawingml/2006/main">
              <a:ext uri="{FF2B5EF4-FFF2-40B4-BE49-F238E27FC236}">
                <a16:creationId xmlns:a16="http://schemas.microsoft.com/office/drawing/2014/main" id="{24AF0DC0-7B7B-4E29-B6EF-A3B7C852C4D7}"/>
              </a:ext>
            </a:extLst>
          </p:cNvPr>
          <p:cNvSpPr>
            <a:spLocks xmlns:a="http://schemas.openxmlformats.org/drawingml/2006/main" noGrp="1"/>
          </p:cNvSpPr>
          <p:nvPr/>
        </p:nvSpPr>
        <p:spPr>
          <a:xfrm xmlns:a="http://schemas.openxmlformats.org/drawingml/2006/main">
            <a:off x="685800" y="7915275"/>
            <a:ext cx="13868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37089"/>
                </a:solidFill>
                <a:latin typeface="Arial"/>
                <a:ea typeface="Arial"/>
                <a:cs typeface="Arial"/>
              </a:defRPr>
            </a:defPPr>
          </a:lstStyle>
          <a:p xmlns:a="http://schemas.openxmlformats.org/drawingml/2006/main">
            <a:pPr algn="l">
              <a:defRPr sz="1425" b="0">
                <a:solidFill>
                  <a:srgbClr val="637089"/>
                </a:solidFill>
                <a:latin typeface="Arial"/>
                <a:ea typeface="Arial"/>
                <a:cs typeface="Arial"/>
              </a:defRPr>
            </a:pPr>
            <a:r>
              <a:rPr sz="1425" b="0">
                <a:solidFill>
                  <a:srgbClr val="637089"/>
                </a:solidFill>
                <a:latin typeface="Arial"/>
                <a:ea typeface="Arial"/>
                <a:cs typeface="Arial"/>
              </a:rPr>
              <a:t>Live app with seeded demo records. Projected cash and proposed actions are forecasts, not measured gains.</a:t>
            </a:r>
          </a:p>
        </p:txBody>
      </p:sp>
    </p:spTree>
    <p:extLst>
      <p:ext uri="{BB962C8B-B14F-4D97-AF65-F5344CB8AC3E}">
        <p14:creationId xmlns:p14="http://schemas.microsoft.com/office/powerpoint/2010/main" val="1411024838"/>
      </p:ext>
    </p:extLst>
  </p:cSld>
</p:sld>
</file>

<file path=ppt/slides/slide9.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3" name="BizWizard">
            <a:extLst xmlns:a="http://schemas.openxmlformats.org/drawingml/2006/main">
              <a:ext uri="{FF2B5EF4-FFF2-40B4-BE49-F238E27FC236}">
                <a16:creationId xmlns:a16="http://schemas.microsoft.com/office/drawing/2014/main" id="{0DE0D877-5ED3-4162-B75F-D6E13DFF89F7}"/>
              </a:ext>
            </a:extLst>
          </p:cNvPr>
          <p:cNvSpPr>
            <a:spLocks xmlns:a="http://schemas.openxmlformats.org/drawingml/2006/main" noGrp="1"/>
          </p:cNvSpPr>
          <p:nvPr/>
        </p:nvSpPr>
        <p:spPr>
          <a:xfrm xmlns:a="http://schemas.openxmlformats.org/drawingml/2006/main">
            <a:off x="685800" y="3238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01F3C"/>
                </a:solidFill>
                <a:latin typeface="Arial"/>
                <a:ea typeface="Arial"/>
                <a:cs typeface="Arial"/>
              </a:defRPr>
            </a:defPPr>
          </a:lstStyle>
          <a:p xmlns:a="http://schemas.openxmlformats.org/drawingml/2006/main">
            <a:pPr algn="l">
              <a:defRPr sz="1575" b="1">
                <a:solidFill>
                  <a:srgbClr val="101F3C"/>
                </a:solidFill>
                <a:latin typeface="Arial"/>
                <a:ea typeface="Arial"/>
                <a:cs typeface="Arial"/>
              </a:defRPr>
            </a:pPr>
            <a:r>
              <a:rPr sz="1575" b="1">
                <a:solidFill>
                  <a:srgbClr val="101F3C"/>
                </a:solidFill>
                <a:latin typeface="Arial"/>
                <a:ea typeface="Arial"/>
                <a:cs typeface="Arial"/>
              </a:rPr>
              <a:t>BizWizard</a:t>
            </a:r>
          </a:p>
        </p:txBody>
      </p:sp>
      <p:sp>
        <p:nvSpPr>
          <p:cNvPr id="2" name="09">
            <a:extLst xmlns:a="http://schemas.openxmlformats.org/drawingml/2006/main">
              <a:ext uri="{FF2B5EF4-FFF2-40B4-BE49-F238E27FC236}">
                <a16:creationId xmlns:a16="http://schemas.microsoft.com/office/drawing/2014/main" id="{B6DC551F-7079-4219-928D-DF6AD7FF8006}"/>
              </a:ext>
            </a:extLst>
          </p:cNvPr>
          <p:cNvSpPr>
            <a:spLocks xmlns:a="http://schemas.openxmlformats.org/drawingml/2006/main" noGrp="1"/>
          </p:cNvSpPr>
          <p:nvPr/>
        </p:nvSpPr>
        <p:spPr>
          <a:xfrm xmlns:a="http://schemas.openxmlformats.org/drawingml/2006/main">
            <a:off x="12573000" y="323850"/>
            <a:ext cx="198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37089"/>
                </a:solidFill>
                <a:latin typeface="Arial"/>
                <a:ea typeface="Arial"/>
                <a:cs typeface="Arial"/>
              </a:defRPr>
            </a:defPPr>
          </a:lstStyle>
          <a:p xmlns:a="http://schemas.openxmlformats.org/drawingml/2006/main">
            <a:pPr algn="r">
              <a:defRPr sz="1425" b="0">
                <a:solidFill>
                  <a:srgbClr val="637089"/>
                </a:solidFill>
                <a:latin typeface="Arial"/>
                <a:ea typeface="Arial"/>
                <a:cs typeface="Arial"/>
              </a:defRPr>
            </a:pPr>
            <a:r>
              <a:rPr sz="1425" b="0">
                <a:solidFill>
                  <a:srgbClr val="637089"/>
                </a:solidFill>
                <a:latin typeface="Arial"/>
                <a:ea typeface="Arial"/>
                <a:cs typeface="Arial"/>
              </a:rPr>
              <a:t>09</a:t>
            </a:r>
          </a:p>
        </p:txBody>
      </p:sp>
      <p:sp>
        <p:nvSpPr>
          <p:cNvPr id="3" name="Slide heading">
            <a:extLst xmlns:a="http://schemas.openxmlformats.org/drawingml/2006/main">
              <a:ext uri="{FF2B5EF4-FFF2-40B4-BE49-F238E27FC236}">
                <a16:creationId xmlns:a16="http://schemas.microsoft.com/office/drawing/2014/main" id="{077AEAB2-3B9E-4EA0-9AF6-ED70A4F0D836}"/>
              </a:ext>
            </a:extLst>
          </p:cNvPr>
          <p:cNvSpPr>
            <a:spLocks xmlns:a="http://schemas.openxmlformats.org/drawingml/2006/main" noGrp="1"/>
          </p:cNvSpPr>
          <p:nvPr/>
        </p:nvSpPr>
        <p:spPr>
          <a:xfrm xmlns:a="http://schemas.openxmlformats.org/drawingml/2006/main">
            <a:off x="685800" y="1000125"/>
            <a:ext cx="138684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13243F"/>
                </a:solidFill>
                <a:latin typeface="Arial"/>
                <a:ea typeface="Arial"/>
                <a:cs typeface="Arial"/>
              </a:defRPr>
            </a:defPPr>
          </a:lstStyle>
          <a:p xmlns:a="http://schemas.openxmlformats.org/drawingml/2006/main">
            <a:pPr algn="l">
              <a:defRPr sz="4500" b="1">
                <a:solidFill>
                  <a:srgbClr val="13243F"/>
                </a:solidFill>
                <a:latin typeface="Arial"/>
                <a:ea typeface="Arial"/>
                <a:cs typeface="Arial"/>
              </a:defRPr>
            </a:pPr>
            <a:r>
              <a:rPr sz="4500" b="1">
                <a:solidFill>
                  <a:srgbClr val="13243F"/>
                </a:solidFill>
                <a:latin typeface="Arial"/>
                <a:ea typeface="Arial"/>
                <a:cs typeface="Arial"/>
              </a:rPr>
              <a:t>Cash forecast and action rules</a:t>
            </a:r>
          </a:p>
        </p:txBody>
      </p:sp>
      <p:graphicFrame>
        <p:nvGraphicFramePr>
          <p:cNvPr id="4" name="">
            <a:extLst xmlns:a="http://schemas.openxmlformats.org/drawingml/2006/main">
              <a:ext uri="{FF2B5EF4-FFF2-40B4-BE49-F238E27FC236}">
                <a16:creationId xmlns:a16="http://schemas.microsoft.com/office/drawing/2014/main" id="{F7181052-7EB3-4A54-918E-38E895CEAE57}"/>
              </a:ext>
            </a:extLst>
          </p:cNvPr>
          <p:cNvGraphicFramePr/>
          <p:nvPr/>
        </p:nvGraphicFramePr>
        <p:xfrm>
          <a:off xmlns:a="http://schemas.openxmlformats.org/drawingml/2006/main" x="723900" y="2371725"/>
          <a:ext xmlns:a="http://schemas.openxmlformats.org/drawingml/2006/main" cx="13792200" cy="1400175"/>
        </p:xfrm>
        <a:graphic xmlns:a="http://schemas.openxmlformats.org/drawingml/2006/main">
          <a:graphicData uri="http://schemas.openxmlformats.org/drawingml/2006/table">
            <a:tbl>
              <a:tblPr firstRow="1" bandRow="0"/>
              <a:tblGrid>
                <a:gridCol w="4610100"/>
                <a:gridCol w="4591050"/>
                <a:gridCol w="4591050"/>
              </a:tblGrid>
              <a:tr h="700088">
                <a:tc>
                  <a:txBody>
                    <a:bodyPr lIns="133350" tIns="133350" rIns="133350" bIns="95250"/>
                    <a:lstStyle/>
                    <a:p>
                      <a:r>
                        <a:rPr sz="2400" b="1">
                          <a:solidFill>
                            <a:srgbClr val="FFFFFF"/>
                          </a:solidFill>
                          <a:latin typeface="Arial"/>
                          <a:ea typeface="Arial"/>
                          <a:cs typeface="Arial"/>
                        </a:rPr>
                        <a:t>History</a:t>
                      </a:r>
                    </a:p>
                  </a:txBody>
                  <a:tcPr marL="91440" marR="91440" marT="45720" marB="45720" anchor="ctr">
                    <a:lnL w="6668">
                      <a:solidFill>
                        <a:srgbClr val="F6F8FC"/>
                      </a:solidFill>
                      <a:prstDash val="solid"/>
                    </a:lnL>
                    <a:lnR w="6668">
                      <a:solidFill>
                        <a:srgbClr val="F6F8FC"/>
                      </a:solidFill>
                      <a:prstDash val="solid"/>
                    </a:lnR>
                    <a:lnT w="6668">
                      <a:solidFill>
                        <a:srgbClr val="F6F8FC"/>
                      </a:solidFill>
                      <a:prstDash val="solid"/>
                    </a:lnT>
                    <a:lnB w="6668">
                      <a:solidFill>
                        <a:srgbClr val="F6F8FC"/>
                      </a:solidFill>
                      <a:prstDash val="solid"/>
                    </a:lnB>
                    <a:solidFill>
                      <a:srgbClr val="101F3C"/>
                    </a:solidFill>
                  </a:tcPr>
                </a:tc>
                <a:tc>
                  <a:txBody>
                    <a:bodyPr lIns="133350" tIns="133350" rIns="133350" bIns="95250"/>
                    <a:lstStyle/>
                    <a:p>
                      <a:r>
                        <a:rPr sz="2400" b="1">
                          <a:solidFill>
                            <a:srgbClr val="FFFFFF"/>
                          </a:solidFill>
                          <a:latin typeface="Arial"/>
                          <a:ea typeface="Arial"/>
                          <a:cs typeface="Arial"/>
                        </a:rPr>
                        <a:t>Forecast</a:t>
                      </a:r>
                    </a:p>
                  </a:txBody>
                  <a:tcPr marL="91440" marR="91440" marT="45720" marB="45720" anchor="ctr">
                    <a:lnR w="6668">
                      <a:solidFill>
                        <a:srgbClr val="F6F8FC"/>
                      </a:solidFill>
                      <a:prstDash val="solid"/>
                    </a:lnR>
                    <a:lnT w="6668">
                      <a:solidFill>
                        <a:srgbClr val="F6F8FC"/>
                      </a:solidFill>
                      <a:prstDash val="solid"/>
                    </a:lnT>
                    <a:lnB w="6668">
                      <a:solidFill>
                        <a:srgbClr val="F6F8FC"/>
                      </a:solidFill>
                      <a:prstDash val="solid"/>
                    </a:lnB>
                    <a:solidFill>
                      <a:srgbClr val="101F3C"/>
                    </a:solidFill>
                  </a:tcPr>
                </a:tc>
                <a:tc>
                  <a:txBody>
                    <a:bodyPr lIns="133350" tIns="133350" rIns="133350" bIns="95250"/>
                    <a:lstStyle/>
                    <a:p>
                      <a:r>
                        <a:rPr sz="2400" b="1">
                          <a:solidFill>
                            <a:srgbClr val="FFFFFF"/>
                          </a:solidFill>
                          <a:latin typeface="Arial"/>
                          <a:ea typeface="Arial"/>
                          <a:cs typeface="Arial"/>
                        </a:rPr>
                        <a:t>Alert conditions</a:t>
                      </a:r>
                    </a:p>
                  </a:txBody>
                  <a:tcPr marL="91440" marR="91440" marT="45720" marB="45720" anchor="ctr">
                    <a:lnR w="6668">
                      <a:solidFill>
                        <a:srgbClr val="F6F8FC"/>
                      </a:solidFill>
                      <a:prstDash val="solid"/>
                    </a:lnR>
                    <a:lnT w="6668">
                      <a:solidFill>
                        <a:srgbClr val="F6F8FC"/>
                      </a:solidFill>
                      <a:prstDash val="solid"/>
                    </a:lnT>
                    <a:lnB w="6668">
                      <a:solidFill>
                        <a:srgbClr val="F6F8FC"/>
                      </a:solidFill>
                      <a:prstDash val="solid"/>
                    </a:lnB>
                    <a:solidFill>
                      <a:srgbClr val="101F3C"/>
                    </a:solidFill>
                  </a:tcPr>
                </a:tc>
              </a:tr>
              <a:tr h="700088">
                <a:tc>
                  <a:txBody>
                    <a:bodyPr lIns="133350" tIns="133350" rIns="133350" bIns="95250"/>
                    <a:lstStyle/>
                    <a:p>
                      <a:r>
                        <a:rPr sz="2400" b="0">
                          <a:solidFill>
                            <a:srgbClr val="13243F"/>
                          </a:solidFill>
                          <a:latin typeface="Arial"/>
                          <a:ea typeface="Arial"/>
                          <a:cs typeface="Arial"/>
                        </a:rPr>
                        <a:t>180 days</a:t>
                      </a:r>
                    </a:p>
                  </a:txBody>
                  <a:tcPr marL="91440" marR="91440" marT="45720" marB="45720" anchor="ctr">
                    <a:lnL w="6668">
                      <a:solidFill>
                        <a:srgbClr val="F6F8FC"/>
                      </a:solidFill>
                      <a:prstDash val="solid"/>
                    </a:lnL>
                    <a:lnR w="6668">
                      <a:solidFill>
                        <a:srgbClr val="F6F8FC"/>
                      </a:solidFill>
                      <a:prstDash val="solid"/>
                    </a:lnR>
                    <a:lnB w="6668">
                      <a:solidFill>
                        <a:srgbClr val="F6F8FC"/>
                      </a:solidFill>
                      <a:prstDash val="solid"/>
                    </a:lnB>
                    <a:solidFill>
                      <a:srgbClr val="FFFFFF"/>
                    </a:solidFill>
                  </a:tcPr>
                </a:tc>
                <a:tc>
                  <a:txBody>
                    <a:bodyPr lIns="133350" tIns="133350" rIns="133350" bIns="95250"/>
                    <a:lstStyle/>
                    <a:p>
                      <a:r>
                        <a:rPr sz="2400" b="0">
                          <a:solidFill>
                            <a:srgbClr val="13243F"/>
                          </a:solidFill>
                          <a:latin typeface="Arial"/>
                          <a:ea typeface="Arial"/>
                          <a:cs typeface="Arial"/>
                        </a:rPr>
                        <a:t>90 days</a:t>
                      </a:r>
                    </a:p>
                  </a:txBody>
                  <a:tcPr marL="91440" marR="91440" marT="45720" marB="45720" anchor="ctr">
                    <a:lnR w="6668">
                      <a:solidFill>
                        <a:srgbClr val="F6F8FC"/>
                      </a:solidFill>
                      <a:prstDash val="solid"/>
                    </a:lnR>
                    <a:lnB w="6668">
                      <a:solidFill>
                        <a:srgbClr val="F6F8FC"/>
                      </a:solidFill>
                      <a:prstDash val="solid"/>
                    </a:lnB>
                    <a:solidFill>
                      <a:srgbClr val="FFFFFF"/>
                    </a:solidFill>
                  </a:tcPr>
                </a:tc>
                <a:tc>
                  <a:txBody>
                    <a:bodyPr lIns="133350" tIns="133350" rIns="133350" bIns="95250"/>
                    <a:lstStyle/>
                    <a:p>
                      <a:r>
                        <a:rPr sz="2400" b="0">
                          <a:solidFill>
                            <a:srgbClr val="13243F"/>
                          </a:solidFill>
                          <a:latin typeface="Arial"/>
                          <a:ea typeface="Arial"/>
                          <a:cs typeface="Arial"/>
                        </a:rPr>
                        <a:t>9</a:t>
                      </a:r>
                    </a:p>
                  </a:txBody>
                  <a:tcPr marL="91440" marR="91440" marT="45720" marB="45720" anchor="ctr">
                    <a:lnR w="6668">
                      <a:solidFill>
                        <a:srgbClr val="F6F8FC"/>
                      </a:solidFill>
                      <a:prstDash val="solid"/>
                    </a:lnR>
                    <a:lnB w="6668">
                      <a:solidFill>
                        <a:srgbClr val="F6F8FC"/>
                      </a:solidFill>
                      <a:prstDash val="solid"/>
                    </a:lnB>
                    <a:solidFill>
                      <a:srgbClr val="FFFFFF"/>
                    </a:solidFill>
                  </a:tcPr>
                </a:tc>
              </a:tr>
            </a:tbl>
          </a:graphicData>
        </a:graphic>
      </p:graphicFrame>
      <p:sp>
        <p:nvSpPr>
          <p:cNvPr id="5" name="Daily balance calculation">
            <a:extLst xmlns:a="http://schemas.openxmlformats.org/drawingml/2006/main">
              <a:ext uri="{FF2B5EF4-FFF2-40B4-BE49-F238E27FC236}">
                <a16:creationId xmlns:a16="http://schemas.microsoft.com/office/drawing/2014/main" id="{007950C4-B8F1-4670-A8EA-0ABBCE078774}"/>
              </a:ext>
            </a:extLst>
          </p:cNvPr>
          <p:cNvSpPr>
            <a:spLocks xmlns:a="http://schemas.openxmlformats.org/drawingml/2006/main" noGrp="1"/>
          </p:cNvSpPr>
          <p:nvPr/>
        </p:nvSpPr>
        <p:spPr>
          <a:xfrm xmlns:a="http://schemas.openxmlformats.org/drawingml/2006/main">
            <a:off x="723900" y="4362450"/>
            <a:ext cx="1371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3243F"/>
                </a:solidFill>
                <a:latin typeface="Arial"/>
                <a:ea typeface="Arial"/>
                <a:cs typeface="Arial"/>
              </a:defRPr>
            </a:defPPr>
          </a:lstStyle>
          <a:p xmlns:a="http://schemas.openxmlformats.org/drawingml/2006/main">
            <a:pPr algn="l">
              <a:defRPr sz="2400" b="1">
                <a:solidFill>
                  <a:srgbClr val="13243F"/>
                </a:solidFill>
                <a:latin typeface="Arial"/>
                <a:ea typeface="Arial"/>
                <a:cs typeface="Arial"/>
              </a:defRPr>
            </a:pPr>
            <a:r>
              <a:rPr sz="2400" b="1">
                <a:solidFill>
                  <a:srgbClr val="13243F"/>
                </a:solidFill>
                <a:latin typeface="Arial"/>
                <a:ea typeface="Arial"/>
                <a:cs typeface="Arial"/>
              </a:rPr>
              <a:t>Daily balance calculation</a:t>
            </a:r>
          </a:p>
        </p:txBody>
      </p:sp>
      <p:sp>
        <p:nvSpPr>
          <p:cNvPr id="6" name="Weekday patterns and a trend clipped to ±30%. Dated bills an">
            <a:extLst xmlns:a="http://schemas.openxmlformats.org/drawingml/2006/main">
              <a:ext uri="{FF2B5EF4-FFF2-40B4-BE49-F238E27FC236}">
                <a16:creationId xmlns:a16="http://schemas.microsoft.com/office/drawing/2014/main" id="{DCA2067D-28B0-484A-A074-80041EFDF2C7}"/>
              </a:ext>
            </a:extLst>
          </p:cNvPr>
          <p:cNvSpPr>
            <a:spLocks xmlns:a="http://schemas.openxmlformats.org/drawingml/2006/main" noGrp="1"/>
          </p:cNvSpPr>
          <p:nvPr/>
        </p:nvSpPr>
        <p:spPr>
          <a:xfrm xmlns:a="http://schemas.openxmlformats.org/drawingml/2006/main">
            <a:off x="723900" y="4895850"/>
            <a:ext cx="1371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637089"/>
                </a:solidFill>
                <a:latin typeface="Arial"/>
                <a:ea typeface="Arial"/>
                <a:cs typeface="Arial"/>
              </a:defRPr>
            </a:defPPr>
          </a:lstStyle>
          <a:p xmlns:a="http://schemas.openxmlformats.org/drawingml/2006/main">
            <a:pPr algn="l">
              <a:defRPr sz="2250" b="0">
                <a:solidFill>
                  <a:srgbClr val="637089"/>
                </a:solidFill>
                <a:latin typeface="Arial"/>
                <a:ea typeface="Arial"/>
                <a:cs typeface="Arial"/>
              </a:defRPr>
            </a:pPr>
            <a:r>
              <a:rPr sz="2250" b="0">
                <a:solidFill>
                  <a:srgbClr val="637089"/>
                </a:solidFill>
                <a:latin typeface="Arial"/>
                <a:ea typeface="Arial"/>
                <a:cs typeface="Arial"/>
              </a:rPr>
              <a:t>Weekday patterns and a trend clipped to ±30%.</a:t>
            </a:r>
          </a:p>
          <a:p xmlns:a="http://schemas.openxmlformats.org/drawingml/2006/main">
            <a:pPr algn="l">
              <a:defRPr sz="2250" b="0">
                <a:solidFill>
                  <a:srgbClr val="637089"/>
                </a:solidFill>
                <a:latin typeface="Arial"/>
                <a:ea typeface="Arial"/>
                <a:cs typeface="Arial"/>
              </a:defRPr>
            </a:pPr>
            <a:r>
              <a:rPr sz="2250" b="0">
                <a:solidFill>
                  <a:srgbClr val="637089"/>
                </a:solidFill>
                <a:latin typeface="Arial"/>
                <a:ea typeface="Arial"/>
                <a:cs typeface="Arial"/>
              </a:rPr>
              <a:t>Dated bills and weighted receivables change cash.</a:t>
            </a:r>
          </a:p>
        </p:txBody>
      </p:sp>
      <p:sp>
        <p:nvSpPr>
          <p:cNvPr id="7" name="Collection assumptions">
            <a:extLst xmlns:a="http://schemas.openxmlformats.org/drawingml/2006/main">
              <a:ext uri="{FF2B5EF4-FFF2-40B4-BE49-F238E27FC236}">
                <a16:creationId xmlns:a16="http://schemas.microsoft.com/office/drawing/2014/main" id="{61A2598B-6158-4C8E-8339-F4E93A970759}"/>
              </a:ext>
            </a:extLst>
          </p:cNvPr>
          <p:cNvSpPr>
            <a:spLocks xmlns:a="http://schemas.openxmlformats.org/drawingml/2006/main" noGrp="1"/>
          </p:cNvSpPr>
          <p:nvPr/>
        </p:nvSpPr>
        <p:spPr>
          <a:xfrm xmlns:a="http://schemas.openxmlformats.org/drawingml/2006/main">
            <a:off x="723900" y="5886450"/>
            <a:ext cx="700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3243F"/>
                </a:solidFill>
                <a:latin typeface="Arial"/>
                <a:ea typeface="Arial"/>
                <a:cs typeface="Arial"/>
              </a:defRPr>
            </a:defPPr>
          </a:lstStyle>
          <a:p xmlns:a="http://schemas.openxmlformats.org/drawingml/2006/main">
            <a:pPr algn="l">
              <a:defRPr sz="2400" b="1">
                <a:solidFill>
                  <a:srgbClr val="13243F"/>
                </a:solidFill>
                <a:latin typeface="Arial"/>
                <a:ea typeface="Arial"/>
                <a:cs typeface="Arial"/>
              </a:defRPr>
            </a:pPr>
            <a:r>
              <a:rPr sz="2400" b="1">
                <a:solidFill>
                  <a:srgbClr val="13243F"/>
                </a:solidFill>
                <a:latin typeface="Arial"/>
                <a:ea typeface="Arial"/>
                <a:cs typeface="Arial"/>
              </a:rPr>
              <a:t>Collection assumptions</a:t>
            </a:r>
          </a:p>
        </p:txBody>
      </p:sp>
      <p:sp>
        <p:nvSpPr>
          <p:cNvPr id="8" name="70% weight for receivables aged 0–7 days. 12% for balances a">
            <a:extLst xmlns:a="http://schemas.openxmlformats.org/drawingml/2006/main">
              <a:ext uri="{FF2B5EF4-FFF2-40B4-BE49-F238E27FC236}">
                <a16:creationId xmlns:a16="http://schemas.microsoft.com/office/drawing/2014/main" id="{AF8A27CB-8B0C-4096-9BAD-2CE86EFA3584}"/>
              </a:ext>
            </a:extLst>
          </p:cNvPr>
          <p:cNvSpPr>
            <a:spLocks xmlns:a="http://schemas.openxmlformats.org/drawingml/2006/main" noGrp="1"/>
          </p:cNvSpPr>
          <p:nvPr/>
        </p:nvSpPr>
        <p:spPr>
          <a:xfrm xmlns:a="http://schemas.openxmlformats.org/drawingml/2006/main">
            <a:off x="723900" y="6419850"/>
            <a:ext cx="7000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37089"/>
                </a:solidFill>
                <a:latin typeface="Arial"/>
                <a:ea typeface="Arial"/>
                <a:cs typeface="Arial"/>
              </a:defRPr>
            </a:defPPr>
          </a:lstStyle>
          <a:p xmlns:a="http://schemas.openxmlformats.org/drawingml/2006/main">
            <a:pPr algn="l">
              <a:defRPr sz="2100" b="0">
                <a:solidFill>
                  <a:srgbClr val="637089"/>
                </a:solidFill>
                <a:latin typeface="Arial"/>
                <a:ea typeface="Arial"/>
                <a:cs typeface="Arial"/>
              </a:defRPr>
            </a:pPr>
            <a:r>
              <a:rPr sz="2100" b="0">
                <a:solidFill>
                  <a:srgbClr val="637089"/>
                </a:solidFill>
                <a:latin typeface="Arial"/>
                <a:ea typeface="Arial"/>
                <a:cs typeface="Arial"/>
              </a:rPr>
              <a:t>70% weight for receivables aged 0–7 days.</a:t>
            </a:r>
          </a:p>
          <a:p xmlns:a="http://schemas.openxmlformats.org/drawingml/2006/main">
            <a:pPr algn="l">
              <a:defRPr sz="2100" b="0">
                <a:solidFill>
                  <a:srgbClr val="637089"/>
                </a:solidFill>
                <a:latin typeface="Arial"/>
                <a:ea typeface="Arial"/>
                <a:cs typeface="Arial"/>
              </a:defRPr>
            </a:pPr>
            <a:r>
              <a:rPr sz="2100" b="0">
                <a:solidFill>
                  <a:srgbClr val="637089"/>
                </a:solidFill>
                <a:latin typeface="Arial"/>
                <a:ea typeface="Arial"/>
                <a:cs typeface="Arial"/>
              </a:rPr>
              <a:t>12% for balances aged 61 days or more.</a:t>
            </a:r>
          </a:p>
        </p:txBody>
      </p:sp>
      <p:sp>
        <p:nvSpPr>
          <p:cNvPr id="9" name="Cash buffer">
            <a:extLst xmlns:a="http://schemas.openxmlformats.org/drawingml/2006/main">
              <a:ext uri="{FF2B5EF4-FFF2-40B4-BE49-F238E27FC236}">
                <a16:creationId xmlns:a16="http://schemas.microsoft.com/office/drawing/2014/main" id="{50951D9F-B8C5-4CEE-96AC-3BA836C75235}"/>
              </a:ext>
            </a:extLst>
          </p:cNvPr>
          <p:cNvSpPr>
            <a:spLocks xmlns:a="http://schemas.openxmlformats.org/drawingml/2006/main" noGrp="1"/>
          </p:cNvSpPr>
          <p:nvPr/>
        </p:nvSpPr>
        <p:spPr>
          <a:xfrm xmlns:a="http://schemas.openxmlformats.org/drawingml/2006/main">
            <a:off x="8477250" y="5886450"/>
            <a:ext cx="6076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3243F"/>
                </a:solidFill>
                <a:latin typeface="Arial"/>
                <a:ea typeface="Arial"/>
                <a:cs typeface="Arial"/>
              </a:defRPr>
            </a:defPPr>
          </a:lstStyle>
          <a:p xmlns:a="http://schemas.openxmlformats.org/drawingml/2006/main">
            <a:pPr algn="l">
              <a:defRPr sz="2400" b="1">
                <a:solidFill>
                  <a:srgbClr val="13243F"/>
                </a:solidFill>
                <a:latin typeface="Arial"/>
                <a:ea typeface="Arial"/>
                <a:cs typeface="Arial"/>
              </a:defRPr>
            </a:pPr>
            <a:r>
              <a:rPr sz="2400" b="1">
                <a:solidFill>
                  <a:srgbClr val="13243F"/>
                </a:solidFill>
                <a:latin typeface="Arial"/>
                <a:ea typeface="Arial"/>
                <a:cs typeface="Arial"/>
              </a:rPr>
              <a:t>Cash buffer</a:t>
            </a:r>
          </a:p>
        </p:txBody>
      </p:sp>
      <p:sp>
        <p:nvSpPr>
          <p:cNvPr id="10" name="Cash ÷ average daily outflow from the last 28 days.">
            <a:extLst xmlns:a="http://schemas.openxmlformats.org/drawingml/2006/main">
              <a:ext uri="{FF2B5EF4-FFF2-40B4-BE49-F238E27FC236}">
                <a16:creationId xmlns:a16="http://schemas.microsoft.com/office/drawing/2014/main" id="{036E0158-C228-46CA-BB45-92E1E79B5A97}"/>
              </a:ext>
            </a:extLst>
          </p:cNvPr>
          <p:cNvSpPr>
            <a:spLocks xmlns:a="http://schemas.openxmlformats.org/drawingml/2006/main" noGrp="1"/>
          </p:cNvSpPr>
          <p:nvPr/>
        </p:nvSpPr>
        <p:spPr>
          <a:xfrm xmlns:a="http://schemas.openxmlformats.org/drawingml/2006/main">
            <a:off x="8477250" y="6419850"/>
            <a:ext cx="60769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37089"/>
                </a:solidFill>
                <a:latin typeface="Arial"/>
                <a:ea typeface="Arial"/>
                <a:cs typeface="Arial"/>
              </a:defRPr>
            </a:defPPr>
          </a:lstStyle>
          <a:p xmlns:a="http://schemas.openxmlformats.org/drawingml/2006/main">
            <a:pPr algn="l">
              <a:defRPr sz="2100" b="0">
                <a:solidFill>
                  <a:srgbClr val="637089"/>
                </a:solidFill>
                <a:latin typeface="Arial"/>
                <a:ea typeface="Arial"/>
                <a:cs typeface="Arial"/>
              </a:defRPr>
            </a:pPr>
            <a:r>
              <a:rPr sz="2100" b="0">
                <a:solidFill>
                  <a:srgbClr val="637089"/>
                </a:solidFill>
                <a:latin typeface="Arial"/>
                <a:ea typeface="Arial"/>
                <a:cs typeface="Arial"/>
              </a:rPr>
              <a:t>Cash ÷ average daily outflow</a:t>
            </a:r>
          </a:p>
          <a:p xmlns:a="http://schemas.openxmlformats.org/drawingml/2006/main">
            <a:pPr algn="l">
              <a:defRPr sz="2100" b="0">
                <a:solidFill>
                  <a:srgbClr val="637089"/>
                </a:solidFill>
                <a:latin typeface="Arial"/>
                <a:ea typeface="Arial"/>
                <a:cs typeface="Arial"/>
              </a:defRPr>
            </a:pPr>
            <a:r>
              <a:rPr sz="2100" b="0">
                <a:solidFill>
                  <a:srgbClr val="637089"/>
                </a:solidFill>
                <a:latin typeface="Arial"/>
                <a:ea typeface="Arial"/>
                <a:cs typeface="Arial"/>
              </a:rPr>
              <a:t>from the last 28 days.</a:t>
            </a:r>
          </a:p>
        </p:txBody>
      </p:sp>
      <p:sp>
        <p:nvSpPr>
          <p:cNvPr id="11" name="Guarded proposals. Critical alerts notify the owner. A daily">
            <a:extLst xmlns:a="http://schemas.openxmlformats.org/drawingml/2006/main">
              <a:ext uri="{FF2B5EF4-FFF2-40B4-BE49-F238E27FC236}">
                <a16:creationId xmlns:a16="http://schemas.microsoft.com/office/drawing/2014/main" id="{ADD0FC47-3A8C-4343-9BA8-63CF7CE83286}"/>
              </a:ext>
            </a:extLst>
          </p:cNvPr>
          <p:cNvSpPr>
            <a:spLocks xmlns:a="http://schemas.openxmlformats.org/drawingml/2006/main" noGrp="1"/>
          </p:cNvSpPr>
          <p:nvPr/>
        </p:nvSpPr>
        <p:spPr>
          <a:xfrm xmlns:a="http://schemas.openxmlformats.org/drawingml/2006/main">
            <a:off x="723900" y="7496175"/>
            <a:ext cx="13792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463EB"/>
                </a:solidFill>
                <a:latin typeface="Arial"/>
                <a:ea typeface="Arial"/>
                <a:cs typeface="Arial"/>
              </a:defRPr>
            </a:defPPr>
          </a:lstStyle>
          <a:p xmlns:a="http://schemas.openxmlformats.org/drawingml/2006/main">
            <a:pPr algn="l">
              <a:defRPr sz="1725" b="0">
                <a:solidFill>
                  <a:srgbClr val="2463EB"/>
                </a:solidFill>
                <a:latin typeface="Arial"/>
                <a:ea typeface="Arial"/>
                <a:cs typeface="Arial"/>
              </a:defRPr>
            </a:pPr>
            <a:r>
              <a:rPr sz="1725" b="0">
                <a:solidFill>
                  <a:srgbClr val="2463EB"/>
                </a:solidFill>
                <a:latin typeface="Arial"/>
                <a:ea typeface="Arial"/>
                <a:cs typeface="Arial"/>
              </a:rPr>
              <a:t>Guarded proposals. Critical alerts notify the owner. A daily 06:00 server-time job repeats the run.</a:t>
            </a:r>
          </a:p>
        </p:txBody>
      </p:sp>
      <p:sp>
        <p:nvSpPr>
          <p:cNvPr id="12" name="The owner reviews a proposed action. A linked payment record">
            <a:extLst xmlns:a="http://schemas.openxmlformats.org/drawingml/2006/main">
              <a:ext uri="{FF2B5EF4-FFF2-40B4-BE49-F238E27FC236}">
                <a16:creationId xmlns:a16="http://schemas.microsoft.com/office/drawing/2014/main" id="{D186DAC7-8B3C-42D2-99A1-6D5165177D6C}"/>
              </a:ext>
            </a:extLst>
          </p:cNvPr>
          <p:cNvSpPr>
            <a:spLocks xmlns:a="http://schemas.openxmlformats.org/drawingml/2006/main" noGrp="1"/>
          </p:cNvSpPr>
          <p:nvPr/>
        </p:nvSpPr>
        <p:spPr>
          <a:xfrm xmlns:a="http://schemas.openxmlformats.org/drawingml/2006/main">
            <a:off x="685800" y="7915275"/>
            <a:ext cx="13868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37089"/>
                </a:solidFill>
                <a:latin typeface="Arial"/>
                <a:ea typeface="Arial"/>
                <a:cs typeface="Arial"/>
              </a:defRPr>
            </a:defPPr>
          </a:lstStyle>
          <a:p xmlns:a="http://schemas.openxmlformats.org/drawingml/2006/main">
            <a:pPr algn="l">
              <a:defRPr sz="1425" b="0">
                <a:solidFill>
                  <a:srgbClr val="637089"/>
                </a:solidFill>
                <a:latin typeface="Arial"/>
                <a:ea typeface="Arial"/>
                <a:cs typeface="Arial"/>
              </a:defRPr>
            </a:pPr>
            <a:r>
              <a:rPr sz="1425" b="0">
                <a:solidFill>
                  <a:srgbClr val="637089"/>
                </a:solidFill>
                <a:latin typeface="Arial"/>
                <a:ea typeface="Arial"/>
                <a:cs typeface="Arial"/>
              </a:rPr>
              <a:t>The owner reviews a proposed action. A linked payment record supplies collection evidence.</a:t>
            </a:r>
          </a:p>
        </p:txBody>
      </p:sp>
    </p:spTree>
    <p:extLst>
      <p:ext uri="{BB962C8B-B14F-4D97-AF65-F5344CB8AC3E}">
        <p14:creationId xmlns:p14="http://schemas.microsoft.com/office/powerpoint/2010/main" val="637143863"/>
      </p:ext>
    </p:extLst>
  </p:cSld>
</p:sld>
</file>

<file path=ppt/slides/slide10.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1" name="BizWizard">
            <a:extLst xmlns:a="http://schemas.openxmlformats.org/drawingml/2006/main">
              <a:ext uri="{FF2B5EF4-FFF2-40B4-BE49-F238E27FC236}">
                <a16:creationId xmlns:a16="http://schemas.microsoft.com/office/drawing/2014/main" id="{4AFE9CCD-AE3D-4329-9555-88F65401EA5D}"/>
              </a:ext>
            </a:extLst>
          </p:cNvPr>
          <p:cNvSpPr>
            <a:spLocks xmlns:a="http://schemas.openxmlformats.org/drawingml/2006/main" noGrp="1"/>
          </p:cNvSpPr>
          <p:nvPr/>
        </p:nvSpPr>
        <p:spPr>
          <a:xfrm xmlns:a="http://schemas.openxmlformats.org/drawingml/2006/main">
            <a:off x="685800" y="3238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01F3C"/>
                </a:solidFill>
                <a:latin typeface="Arial"/>
                <a:ea typeface="Arial"/>
                <a:cs typeface="Arial"/>
              </a:defRPr>
            </a:defPPr>
          </a:lstStyle>
          <a:p xmlns:a="http://schemas.openxmlformats.org/drawingml/2006/main">
            <a:pPr algn="l">
              <a:defRPr sz="1575" b="1">
                <a:solidFill>
                  <a:srgbClr val="101F3C"/>
                </a:solidFill>
                <a:latin typeface="Arial"/>
                <a:ea typeface="Arial"/>
                <a:cs typeface="Arial"/>
              </a:defRPr>
            </a:pPr>
            <a:r>
              <a:rPr sz="1575" b="1">
                <a:solidFill>
                  <a:srgbClr val="101F3C"/>
                </a:solidFill>
                <a:latin typeface="Arial"/>
                <a:ea typeface="Arial"/>
                <a:cs typeface="Arial"/>
              </a:rPr>
              <a:t>BizWizard</a:t>
            </a:r>
          </a:p>
        </p:txBody>
      </p:sp>
      <p:sp>
        <p:nvSpPr>
          <p:cNvPr id="2" name="10">
            <a:extLst xmlns:a="http://schemas.openxmlformats.org/drawingml/2006/main">
              <a:ext uri="{FF2B5EF4-FFF2-40B4-BE49-F238E27FC236}">
                <a16:creationId xmlns:a16="http://schemas.microsoft.com/office/drawing/2014/main" id="{27BCC953-02FF-4C6F-A3B6-1DF3E7A51D48}"/>
              </a:ext>
            </a:extLst>
          </p:cNvPr>
          <p:cNvSpPr>
            <a:spLocks xmlns:a="http://schemas.openxmlformats.org/drawingml/2006/main" noGrp="1"/>
          </p:cNvSpPr>
          <p:nvPr/>
        </p:nvSpPr>
        <p:spPr>
          <a:xfrm xmlns:a="http://schemas.openxmlformats.org/drawingml/2006/main">
            <a:off x="12573000" y="323850"/>
            <a:ext cx="198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37089"/>
                </a:solidFill>
                <a:latin typeface="Arial"/>
                <a:ea typeface="Arial"/>
                <a:cs typeface="Arial"/>
              </a:defRPr>
            </a:defPPr>
          </a:lstStyle>
          <a:p xmlns:a="http://schemas.openxmlformats.org/drawingml/2006/main">
            <a:pPr algn="r">
              <a:defRPr sz="1425" b="0">
                <a:solidFill>
                  <a:srgbClr val="637089"/>
                </a:solidFill>
                <a:latin typeface="Arial"/>
                <a:ea typeface="Arial"/>
                <a:cs typeface="Arial"/>
              </a:defRPr>
            </a:pPr>
            <a:r>
              <a:rPr sz="1425" b="0">
                <a:solidFill>
                  <a:srgbClr val="637089"/>
                </a:solidFill>
                <a:latin typeface="Arial"/>
                <a:ea typeface="Arial"/>
                <a:cs typeface="Arial"/>
              </a:rPr>
              <a:t>10</a:t>
            </a:r>
          </a:p>
        </p:txBody>
      </p:sp>
      <p:sp>
        <p:nvSpPr>
          <p:cNvPr id="3" name="Slide heading">
            <a:extLst xmlns:a="http://schemas.openxmlformats.org/drawingml/2006/main">
              <a:ext uri="{FF2B5EF4-FFF2-40B4-BE49-F238E27FC236}">
                <a16:creationId xmlns:a16="http://schemas.microsoft.com/office/drawing/2014/main" id="{6A7AD30E-79AD-48E7-B471-C0E35A337D59}"/>
              </a:ext>
            </a:extLst>
          </p:cNvPr>
          <p:cNvSpPr>
            <a:spLocks xmlns:a="http://schemas.openxmlformats.org/drawingml/2006/main" noGrp="1"/>
          </p:cNvSpPr>
          <p:nvPr/>
        </p:nvSpPr>
        <p:spPr>
          <a:xfrm xmlns:a="http://schemas.openxmlformats.org/drawingml/2006/main">
            <a:off x="685800" y="1000125"/>
            <a:ext cx="138684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13243F"/>
                </a:solidFill>
                <a:latin typeface="Arial"/>
                <a:ea typeface="Arial"/>
                <a:cs typeface="Arial"/>
              </a:defRPr>
            </a:defPPr>
          </a:lstStyle>
          <a:p xmlns:a="http://schemas.openxmlformats.org/drawingml/2006/main">
            <a:pPr algn="l">
              <a:defRPr sz="4500" b="1">
                <a:solidFill>
                  <a:srgbClr val="13243F"/>
                </a:solidFill>
                <a:latin typeface="Arial"/>
                <a:ea typeface="Arial"/>
                <a:cs typeface="Arial"/>
              </a:defRPr>
            </a:pPr>
            <a:r>
              <a:rPr sz="4500" b="1">
                <a:solidFill>
                  <a:srgbClr val="13243F"/>
                </a:solidFill>
                <a:latin typeface="Arial"/>
                <a:ea typeface="Arial"/>
                <a:cs typeface="Arial"/>
              </a:rPr>
              <a:t>An explanation has to match the numbers</a:t>
            </a:r>
          </a:p>
        </p:txBody>
      </p:sp>
      <p:pic>
        <p:nvPicPr>
          <p:cNvPr id="4" name="">
            <a:extLst xmlns:a="http://schemas.openxmlformats.org/drawingml/2006/main">
              <a:ext uri="{FF2B5EF4-FFF2-40B4-BE49-F238E27FC236}">
                <a16:creationId xmlns:a16="http://schemas.microsoft.com/office/drawing/2014/main" id="{B0DEA77B-ADF3-420D-B93B-2DE63B8227A1}"/>
              </a:ext>
            </a:extLst>
          </p:cNvPr>
          <p:cNvPicPr>
            <a:picLocks xmlns:a="http://schemas.openxmlformats.org/drawingml/2006/main" noChangeAspect="1"/>
          </p:cNvPicPr>
          <p:nvPr/>
        </p:nvPicPr>
        <p:blipFill>
          <a:blip xmlns:r="http://schemas.openxmlformats.org/officeDocument/2006/relationships" xmlns:a="http://schemas.openxmlformats.org/drawingml/2006/main" r:embed="R5968ba2cab8b40e0"/>
          <a:stretch xmlns:a="http://schemas.openxmlformats.org/drawingml/2006/main"/>
        </p:blipFill>
        <p:spPr>
          <a:xfrm xmlns:a="http://schemas.openxmlformats.org/drawingml/2006/main">
            <a:off x="914400" y="2783089"/>
            <a:ext cx="8763000" cy="4454122"/>
          </a:xfrm>
          <a:prstGeom xmlns:a="http://schemas.openxmlformats.org/drawingml/2006/main" prst="rect">
            <a:avLst/>
          </a:prstGeom>
        </p:spPr>
      </p:pic>
      <p:sp>
        <p:nvSpPr>
          <p:cNvPr id="5" name="Candidate explanation">
            <a:extLst xmlns:a="http://schemas.openxmlformats.org/drawingml/2006/main">
              <a:ext uri="{FF2B5EF4-FFF2-40B4-BE49-F238E27FC236}">
                <a16:creationId xmlns:a16="http://schemas.microsoft.com/office/drawing/2014/main" id="{35E89570-D296-4800-9B47-E70F5BC9EEF6}"/>
              </a:ext>
            </a:extLst>
          </p:cNvPr>
          <p:cNvSpPr>
            <a:spLocks xmlns:a="http://schemas.openxmlformats.org/drawingml/2006/main" noGrp="1"/>
          </p:cNvSpPr>
          <p:nvPr/>
        </p:nvSpPr>
        <p:spPr>
          <a:xfrm xmlns:a="http://schemas.openxmlformats.org/drawingml/2006/main">
            <a:off x="10420350" y="266700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3243F"/>
                </a:solidFill>
                <a:latin typeface="Arial"/>
                <a:ea typeface="Arial"/>
                <a:cs typeface="Arial"/>
              </a:defRPr>
            </a:defPPr>
          </a:lstStyle>
          <a:p xmlns:a="http://schemas.openxmlformats.org/drawingml/2006/main">
            <a:pPr algn="l">
              <a:defRPr sz="2325" b="1">
                <a:solidFill>
                  <a:srgbClr val="13243F"/>
                </a:solidFill>
                <a:latin typeface="Arial"/>
                <a:ea typeface="Arial"/>
                <a:cs typeface="Arial"/>
              </a:defRPr>
            </a:pPr>
            <a:r>
              <a:rPr sz="2325" b="1">
                <a:solidFill>
                  <a:srgbClr val="13243F"/>
                </a:solidFill>
                <a:latin typeface="Arial"/>
                <a:ea typeface="Arial"/>
                <a:cs typeface="Arial"/>
              </a:rPr>
              <a:t>Candidate explanation</a:t>
            </a:r>
          </a:p>
        </p:txBody>
      </p:sp>
      <p:sp>
        <p:nvSpPr>
          <p:cNvPr id="6" name="Check the contribution to the observed gap">
            <a:extLst xmlns:a="http://schemas.openxmlformats.org/drawingml/2006/main">
              <a:ext uri="{FF2B5EF4-FFF2-40B4-BE49-F238E27FC236}">
                <a16:creationId xmlns:a16="http://schemas.microsoft.com/office/drawing/2014/main" id="{90BC8AD3-4A05-440D-83B9-C6B153D05D16}"/>
              </a:ext>
            </a:extLst>
          </p:cNvPr>
          <p:cNvSpPr>
            <a:spLocks xmlns:a="http://schemas.openxmlformats.org/drawingml/2006/main" noGrp="1"/>
          </p:cNvSpPr>
          <p:nvPr/>
        </p:nvSpPr>
        <p:spPr>
          <a:xfrm xmlns:a="http://schemas.openxmlformats.org/drawingml/2006/main">
            <a:off x="10420350" y="3343275"/>
            <a:ext cx="4095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463EB"/>
                </a:solidFill>
                <a:latin typeface="Arial"/>
                <a:ea typeface="Arial"/>
                <a:cs typeface="Arial"/>
              </a:defRPr>
            </a:defPPr>
          </a:lstStyle>
          <a:p xmlns:a="http://schemas.openxmlformats.org/drawingml/2006/main">
            <a:pPr algn="l">
              <a:defRPr sz="2400" b="1">
                <a:solidFill>
                  <a:srgbClr val="2463EB"/>
                </a:solidFill>
                <a:latin typeface="Arial"/>
                <a:ea typeface="Arial"/>
                <a:cs typeface="Arial"/>
              </a:defRPr>
            </a:pPr>
            <a:r>
              <a:rPr sz="2400" b="1">
                <a:solidFill>
                  <a:srgbClr val="2463EB"/>
                </a:solidFill>
                <a:latin typeface="Arial"/>
                <a:ea typeface="Arial"/>
                <a:cs typeface="Arial"/>
              </a:rPr>
              <a:t>Check the contribution</a:t>
            </a:r>
          </a:p>
          <a:p xmlns:a="http://schemas.openxmlformats.org/drawingml/2006/main">
            <a:pPr algn="l">
              <a:defRPr sz="2400" b="1">
                <a:solidFill>
                  <a:srgbClr val="2463EB"/>
                </a:solidFill>
                <a:latin typeface="Arial"/>
                <a:ea typeface="Arial"/>
                <a:cs typeface="Arial"/>
              </a:defRPr>
            </a:pPr>
            <a:r>
              <a:rPr sz="2400" b="1">
                <a:solidFill>
                  <a:srgbClr val="2463EB"/>
                </a:solidFill>
                <a:latin typeface="Arial"/>
                <a:ea typeface="Arial"/>
                <a:cs typeface="Arial"/>
              </a:rPr>
              <a:t>to the observed gap</a:t>
            </a:r>
          </a:p>
        </p:txBody>
      </p:sp>
      <p:sp>
        <p:nvSpPr>
          <p:cNvPr id="7" name="Residual gap ≤10%">
            <a:extLst xmlns:a="http://schemas.openxmlformats.org/drawingml/2006/main">
              <a:ext uri="{FF2B5EF4-FFF2-40B4-BE49-F238E27FC236}">
                <a16:creationId xmlns:a16="http://schemas.microsoft.com/office/drawing/2014/main" id="{2796EE99-CEB3-4C5F-B354-891007D966DB}"/>
              </a:ext>
            </a:extLst>
          </p:cNvPr>
          <p:cNvSpPr>
            <a:spLocks xmlns:a="http://schemas.openxmlformats.org/drawingml/2006/main" noGrp="1"/>
          </p:cNvSpPr>
          <p:nvPr/>
        </p:nvSpPr>
        <p:spPr>
          <a:xfrm xmlns:a="http://schemas.openxmlformats.org/drawingml/2006/main">
            <a:off x="10420350" y="476250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3243F"/>
                </a:solidFill>
                <a:latin typeface="Arial"/>
                <a:ea typeface="Arial"/>
                <a:cs typeface="Arial"/>
              </a:defRPr>
            </a:defPPr>
          </a:lstStyle>
          <a:p xmlns:a="http://schemas.openxmlformats.org/drawingml/2006/main">
            <a:pPr algn="l">
              <a:defRPr sz="2625" b="1">
                <a:solidFill>
                  <a:srgbClr val="13243F"/>
                </a:solidFill>
                <a:latin typeface="Arial"/>
                <a:ea typeface="Arial"/>
                <a:cs typeface="Arial"/>
              </a:defRPr>
            </a:pPr>
            <a:r>
              <a:rPr sz="2625" b="1">
                <a:solidFill>
                  <a:srgbClr val="13243F"/>
                </a:solidFill>
                <a:latin typeface="Arial"/>
                <a:ea typeface="Arial"/>
                <a:cs typeface="Arial"/>
              </a:rPr>
              <a:t>Residual gap ≤10%</a:t>
            </a:r>
          </a:p>
        </p:txBody>
      </p:sp>
      <p:sp>
        <p:nvSpPr>
          <p:cNvPr id="8" name="Accounting attribution supports the “verified” label.">
            <a:extLst xmlns:a="http://schemas.openxmlformats.org/drawingml/2006/main">
              <a:ext uri="{FF2B5EF4-FFF2-40B4-BE49-F238E27FC236}">
                <a16:creationId xmlns:a16="http://schemas.microsoft.com/office/drawing/2014/main" id="{E8E66093-E9DE-45A1-9FF0-B4F37E370FDD}"/>
              </a:ext>
            </a:extLst>
          </p:cNvPr>
          <p:cNvSpPr>
            <a:spLocks xmlns:a="http://schemas.openxmlformats.org/drawingml/2006/main" noGrp="1"/>
          </p:cNvSpPr>
          <p:nvPr/>
        </p:nvSpPr>
        <p:spPr>
          <a:xfrm xmlns:a="http://schemas.openxmlformats.org/drawingml/2006/main">
            <a:off x="10420350" y="5419725"/>
            <a:ext cx="409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37089"/>
                </a:solidFill>
                <a:latin typeface="Arial"/>
                <a:ea typeface="Arial"/>
                <a:cs typeface="Arial"/>
              </a:defRPr>
            </a:defPPr>
          </a:lstStyle>
          <a:p xmlns:a="http://schemas.openxmlformats.org/drawingml/2006/main">
            <a:pPr algn="l">
              <a:defRPr sz="2100" b="0">
                <a:solidFill>
                  <a:srgbClr val="637089"/>
                </a:solidFill>
                <a:latin typeface="Arial"/>
                <a:ea typeface="Arial"/>
                <a:cs typeface="Arial"/>
              </a:defRPr>
            </a:pPr>
            <a:r>
              <a:rPr sz="2100" b="0">
                <a:solidFill>
                  <a:srgbClr val="637089"/>
                </a:solidFill>
                <a:latin typeface="Arial"/>
                <a:ea typeface="Arial"/>
                <a:cs typeface="Arial"/>
              </a:rPr>
              <a:t>Accounting attribution</a:t>
            </a:r>
          </a:p>
          <a:p xmlns:a="http://schemas.openxmlformats.org/drawingml/2006/main">
            <a:pPr algn="l">
              <a:defRPr sz="2100" b="0">
                <a:solidFill>
                  <a:srgbClr val="637089"/>
                </a:solidFill>
                <a:latin typeface="Arial"/>
                <a:ea typeface="Arial"/>
                <a:cs typeface="Arial"/>
              </a:defRPr>
            </a:pPr>
            <a:r>
              <a:rPr sz="2100" b="0">
                <a:solidFill>
                  <a:srgbClr val="637089"/>
                </a:solidFill>
                <a:latin typeface="Arial"/>
                <a:ea typeface="Arial"/>
                <a:cs typeface="Arial"/>
              </a:rPr>
              <a:t>supports the “verified” label.</a:t>
            </a:r>
          </a:p>
        </p:txBody>
      </p:sp>
      <p:sp>
        <p:nvSpPr>
          <p:cNvPr id="9" name="Scenarios explore changes before the owner commits.">
            <a:extLst xmlns:a="http://schemas.openxmlformats.org/drawingml/2006/main">
              <a:ext uri="{FF2B5EF4-FFF2-40B4-BE49-F238E27FC236}">
                <a16:creationId xmlns:a16="http://schemas.microsoft.com/office/drawing/2014/main" id="{4540A3C8-6CCA-44FD-A685-9D2F08526F34}"/>
              </a:ext>
            </a:extLst>
          </p:cNvPr>
          <p:cNvSpPr>
            <a:spLocks xmlns:a="http://schemas.openxmlformats.org/drawingml/2006/main" noGrp="1"/>
          </p:cNvSpPr>
          <p:nvPr/>
        </p:nvSpPr>
        <p:spPr>
          <a:xfrm xmlns:a="http://schemas.openxmlformats.org/drawingml/2006/main">
            <a:off x="10420350" y="6686550"/>
            <a:ext cx="409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637089"/>
                </a:solidFill>
                <a:latin typeface="Arial"/>
                <a:ea typeface="Arial"/>
                <a:cs typeface="Arial"/>
              </a:defRPr>
            </a:defPPr>
          </a:lstStyle>
          <a:p xmlns:a="http://schemas.openxmlformats.org/drawingml/2006/main">
            <a:pPr algn="l">
              <a:defRPr sz="2025" b="0">
                <a:solidFill>
                  <a:srgbClr val="637089"/>
                </a:solidFill>
                <a:latin typeface="Arial"/>
                <a:ea typeface="Arial"/>
                <a:cs typeface="Arial"/>
              </a:defRPr>
            </a:pPr>
            <a:r>
              <a:rPr sz="2025" b="0">
                <a:solidFill>
                  <a:srgbClr val="637089"/>
                </a:solidFill>
                <a:latin typeface="Arial"/>
                <a:ea typeface="Arial"/>
                <a:cs typeface="Arial"/>
              </a:rPr>
              <a:t>Scenarios explore changes</a:t>
            </a:r>
          </a:p>
          <a:p xmlns:a="http://schemas.openxmlformats.org/drawingml/2006/main">
            <a:pPr algn="l">
              <a:defRPr sz="2025" b="0">
                <a:solidFill>
                  <a:srgbClr val="637089"/>
                </a:solidFill>
                <a:latin typeface="Arial"/>
                <a:ea typeface="Arial"/>
                <a:cs typeface="Arial"/>
              </a:defRPr>
            </a:pPr>
            <a:r>
              <a:rPr sz="2025" b="0">
                <a:solidFill>
                  <a:srgbClr val="637089"/>
                </a:solidFill>
                <a:latin typeface="Arial"/>
                <a:ea typeface="Arial"/>
                <a:cs typeface="Arial"/>
              </a:rPr>
              <a:t>before the owner commits.</a:t>
            </a:r>
          </a:p>
        </p:txBody>
      </p:sp>
      <p:sp>
        <p:nvSpPr>
          <p:cNvPr id="10" name="Live app with seeded demo records. Saved insights may predat">
            <a:extLst xmlns:a="http://schemas.openxmlformats.org/drawingml/2006/main">
              <a:ext uri="{FF2B5EF4-FFF2-40B4-BE49-F238E27FC236}">
                <a16:creationId xmlns:a16="http://schemas.microsoft.com/office/drawing/2014/main" id="{89C9E8AB-8FD7-4F27-B113-27DA43847D06}"/>
              </a:ext>
            </a:extLst>
          </p:cNvPr>
          <p:cNvSpPr>
            <a:spLocks xmlns:a="http://schemas.openxmlformats.org/drawingml/2006/main" noGrp="1"/>
          </p:cNvSpPr>
          <p:nvPr/>
        </p:nvSpPr>
        <p:spPr>
          <a:xfrm xmlns:a="http://schemas.openxmlformats.org/drawingml/2006/main">
            <a:off x="685800" y="7915275"/>
            <a:ext cx="13868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37089"/>
                </a:solidFill>
                <a:latin typeface="Arial"/>
                <a:ea typeface="Arial"/>
                <a:cs typeface="Arial"/>
              </a:defRPr>
            </a:defPPr>
          </a:lstStyle>
          <a:p xmlns:a="http://schemas.openxmlformats.org/drawingml/2006/main">
            <a:pPr algn="l">
              <a:defRPr sz="1425" b="0">
                <a:solidFill>
                  <a:srgbClr val="637089"/>
                </a:solidFill>
                <a:latin typeface="Arial"/>
                <a:ea typeface="Arial"/>
                <a:cs typeface="Arial"/>
              </a:defRPr>
            </a:pPr>
            <a:r>
              <a:rPr sz="1425" b="0">
                <a:solidFill>
                  <a:srgbClr val="637089"/>
                </a:solidFill>
                <a:latin typeface="Arial"/>
                <a:ea typeface="Arial"/>
                <a:cs typeface="Arial"/>
              </a:rPr>
              <a:t>Live app with seeded demo records. Saved insights may predate current metrics. Verification does not prove causation.</a:t>
            </a:r>
          </a:p>
        </p:txBody>
      </p:sp>
    </p:spTree>
    <p:extLst>
      <p:ext uri="{BB962C8B-B14F-4D97-AF65-F5344CB8AC3E}">
        <p14:creationId xmlns:p14="http://schemas.microsoft.com/office/powerpoint/2010/main" val="231916024"/>
      </p:ext>
    </p:extLst>
  </p:cSld>
</p:sld>
</file>

<file path=ppt/slides/slide11.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4" name="BizWizard">
            <a:extLst xmlns:a="http://schemas.openxmlformats.org/drawingml/2006/main">
              <a:ext uri="{FF2B5EF4-FFF2-40B4-BE49-F238E27FC236}">
                <a16:creationId xmlns:a16="http://schemas.microsoft.com/office/drawing/2014/main" id="{443518DC-0481-4E39-84FD-9B76D593A676}"/>
              </a:ext>
            </a:extLst>
          </p:cNvPr>
          <p:cNvSpPr>
            <a:spLocks xmlns:a="http://schemas.openxmlformats.org/drawingml/2006/main" noGrp="1"/>
          </p:cNvSpPr>
          <p:nvPr/>
        </p:nvSpPr>
        <p:spPr>
          <a:xfrm xmlns:a="http://schemas.openxmlformats.org/drawingml/2006/main">
            <a:off x="685800" y="3238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01F3C"/>
                </a:solidFill>
                <a:latin typeface="Arial"/>
                <a:ea typeface="Arial"/>
                <a:cs typeface="Arial"/>
              </a:defRPr>
            </a:defPPr>
          </a:lstStyle>
          <a:p xmlns:a="http://schemas.openxmlformats.org/drawingml/2006/main">
            <a:pPr algn="l">
              <a:defRPr sz="1575" b="1">
                <a:solidFill>
                  <a:srgbClr val="101F3C"/>
                </a:solidFill>
                <a:latin typeface="Arial"/>
                <a:ea typeface="Arial"/>
                <a:cs typeface="Arial"/>
              </a:defRPr>
            </a:pPr>
            <a:r>
              <a:rPr sz="1575" b="1">
                <a:solidFill>
                  <a:srgbClr val="101F3C"/>
                </a:solidFill>
                <a:latin typeface="Arial"/>
                <a:ea typeface="Arial"/>
                <a:cs typeface="Arial"/>
              </a:rPr>
              <a:t>BizWizard</a:t>
            </a:r>
          </a:p>
        </p:txBody>
      </p:sp>
      <p:sp>
        <p:nvSpPr>
          <p:cNvPr id="2" name="11">
            <a:extLst xmlns:a="http://schemas.openxmlformats.org/drawingml/2006/main">
              <a:ext uri="{FF2B5EF4-FFF2-40B4-BE49-F238E27FC236}">
                <a16:creationId xmlns:a16="http://schemas.microsoft.com/office/drawing/2014/main" id="{1D0EA5ED-F2A0-44EA-883F-C11D586B5CCF}"/>
              </a:ext>
            </a:extLst>
          </p:cNvPr>
          <p:cNvSpPr>
            <a:spLocks xmlns:a="http://schemas.openxmlformats.org/drawingml/2006/main" noGrp="1"/>
          </p:cNvSpPr>
          <p:nvPr/>
        </p:nvSpPr>
        <p:spPr>
          <a:xfrm xmlns:a="http://schemas.openxmlformats.org/drawingml/2006/main">
            <a:off x="12573000" y="323850"/>
            <a:ext cx="198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37089"/>
                </a:solidFill>
                <a:latin typeface="Arial"/>
                <a:ea typeface="Arial"/>
                <a:cs typeface="Arial"/>
              </a:defRPr>
            </a:defPPr>
          </a:lstStyle>
          <a:p xmlns:a="http://schemas.openxmlformats.org/drawingml/2006/main">
            <a:pPr algn="r">
              <a:defRPr sz="1425" b="0">
                <a:solidFill>
                  <a:srgbClr val="637089"/>
                </a:solidFill>
                <a:latin typeface="Arial"/>
                <a:ea typeface="Arial"/>
                <a:cs typeface="Arial"/>
              </a:defRPr>
            </a:pPr>
            <a:r>
              <a:rPr sz="1425" b="0">
                <a:solidFill>
                  <a:srgbClr val="637089"/>
                </a:solidFill>
                <a:latin typeface="Arial"/>
                <a:ea typeface="Arial"/>
                <a:cs typeface="Arial"/>
              </a:rPr>
              <a:t>11</a:t>
            </a:r>
          </a:p>
        </p:txBody>
      </p:sp>
      <p:sp>
        <p:nvSpPr>
          <p:cNvPr id="3" name="Slide heading">
            <a:extLst xmlns:a="http://schemas.openxmlformats.org/drawingml/2006/main">
              <a:ext uri="{FF2B5EF4-FFF2-40B4-BE49-F238E27FC236}">
                <a16:creationId xmlns:a16="http://schemas.microsoft.com/office/drawing/2014/main" id="{B4455D53-3815-47A5-97D5-5F314D42CA06}"/>
              </a:ext>
            </a:extLst>
          </p:cNvPr>
          <p:cNvSpPr>
            <a:spLocks xmlns:a="http://schemas.openxmlformats.org/drawingml/2006/main" noGrp="1"/>
          </p:cNvSpPr>
          <p:nvPr/>
        </p:nvSpPr>
        <p:spPr>
          <a:xfrm xmlns:a="http://schemas.openxmlformats.org/drawingml/2006/main">
            <a:off x="685800" y="1000125"/>
            <a:ext cx="138684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13243F"/>
                </a:solidFill>
                <a:latin typeface="Arial"/>
                <a:ea typeface="Arial"/>
                <a:cs typeface="Arial"/>
              </a:defRPr>
            </a:defPPr>
          </a:lstStyle>
          <a:p xmlns:a="http://schemas.openxmlformats.org/drawingml/2006/main">
            <a:pPr algn="l">
              <a:defRPr sz="4500" b="1">
                <a:solidFill>
                  <a:srgbClr val="13243F"/>
                </a:solidFill>
                <a:latin typeface="Arial"/>
                <a:ea typeface="Arial"/>
                <a:cs typeface="Arial"/>
              </a:defRPr>
            </a:pPr>
            <a:r>
              <a:rPr sz="4500" b="1">
                <a:solidFill>
                  <a:srgbClr val="13243F"/>
                </a:solidFill>
                <a:latin typeface="Arial"/>
                <a:ea typeface="Arial"/>
                <a:cs typeface="Arial"/>
              </a:rPr>
              <a:t>Analysis checks and outcome measurement</a:t>
            </a:r>
          </a:p>
        </p:txBody>
      </p:sp>
      <p:graphicFrame>
        <p:nvGraphicFramePr>
          <p:cNvPr id="4" name="">
            <a:extLst xmlns:a="http://schemas.openxmlformats.org/drawingml/2006/main">
              <a:ext uri="{FF2B5EF4-FFF2-40B4-BE49-F238E27FC236}">
                <a16:creationId xmlns:a16="http://schemas.microsoft.com/office/drawing/2014/main" id="{DC2A3875-3DE1-4F73-B76E-A92D027DFEB8}"/>
              </a:ext>
            </a:extLst>
          </p:cNvPr>
          <p:cNvGraphicFramePr/>
          <p:nvPr/>
        </p:nvGraphicFramePr>
        <p:xfrm>
          <a:off xmlns:a="http://schemas.openxmlformats.org/drawingml/2006/main" x="723900" y="2362200"/>
          <a:ext xmlns:a="http://schemas.openxmlformats.org/drawingml/2006/main" cx="13792200" cy="1381125"/>
        </p:xfrm>
        <a:graphic xmlns:a="http://schemas.openxmlformats.org/drawingml/2006/main">
          <a:graphicData uri="http://schemas.openxmlformats.org/drawingml/2006/table">
            <a:tbl>
              <a:tblPr firstRow="1" bandRow="0"/>
              <a:tblGrid>
                <a:gridCol w="4191000"/>
                <a:gridCol w="5715000"/>
                <a:gridCol w="3886200"/>
              </a:tblGrid>
              <a:tr h="690563">
                <a:tc>
                  <a:txBody>
                    <a:bodyPr lIns="133350" tIns="133350" rIns="133350" bIns="95250"/>
                    <a:lstStyle/>
                    <a:p>
                      <a:r>
                        <a:rPr sz="2100" b="1">
                          <a:solidFill>
                            <a:srgbClr val="FFFFFF"/>
                          </a:solidFill>
                          <a:latin typeface="Arial"/>
                          <a:ea typeface="Arial"/>
                          <a:cs typeface="Arial"/>
                        </a:rPr>
                        <a:t>Metric history</a:t>
                      </a:r>
                    </a:p>
                  </a:txBody>
                  <a:tcPr marL="91440" marR="91440" marT="45720" marB="45720" anchor="ctr">
                    <a:lnL w="6668">
                      <a:solidFill>
                        <a:srgbClr val="F6F8FC"/>
                      </a:solidFill>
                      <a:prstDash val="solid"/>
                    </a:lnL>
                    <a:lnR w="6668">
                      <a:solidFill>
                        <a:srgbClr val="F6F8FC"/>
                      </a:solidFill>
                      <a:prstDash val="solid"/>
                    </a:lnR>
                    <a:lnT w="6668">
                      <a:solidFill>
                        <a:srgbClr val="F6F8FC"/>
                      </a:solidFill>
                      <a:prstDash val="solid"/>
                    </a:lnT>
                    <a:lnB w="6668">
                      <a:solidFill>
                        <a:srgbClr val="F6F8FC"/>
                      </a:solidFill>
                      <a:prstDash val="solid"/>
                    </a:lnB>
                    <a:solidFill>
                      <a:srgbClr val="101F3C"/>
                    </a:solidFill>
                  </a:tcPr>
                </a:tc>
                <a:tc>
                  <a:txBody>
                    <a:bodyPr lIns="133350" tIns="133350" rIns="133350" bIns="95250"/>
                    <a:lstStyle/>
                    <a:p>
                      <a:r>
                        <a:rPr sz="2100" b="1">
                          <a:solidFill>
                            <a:srgbClr val="FFFFFF"/>
                          </a:solidFill>
                          <a:latin typeface="Arial"/>
                          <a:ea typeface="Arial"/>
                          <a:cs typeface="Arial"/>
                        </a:rPr>
                        <a:t>Forecast / anomaly history</a:t>
                      </a:r>
                    </a:p>
                  </a:txBody>
                  <a:tcPr marL="91440" marR="91440" marT="45720" marB="45720" anchor="ctr">
                    <a:lnR w="6668">
                      <a:solidFill>
                        <a:srgbClr val="F6F8FC"/>
                      </a:solidFill>
                      <a:prstDash val="solid"/>
                    </a:lnR>
                    <a:lnT w="6668">
                      <a:solidFill>
                        <a:srgbClr val="F6F8FC"/>
                      </a:solidFill>
                      <a:prstDash val="solid"/>
                    </a:lnT>
                    <a:lnB w="6668">
                      <a:solidFill>
                        <a:srgbClr val="F6F8FC"/>
                      </a:solidFill>
                      <a:prstDash val="solid"/>
                    </a:lnB>
                    <a:solidFill>
                      <a:srgbClr val="101F3C"/>
                    </a:solidFill>
                  </a:tcPr>
                </a:tc>
                <a:tc>
                  <a:txBody>
                    <a:bodyPr lIns="133350" tIns="133350" rIns="133350" bIns="95250"/>
                    <a:lstStyle/>
                    <a:p>
                      <a:r>
                        <a:rPr sz="2100" b="1">
                          <a:solidFill>
                            <a:srgbClr val="FFFFFF"/>
                          </a:solidFill>
                          <a:latin typeface="Arial"/>
                          <a:ea typeface="Arial"/>
                          <a:cs typeface="Arial"/>
                        </a:rPr>
                        <a:t>Forecast holdout</a:t>
                      </a:r>
                    </a:p>
                  </a:txBody>
                  <a:tcPr marL="91440" marR="91440" marT="45720" marB="45720" anchor="ctr">
                    <a:lnR w="6668">
                      <a:solidFill>
                        <a:srgbClr val="F6F8FC"/>
                      </a:solidFill>
                      <a:prstDash val="solid"/>
                    </a:lnR>
                    <a:lnT w="6668">
                      <a:solidFill>
                        <a:srgbClr val="F6F8FC"/>
                      </a:solidFill>
                      <a:prstDash val="solid"/>
                    </a:lnT>
                    <a:lnB w="6668">
                      <a:solidFill>
                        <a:srgbClr val="F6F8FC"/>
                      </a:solidFill>
                      <a:prstDash val="solid"/>
                    </a:lnB>
                    <a:solidFill>
                      <a:srgbClr val="101F3C"/>
                    </a:solidFill>
                  </a:tcPr>
                </a:tc>
              </a:tr>
              <a:tr h="690563">
                <a:tc>
                  <a:txBody>
                    <a:bodyPr lIns="133350" tIns="133350" rIns="133350" bIns="95250"/>
                    <a:lstStyle/>
                    <a:p>
                      <a:r>
                        <a:rPr sz="2100" b="0">
                          <a:solidFill>
                            <a:srgbClr val="13243F"/>
                          </a:solidFill>
                          <a:latin typeface="Arial"/>
                          <a:ea typeface="Arial"/>
                          <a:cs typeface="Arial"/>
                        </a:rPr>
                        <a:t>90 days</a:t>
                      </a:r>
                    </a:p>
                  </a:txBody>
                  <a:tcPr marL="91440" marR="91440" marT="45720" marB="45720" anchor="ctr">
                    <a:lnL w="6668">
                      <a:solidFill>
                        <a:srgbClr val="F6F8FC"/>
                      </a:solidFill>
                      <a:prstDash val="solid"/>
                    </a:lnL>
                    <a:lnR w="6668">
                      <a:solidFill>
                        <a:srgbClr val="F6F8FC"/>
                      </a:solidFill>
                      <a:prstDash val="solid"/>
                    </a:lnR>
                    <a:lnB w="6668">
                      <a:solidFill>
                        <a:srgbClr val="F6F8FC"/>
                      </a:solidFill>
                      <a:prstDash val="solid"/>
                    </a:lnB>
                    <a:solidFill>
                      <a:srgbClr val="FFFFFF"/>
                    </a:solidFill>
                  </a:tcPr>
                </a:tc>
                <a:tc>
                  <a:txBody>
                    <a:bodyPr lIns="133350" tIns="133350" rIns="133350" bIns="95250"/>
                    <a:lstStyle/>
                    <a:p>
                      <a:r>
                        <a:rPr sz="2100" b="0">
                          <a:solidFill>
                            <a:srgbClr val="13243F"/>
                          </a:solidFill>
                          <a:latin typeface="Arial"/>
                          <a:ea typeface="Arial"/>
                          <a:cs typeface="Arial"/>
                        </a:rPr>
                        <a:t>120 days</a:t>
                      </a:r>
                    </a:p>
                  </a:txBody>
                  <a:tcPr marL="91440" marR="91440" marT="45720" marB="45720" anchor="ctr">
                    <a:lnR w="6668">
                      <a:solidFill>
                        <a:srgbClr val="F6F8FC"/>
                      </a:solidFill>
                      <a:prstDash val="solid"/>
                    </a:lnR>
                    <a:lnB w="6668">
                      <a:solidFill>
                        <a:srgbClr val="F6F8FC"/>
                      </a:solidFill>
                      <a:prstDash val="solid"/>
                    </a:lnB>
                    <a:solidFill>
                      <a:srgbClr val="FFFFFF"/>
                    </a:solidFill>
                  </a:tcPr>
                </a:tc>
                <a:tc>
                  <a:txBody>
                    <a:bodyPr lIns="133350" tIns="133350" rIns="133350" bIns="95250"/>
                    <a:lstStyle/>
                    <a:p>
                      <a:r>
                        <a:rPr sz="2100" b="0">
                          <a:solidFill>
                            <a:srgbClr val="13243F"/>
                          </a:solidFill>
                          <a:latin typeface="Arial"/>
                          <a:ea typeface="Arial"/>
                          <a:cs typeface="Arial"/>
                        </a:rPr>
                        <a:t>14 days</a:t>
                      </a:r>
                    </a:p>
                  </a:txBody>
                  <a:tcPr marL="91440" marR="91440" marT="45720" marB="45720" anchor="ctr">
                    <a:lnR w="6668">
                      <a:solidFill>
                        <a:srgbClr val="F6F8FC"/>
                      </a:solidFill>
                      <a:prstDash val="solid"/>
                    </a:lnR>
                    <a:lnB w="6668">
                      <a:solidFill>
                        <a:srgbClr val="F6F8FC"/>
                      </a:solidFill>
                      <a:prstDash val="solid"/>
                    </a:lnB>
                    <a:solidFill>
                      <a:srgbClr val="FFFFFF"/>
                    </a:solidFill>
                  </a:tcPr>
                </a:tc>
              </a:tr>
            </a:tbl>
          </a:graphicData>
        </a:graphic>
      </p:graphicFrame>
      <p:sp>
        <p:nvSpPr>
          <p:cNvPr id="5" name="Unusual changes">
            <a:extLst xmlns:a="http://schemas.openxmlformats.org/drawingml/2006/main">
              <a:ext uri="{FF2B5EF4-FFF2-40B4-BE49-F238E27FC236}">
                <a16:creationId xmlns:a16="http://schemas.microsoft.com/office/drawing/2014/main" id="{1F3456E8-E34A-4604-982E-96C62E7C9A9E}"/>
              </a:ext>
            </a:extLst>
          </p:cNvPr>
          <p:cNvSpPr>
            <a:spLocks xmlns:a="http://schemas.openxmlformats.org/drawingml/2006/main" noGrp="1"/>
          </p:cNvSpPr>
          <p:nvPr/>
        </p:nvSpPr>
        <p:spPr>
          <a:xfrm xmlns:a="http://schemas.openxmlformats.org/drawingml/2006/main">
            <a:off x="723900" y="4295775"/>
            <a:ext cx="742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3243F"/>
                </a:solidFill>
                <a:latin typeface="Arial"/>
                <a:ea typeface="Arial"/>
                <a:cs typeface="Arial"/>
              </a:defRPr>
            </a:defPPr>
          </a:lstStyle>
          <a:p xmlns:a="http://schemas.openxmlformats.org/drawingml/2006/main">
            <a:pPr algn="l">
              <a:defRPr sz="2400" b="1">
                <a:solidFill>
                  <a:srgbClr val="13243F"/>
                </a:solidFill>
                <a:latin typeface="Arial"/>
                <a:ea typeface="Arial"/>
                <a:cs typeface="Arial"/>
              </a:defRPr>
            </a:pPr>
            <a:r>
              <a:rPr sz="2400" b="1">
                <a:solidFill>
                  <a:srgbClr val="13243F"/>
                </a:solidFill>
                <a:latin typeface="Arial"/>
                <a:ea typeface="Arial"/>
                <a:cs typeface="Arial"/>
              </a:rPr>
              <a:t>Unusual changes</a:t>
            </a:r>
          </a:p>
        </p:txBody>
      </p:sp>
      <p:sp>
        <p:nvSpPr>
          <p:cNvPr id="6" name="Weekday-adjusted robust z-score: |z| &gt;3.5. AI ranks the supp">
            <a:extLst xmlns:a="http://schemas.openxmlformats.org/drawingml/2006/main">
              <a:ext uri="{FF2B5EF4-FFF2-40B4-BE49-F238E27FC236}">
                <a16:creationId xmlns:a16="http://schemas.microsoft.com/office/drawing/2014/main" id="{09C00813-F64A-473C-AE01-4B30881CCA97}"/>
              </a:ext>
            </a:extLst>
          </p:cNvPr>
          <p:cNvSpPr>
            <a:spLocks xmlns:a="http://schemas.openxmlformats.org/drawingml/2006/main" noGrp="1"/>
          </p:cNvSpPr>
          <p:nvPr/>
        </p:nvSpPr>
        <p:spPr>
          <a:xfrm xmlns:a="http://schemas.openxmlformats.org/drawingml/2006/main">
            <a:off x="723900" y="4829175"/>
            <a:ext cx="7429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37089"/>
                </a:solidFill>
                <a:latin typeface="Arial"/>
                <a:ea typeface="Arial"/>
                <a:cs typeface="Arial"/>
              </a:defRPr>
            </a:defPPr>
          </a:lstStyle>
          <a:p xmlns:a="http://schemas.openxmlformats.org/drawingml/2006/main">
            <a:pPr algn="l">
              <a:defRPr sz="2175" b="0">
                <a:solidFill>
                  <a:srgbClr val="637089"/>
                </a:solidFill>
                <a:latin typeface="Arial"/>
                <a:ea typeface="Arial"/>
                <a:cs typeface="Arial"/>
              </a:defRPr>
            </a:pPr>
            <a:r>
              <a:rPr sz="2175" b="0">
                <a:solidFill>
                  <a:srgbClr val="637089"/>
                </a:solidFill>
                <a:latin typeface="Arial"/>
                <a:ea typeface="Arial"/>
                <a:cs typeface="Arial"/>
              </a:rPr>
              <a:t>Weekday-adjusted robust z-score: |z| &gt;3.5.</a:t>
            </a:r>
          </a:p>
          <a:p xmlns:a="http://schemas.openxmlformats.org/drawingml/2006/main">
            <a:pPr algn="l">
              <a:defRPr sz="2175" b="0">
                <a:solidFill>
                  <a:srgbClr val="637089"/>
                </a:solidFill>
                <a:latin typeface="Arial"/>
                <a:ea typeface="Arial"/>
                <a:cs typeface="Arial"/>
              </a:defRPr>
            </a:pPr>
            <a:r>
              <a:rPr sz="2175" b="0">
                <a:solidFill>
                  <a:srgbClr val="637089"/>
                </a:solidFill>
                <a:latin typeface="Arial"/>
                <a:ea typeface="Arial"/>
                <a:cs typeface="Arial"/>
              </a:rPr>
              <a:t>AI ranks the supplied candidate explanations.</a:t>
            </a:r>
          </a:p>
        </p:txBody>
      </p:sp>
      <p:sp>
        <p:nvSpPr>
          <p:cNvPr id="7" name="Verification threshold">
            <a:extLst xmlns:a="http://schemas.openxmlformats.org/drawingml/2006/main">
              <a:ext uri="{FF2B5EF4-FFF2-40B4-BE49-F238E27FC236}">
                <a16:creationId xmlns:a16="http://schemas.microsoft.com/office/drawing/2014/main" id="{C493B429-59C1-47A7-BEB4-9E27F3FD5031}"/>
              </a:ext>
            </a:extLst>
          </p:cNvPr>
          <p:cNvSpPr>
            <a:spLocks xmlns:a="http://schemas.openxmlformats.org/drawingml/2006/main" noGrp="1"/>
          </p:cNvSpPr>
          <p:nvPr/>
        </p:nvSpPr>
        <p:spPr>
          <a:xfrm xmlns:a="http://schemas.openxmlformats.org/drawingml/2006/main">
            <a:off x="8648700" y="4295775"/>
            <a:ext cx="590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3243F"/>
                </a:solidFill>
                <a:latin typeface="Arial"/>
                <a:ea typeface="Arial"/>
                <a:cs typeface="Arial"/>
              </a:defRPr>
            </a:defPPr>
          </a:lstStyle>
          <a:p xmlns:a="http://schemas.openxmlformats.org/drawingml/2006/main">
            <a:pPr algn="l">
              <a:defRPr sz="2400" b="1">
                <a:solidFill>
                  <a:srgbClr val="13243F"/>
                </a:solidFill>
                <a:latin typeface="Arial"/>
                <a:ea typeface="Arial"/>
                <a:cs typeface="Arial"/>
              </a:defRPr>
            </a:pPr>
            <a:r>
              <a:rPr sz="2400" b="1">
                <a:solidFill>
                  <a:srgbClr val="13243F"/>
                </a:solidFill>
                <a:latin typeface="Arial"/>
                <a:ea typeface="Arial"/>
                <a:cs typeface="Arial"/>
              </a:rPr>
              <a:t>Verification threshold</a:t>
            </a:r>
          </a:p>
        </p:txBody>
      </p:sp>
      <p:sp>
        <p:nvSpPr>
          <p:cNvPr id="8" name="Residual gap ≤10%. Keep refuted explanations in the record.">
            <a:extLst xmlns:a="http://schemas.openxmlformats.org/drawingml/2006/main">
              <a:ext uri="{FF2B5EF4-FFF2-40B4-BE49-F238E27FC236}">
                <a16:creationId xmlns:a16="http://schemas.microsoft.com/office/drawing/2014/main" id="{64BF1DD8-3F8B-44E0-8141-DCFD569DC516}"/>
              </a:ext>
            </a:extLst>
          </p:cNvPr>
          <p:cNvSpPr>
            <a:spLocks xmlns:a="http://schemas.openxmlformats.org/drawingml/2006/main" noGrp="1"/>
          </p:cNvSpPr>
          <p:nvPr/>
        </p:nvSpPr>
        <p:spPr>
          <a:xfrm xmlns:a="http://schemas.openxmlformats.org/drawingml/2006/main">
            <a:off x="8648700" y="4829175"/>
            <a:ext cx="5905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37089"/>
                </a:solidFill>
                <a:latin typeface="Arial"/>
                <a:ea typeface="Arial"/>
                <a:cs typeface="Arial"/>
              </a:defRPr>
            </a:defPPr>
          </a:lstStyle>
          <a:p xmlns:a="http://schemas.openxmlformats.org/drawingml/2006/main">
            <a:pPr algn="l">
              <a:defRPr sz="2175" b="0">
                <a:solidFill>
                  <a:srgbClr val="637089"/>
                </a:solidFill>
                <a:latin typeface="Arial"/>
                <a:ea typeface="Arial"/>
                <a:cs typeface="Arial"/>
              </a:defRPr>
            </a:pPr>
            <a:r>
              <a:rPr sz="2175" b="0">
                <a:solidFill>
                  <a:srgbClr val="637089"/>
                </a:solidFill>
                <a:latin typeface="Arial"/>
                <a:ea typeface="Arial"/>
                <a:cs typeface="Arial"/>
              </a:rPr>
              <a:t>Residual gap ≤10%.</a:t>
            </a:r>
          </a:p>
          <a:p xmlns:a="http://schemas.openxmlformats.org/drawingml/2006/main">
            <a:pPr algn="l">
              <a:defRPr sz="2175" b="0">
                <a:solidFill>
                  <a:srgbClr val="637089"/>
                </a:solidFill>
                <a:latin typeface="Arial"/>
                <a:ea typeface="Arial"/>
                <a:cs typeface="Arial"/>
              </a:defRPr>
            </a:pPr>
            <a:r>
              <a:rPr sz="2175" b="0">
                <a:solidFill>
                  <a:srgbClr val="637089"/>
                </a:solidFill>
                <a:latin typeface="Arial"/>
                <a:ea typeface="Arial"/>
                <a:cs typeface="Arial"/>
              </a:rPr>
              <a:t>Keep refuted explanations in the record.</a:t>
            </a:r>
          </a:p>
        </p:txBody>
      </p:sp>
      <p:sp>
        <p:nvSpPr>
          <p:cNvPr id="9" name="Stock and customer risk">
            <a:extLst xmlns:a="http://schemas.openxmlformats.org/drawingml/2006/main">
              <a:ext uri="{FF2B5EF4-FFF2-40B4-BE49-F238E27FC236}">
                <a16:creationId xmlns:a16="http://schemas.microsoft.com/office/drawing/2014/main" id="{527870B4-1753-48BC-B0E1-F40A52C3DEE5}"/>
              </a:ext>
            </a:extLst>
          </p:cNvPr>
          <p:cNvSpPr>
            <a:spLocks xmlns:a="http://schemas.openxmlformats.org/drawingml/2006/main" noGrp="1"/>
          </p:cNvSpPr>
          <p:nvPr/>
        </p:nvSpPr>
        <p:spPr>
          <a:xfrm xmlns:a="http://schemas.openxmlformats.org/drawingml/2006/main">
            <a:off x="723900" y="6229350"/>
            <a:ext cx="742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3243F"/>
                </a:solidFill>
                <a:latin typeface="Arial"/>
                <a:ea typeface="Arial"/>
                <a:cs typeface="Arial"/>
              </a:defRPr>
            </a:defPPr>
          </a:lstStyle>
          <a:p xmlns:a="http://schemas.openxmlformats.org/drawingml/2006/main">
            <a:pPr algn="l">
              <a:defRPr sz="2400" b="1">
                <a:solidFill>
                  <a:srgbClr val="13243F"/>
                </a:solidFill>
                <a:latin typeface="Arial"/>
                <a:ea typeface="Arial"/>
                <a:cs typeface="Arial"/>
              </a:defRPr>
            </a:pPr>
            <a:r>
              <a:rPr sz="2400" b="1">
                <a:solidFill>
                  <a:srgbClr val="13243F"/>
                </a:solidFill>
                <a:latin typeface="Arial"/>
                <a:ea typeface="Arial"/>
                <a:cs typeface="Arial"/>
              </a:rPr>
              <a:t>Stock and customer risk</a:t>
            </a:r>
          </a:p>
        </p:txBody>
      </p:sp>
      <p:sp>
        <p:nvSpPr>
          <p:cNvPr id="10" name="Dead stock: &gt;45 days without sale and &gt;5% of stock value. To">
            <a:extLst xmlns:a="http://schemas.openxmlformats.org/drawingml/2006/main">
              <a:ext uri="{FF2B5EF4-FFF2-40B4-BE49-F238E27FC236}">
                <a16:creationId xmlns:a16="http://schemas.microsoft.com/office/drawing/2014/main" id="{61D10B7C-CF99-473D-B822-BDE653C2A45B}"/>
              </a:ext>
            </a:extLst>
          </p:cNvPr>
          <p:cNvSpPr>
            <a:spLocks xmlns:a="http://schemas.openxmlformats.org/drawingml/2006/main" noGrp="1"/>
          </p:cNvSpPr>
          <p:nvPr/>
        </p:nvSpPr>
        <p:spPr>
          <a:xfrm xmlns:a="http://schemas.openxmlformats.org/drawingml/2006/main">
            <a:off x="723900" y="6762750"/>
            <a:ext cx="7429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637089"/>
                </a:solidFill>
                <a:latin typeface="Arial"/>
                <a:ea typeface="Arial"/>
                <a:cs typeface="Arial"/>
              </a:defRPr>
            </a:defPPr>
          </a:lstStyle>
          <a:p xmlns:a="http://schemas.openxmlformats.org/drawingml/2006/main">
            <a:pPr algn="l">
              <a:defRPr sz="2025" b="0">
                <a:solidFill>
                  <a:srgbClr val="637089"/>
                </a:solidFill>
                <a:latin typeface="Arial"/>
                <a:ea typeface="Arial"/>
                <a:cs typeface="Arial"/>
              </a:defRPr>
            </a:pPr>
            <a:r>
              <a:rPr sz="2025" b="0">
                <a:solidFill>
                  <a:srgbClr val="637089"/>
                </a:solidFill>
                <a:latin typeface="Arial"/>
                <a:ea typeface="Arial"/>
                <a:cs typeface="Arial"/>
              </a:rPr>
              <a:t>Dead stock: &gt;45 days without sale and &gt;5%</a:t>
            </a:r>
          </a:p>
          <a:p xmlns:a="http://schemas.openxmlformats.org/drawingml/2006/main">
            <a:pPr algn="l">
              <a:defRPr sz="2025" b="0">
                <a:solidFill>
                  <a:srgbClr val="637089"/>
                </a:solidFill>
                <a:latin typeface="Arial"/>
                <a:ea typeface="Arial"/>
                <a:cs typeface="Arial"/>
              </a:defRPr>
            </a:pPr>
            <a:r>
              <a:rPr sz="2025" b="0">
                <a:solidFill>
                  <a:srgbClr val="637089"/>
                </a:solidFill>
                <a:latin typeface="Arial"/>
                <a:ea typeface="Arial"/>
                <a:cs typeface="Arial"/>
              </a:rPr>
              <a:t>of stock value. Top customer &gt;25% or HHI &gt;0.25.</a:t>
            </a:r>
          </a:p>
        </p:txBody>
      </p:sp>
      <p:sp>
        <p:nvSpPr>
          <p:cNvPr id="11" name="Capital decisions">
            <a:extLst xmlns:a="http://schemas.openxmlformats.org/drawingml/2006/main">
              <a:ext uri="{FF2B5EF4-FFF2-40B4-BE49-F238E27FC236}">
                <a16:creationId xmlns:a16="http://schemas.microsoft.com/office/drawing/2014/main" id="{0DF6A706-E325-4238-B1EF-C45CD901A70E}"/>
              </a:ext>
            </a:extLst>
          </p:cNvPr>
          <p:cNvSpPr>
            <a:spLocks xmlns:a="http://schemas.openxmlformats.org/drawingml/2006/main" noGrp="1"/>
          </p:cNvSpPr>
          <p:nvPr/>
        </p:nvSpPr>
        <p:spPr>
          <a:xfrm xmlns:a="http://schemas.openxmlformats.org/drawingml/2006/main">
            <a:off x="8648700" y="6229350"/>
            <a:ext cx="590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3243F"/>
                </a:solidFill>
                <a:latin typeface="Arial"/>
                <a:ea typeface="Arial"/>
                <a:cs typeface="Arial"/>
              </a:defRPr>
            </a:defPPr>
          </a:lstStyle>
          <a:p xmlns:a="http://schemas.openxmlformats.org/drawingml/2006/main">
            <a:pPr algn="l">
              <a:defRPr sz="2400" b="1">
                <a:solidFill>
                  <a:srgbClr val="13243F"/>
                </a:solidFill>
                <a:latin typeface="Arial"/>
                <a:ea typeface="Arial"/>
                <a:cs typeface="Arial"/>
              </a:defRPr>
            </a:pPr>
            <a:r>
              <a:rPr sz="2400" b="1">
                <a:solidFill>
                  <a:srgbClr val="13243F"/>
                </a:solidFill>
                <a:latin typeface="Arial"/>
                <a:ea typeface="Arial"/>
                <a:cs typeface="Arial"/>
              </a:rPr>
              <a:t>Capital decisions</a:t>
            </a:r>
          </a:p>
        </p:txBody>
      </p:sp>
      <p:sp>
        <p:nvSpPr>
          <p:cNvPr id="12" name="Freeze a baseline, then observe 30 days. Before/after result">
            <a:extLst xmlns:a="http://schemas.openxmlformats.org/drawingml/2006/main">
              <a:ext uri="{FF2B5EF4-FFF2-40B4-BE49-F238E27FC236}">
                <a16:creationId xmlns:a16="http://schemas.microsoft.com/office/drawing/2014/main" id="{FD6A623B-663D-4771-BAB3-42EA465E717A}"/>
              </a:ext>
            </a:extLst>
          </p:cNvPr>
          <p:cNvSpPr>
            <a:spLocks xmlns:a="http://schemas.openxmlformats.org/drawingml/2006/main" noGrp="1"/>
          </p:cNvSpPr>
          <p:nvPr/>
        </p:nvSpPr>
        <p:spPr>
          <a:xfrm xmlns:a="http://schemas.openxmlformats.org/drawingml/2006/main">
            <a:off x="8648700" y="6762750"/>
            <a:ext cx="5905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637089"/>
                </a:solidFill>
                <a:latin typeface="Arial"/>
                <a:ea typeface="Arial"/>
                <a:cs typeface="Arial"/>
              </a:defRPr>
            </a:defPPr>
          </a:lstStyle>
          <a:p xmlns:a="http://schemas.openxmlformats.org/drawingml/2006/main">
            <a:pPr algn="l">
              <a:defRPr sz="2025" b="0">
                <a:solidFill>
                  <a:srgbClr val="637089"/>
                </a:solidFill>
                <a:latin typeface="Arial"/>
                <a:ea typeface="Arial"/>
                <a:cs typeface="Arial"/>
              </a:defRPr>
            </a:pPr>
            <a:r>
              <a:rPr sz="2025" b="0">
                <a:solidFill>
                  <a:srgbClr val="637089"/>
                </a:solidFill>
                <a:latin typeface="Arial"/>
                <a:ea typeface="Arial"/>
                <a:cs typeface="Arial"/>
              </a:rPr>
              <a:t>Freeze a baseline, then observe 30 days.</a:t>
            </a:r>
          </a:p>
          <a:p xmlns:a="http://schemas.openxmlformats.org/drawingml/2006/main">
            <a:pPr algn="l">
              <a:defRPr sz="2025" b="0">
                <a:solidFill>
                  <a:srgbClr val="637089"/>
                </a:solidFill>
                <a:latin typeface="Arial"/>
                <a:ea typeface="Arial"/>
                <a:cs typeface="Arial"/>
              </a:defRPr>
            </a:pPr>
            <a:r>
              <a:rPr sz="2025" b="0">
                <a:solidFill>
                  <a:srgbClr val="637089"/>
                </a:solidFill>
                <a:latin typeface="Arial"/>
                <a:ea typeface="Arial"/>
                <a:cs typeface="Arial"/>
              </a:rPr>
              <a:t>Before/after results remain non-causal.</a:t>
            </a:r>
          </a:p>
        </p:txBody>
      </p:sp>
      <p:sp>
        <p:nvSpPr>
          <p:cNvPr id="13" name="Missing lot costs use a 70% sales-value estimate. Forecast a">
            <a:extLst xmlns:a="http://schemas.openxmlformats.org/drawingml/2006/main">
              <a:ext uri="{FF2B5EF4-FFF2-40B4-BE49-F238E27FC236}">
                <a16:creationId xmlns:a16="http://schemas.microsoft.com/office/drawing/2014/main" id="{A7095A1C-40B8-4D35-A59F-1F61584DECD1}"/>
              </a:ext>
            </a:extLst>
          </p:cNvPr>
          <p:cNvSpPr>
            <a:spLocks xmlns:a="http://schemas.openxmlformats.org/drawingml/2006/main" noGrp="1"/>
          </p:cNvSpPr>
          <p:nvPr/>
        </p:nvSpPr>
        <p:spPr>
          <a:xfrm xmlns:a="http://schemas.openxmlformats.org/drawingml/2006/main">
            <a:off x="685800" y="7915275"/>
            <a:ext cx="13868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37089"/>
                </a:solidFill>
                <a:latin typeface="Arial"/>
                <a:ea typeface="Arial"/>
                <a:cs typeface="Arial"/>
              </a:defRPr>
            </a:defPPr>
          </a:lstStyle>
          <a:p xmlns:a="http://schemas.openxmlformats.org/drawingml/2006/main">
            <a:pPr algn="l">
              <a:defRPr sz="1425" b="0">
                <a:solidFill>
                  <a:srgbClr val="637089"/>
                </a:solidFill>
                <a:latin typeface="Arial"/>
                <a:ea typeface="Arial"/>
                <a:cs typeface="Arial"/>
              </a:defRPr>
            </a:pPr>
            <a:r>
              <a:rPr sz="1425" b="0">
                <a:solidFill>
                  <a:srgbClr val="637089"/>
                </a:solidFill>
                <a:latin typeface="Arial"/>
                <a:ea typeface="Arial"/>
                <a:cs typeface="Arial"/>
              </a:rPr>
              <a:t>Missing lot costs use a 70% sales-value estimate. Forecast accuracy reports held-out MAPE when available.</a:t>
            </a:r>
          </a:p>
        </p:txBody>
      </p:sp>
    </p:spTree>
    <p:extLst>
      <p:ext uri="{BB962C8B-B14F-4D97-AF65-F5344CB8AC3E}">
        <p14:creationId xmlns:p14="http://schemas.microsoft.com/office/powerpoint/2010/main" val="382524029"/>
      </p:ext>
    </p:extLst>
  </p:cSld>
</p:sld>
</file>

<file path=ppt/slides/slide12.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cxnSp>
        <p:nvCxnSpPr>
          <p:cNvPr id="25" name="">
            <a:extLst xmlns:a="http://schemas.openxmlformats.org/drawingml/2006/main">
              <a:ext uri="{FF2B5EF4-FFF2-40B4-BE49-F238E27FC236}">
                <a16:creationId xmlns:a16="http://schemas.microsoft.com/office/drawing/2014/main" id="{5D014759-43BD-4906-9FDE-EFE79544A57B}"/>
              </a:ext>
            </a:extLst>
          </p:cNvPr>
          <p:cNvCxnSpPr>
            <a:stCxn xmlns:a="http://schemas.openxmlformats.org/drawingml/2006/main" id="16" idx="3"/>
            <a:endCxn xmlns:a="http://schemas.openxmlformats.org/drawingml/2006/main" id="19" idx="1"/>
          </p:cNvCxnSpPr>
          <p:nvPr/>
        </p:nvCxnSpPr>
        <p:spPr>
          <a:xfrm xmlns:a="http://schemas.openxmlformats.org/drawingml/2006/main">
            <a:off x="9429750" y="6053138"/>
            <a:ext cx="1466850" cy="0"/>
          </a:xfrm>
          <a:prstGeom xmlns:a="http://schemas.openxmlformats.org/drawingml/2006/main" prst="straightConnector1">
            <a:avLst/>
          </a:prstGeom>
          <a:ln xmlns:a="http://schemas.openxmlformats.org/drawingml/2006/main" w="23813">
            <a:solidFill>
              <a:srgbClr val="2463EB"/>
            </a:solidFill>
            <a:prstDash val="solid"/>
            <a:tailEnd type="triangle" w="sm" len="sm"/>
          </a:ln>
        </p:spPr>
      </p:cxnSp>
      <p:cxnSp>
        <p:nvCxnSpPr>
          <p:cNvPr id="24" name="">
            <a:extLst xmlns:a="http://schemas.openxmlformats.org/drawingml/2006/main">
              <a:ext uri="{FF2B5EF4-FFF2-40B4-BE49-F238E27FC236}">
                <a16:creationId xmlns:a16="http://schemas.microsoft.com/office/drawing/2014/main" id="{C54348CF-BCB1-4C0C-AEFB-5F05FE9F3DDC}"/>
              </a:ext>
            </a:extLst>
          </p:cNvPr>
          <p:cNvCxnSpPr>
            <a:stCxn xmlns:a="http://schemas.openxmlformats.org/drawingml/2006/main" id="13" idx="3"/>
            <a:endCxn xmlns:a="http://schemas.openxmlformats.org/drawingml/2006/main" id="16" idx="1"/>
          </p:cNvCxnSpPr>
          <p:nvPr/>
        </p:nvCxnSpPr>
        <p:spPr>
          <a:xfrm xmlns:a="http://schemas.openxmlformats.org/drawingml/2006/main">
            <a:off x="4343400" y="6053138"/>
            <a:ext cx="1466850" cy="0"/>
          </a:xfrm>
          <a:prstGeom xmlns:a="http://schemas.openxmlformats.org/drawingml/2006/main" prst="straightConnector1">
            <a:avLst/>
          </a:prstGeom>
          <a:ln xmlns:a="http://schemas.openxmlformats.org/drawingml/2006/main" w="23813">
            <a:solidFill>
              <a:srgbClr val="2463EB"/>
            </a:solidFill>
            <a:prstDash val="solid"/>
            <a:tailEnd type="triangle" w="sm" len="sm"/>
          </a:ln>
        </p:spPr>
      </p:cxnSp>
      <p:cxnSp>
        <p:nvCxnSpPr>
          <p:cNvPr id="23" name="">
            <a:extLst xmlns:a="http://schemas.openxmlformats.org/drawingml/2006/main">
              <a:ext uri="{FF2B5EF4-FFF2-40B4-BE49-F238E27FC236}">
                <a16:creationId xmlns:a16="http://schemas.microsoft.com/office/drawing/2014/main" id="{C6F4CA4D-BC38-45D5-8D42-B3B98570DCC5}"/>
              </a:ext>
            </a:extLst>
          </p:cNvPr>
          <p:cNvCxnSpPr>
            <a:stCxn xmlns:a="http://schemas.openxmlformats.org/drawingml/2006/main" id="7" idx="3"/>
            <a:endCxn xmlns:a="http://schemas.openxmlformats.org/drawingml/2006/main" id="10" idx="1"/>
          </p:cNvCxnSpPr>
          <p:nvPr/>
        </p:nvCxnSpPr>
        <p:spPr>
          <a:xfrm xmlns:a="http://schemas.openxmlformats.org/drawingml/2006/main">
            <a:off x="9429750" y="3405188"/>
            <a:ext cx="1466850" cy="0"/>
          </a:xfrm>
          <a:prstGeom xmlns:a="http://schemas.openxmlformats.org/drawingml/2006/main" prst="straightConnector1">
            <a:avLst/>
          </a:prstGeom>
          <a:ln xmlns:a="http://schemas.openxmlformats.org/drawingml/2006/main" w="23813">
            <a:solidFill>
              <a:srgbClr val="2463EB"/>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0512AA65-51FE-4F37-BF98-887E92F428AD}"/>
              </a:ext>
            </a:extLst>
          </p:cNvPr>
          <p:cNvCxnSpPr>
            <a:stCxn xmlns:a="http://schemas.openxmlformats.org/drawingml/2006/main" id="4" idx="3"/>
            <a:endCxn xmlns:a="http://schemas.openxmlformats.org/drawingml/2006/main" id="7" idx="1"/>
          </p:cNvCxnSpPr>
          <p:nvPr/>
        </p:nvCxnSpPr>
        <p:spPr>
          <a:xfrm xmlns:a="http://schemas.openxmlformats.org/drawingml/2006/main">
            <a:off x="4343400" y="3405188"/>
            <a:ext cx="1466850" cy="0"/>
          </a:xfrm>
          <a:prstGeom xmlns:a="http://schemas.openxmlformats.org/drawingml/2006/main" prst="straightConnector1">
            <a:avLst/>
          </a:prstGeom>
          <a:ln xmlns:a="http://schemas.openxmlformats.org/drawingml/2006/main" w="23813">
            <a:solidFill>
              <a:srgbClr val="2463EB"/>
            </a:solidFill>
            <a:prstDash val="solid"/>
            <a:tailEnd type="triangle" w="sm" len="sm"/>
          </a:ln>
        </p:spPr>
      </p:cxnSp>
      <p:sp>
        <p:nvSpPr>
          <p:cNvPr id="32" name="BizWizard">
            <a:extLst xmlns:a="http://schemas.openxmlformats.org/drawingml/2006/main">
              <a:ext uri="{FF2B5EF4-FFF2-40B4-BE49-F238E27FC236}">
                <a16:creationId xmlns:a16="http://schemas.microsoft.com/office/drawing/2014/main" id="{45FB56BE-A33B-4597-BC86-B49A81D01EB9}"/>
              </a:ext>
            </a:extLst>
          </p:cNvPr>
          <p:cNvSpPr>
            <a:spLocks xmlns:a="http://schemas.openxmlformats.org/drawingml/2006/main" noGrp="1"/>
          </p:cNvSpPr>
          <p:nvPr/>
        </p:nvSpPr>
        <p:spPr>
          <a:xfrm xmlns:a="http://schemas.openxmlformats.org/drawingml/2006/main">
            <a:off x="685800" y="3238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01F3C"/>
                </a:solidFill>
                <a:latin typeface="Arial"/>
                <a:ea typeface="Arial"/>
                <a:cs typeface="Arial"/>
              </a:defRPr>
            </a:defPPr>
          </a:lstStyle>
          <a:p xmlns:a="http://schemas.openxmlformats.org/drawingml/2006/main">
            <a:pPr algn="l">
              <a:defRPr sz="1575" b="1">
                <a:solidFill>
                  <a:srgbClr val="101F3C"/>
                </a:solidFill>
                <a:latin typeface="Arial"/>
                <a:ea typeface="Arial"/>
                <a:cs typeface="Arial"/>
              </a:defRPr>
            </a:pPr>
            <a:r>
              <a:rPr sz="1575" b="1">
                <a:solidFill>
                  <a:srgbClr val="101F3C"/>
                </a:solidFill>
                <a:latin typeface="Arial"/>
                <a:ea typeface="Arial"/>
                <a:cs typeface="Arial"/>
              </a:rPr>
              <a:t>BizWizard</a:t>
            </a:r>
          </a:p>
        </p:txBody>
      </p:sp>
      <p:sp>
        <p:nvSpPr>
          <p:cNvPr id="2" name="12">
            <a:extLst xmlns:a="http://schemas.openxmlformats.org/drawingml/2006/main">
              <a:ext uri="{FF2B5EF4-FFF2-40B4-BE49-F238E27FC236}">
                <a16:creationId xmlns:a16="http://schemas.microsoft.com/office/drawing/2014/main" id="{BE15B737-2036-4BFE-9E71-12AA5C75D663}"/>
              </a:ext>
            </a:extLst>
          </p:cNvPr>
          <p:cNvSpPr>
            <a:spLocks xmlns:a="http://schemas.openxmlformats.org/drawingml/2006/main" noGrp="1"/>
          </p:cNvSpPr>
          <p:nvPr/>
        </p:nvSpPr>
        <p:spPr>
          <a:xfrm xmlns:a="http://schemas.openxmlformats.org/drawingml/2006/main">
            <a:off x="12573000" y="323850"/>
            <a:ext cx="198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37089"/>
                </a:solidFill>
                <a:latin typeface="Arial"/>
                <a:ea typeface="Arial"/>
                <a:cs typeface="Arial"/>
              </a:defRPr>
            </a:defPPr>
          </a:lstStyle>
          <a:p xmlns:a="http://schemas.openxmlformats.org/drawingml/2006/main">
            <a:pPr algn="r">
              <a:defRPr sz="1425" b="0">
                <a:solidFill>
                  <a:srgbClr val="637089"/>
                </a:solidFill>
                <a:latin typeface="Arial"/>
                <a:ea typeface="Arial"/>
                <a:cs typeface="Arial"/>
              </a:defRPr>
            </a:pPr>
            <a:r>
              <a:rPr sz="1425" b="0">
                <a:solidFill>
                  <a:srgbClr val="637089"/>
                </a:solidFill>
                <a:latin typeface="Arial"/>
                <a:ea typeface="Arial"/>
                <a:cs typeface="Arial"/>
              </a:rPr>
              <a:t>12</a:t>
            </a:r>
          </a:p>
        </p:txBody>
      </p:sp>
      <p:sp>
        <p:nvSpPr>
          <p:cNvPr id="3" name="Slide heading">
            <a:extLst xmlns:a="http://schemas.openxmlformats.org/drawingml/2006/main">
              <a:ext uri="{FF2B5EF4-FFF2-40B4-BE49-F238E27FC236}">
                <a16:creationId xmlns:a16="http://schemas.microsoft.com/office/drawing/2014/main" id="{DAE51919-BC45-44FE-B391-1C5E67012108}"/>
              </a:ext>
            </a:extLst>
          </p:cNvPr>
          <p:cNvSpPr>
            <a:spLocks xmlns:a="http://schemas.openxmlformats.org/drawingml/2006/main" noGrp="1"/>
          </p:cNvSpPr>
          <p:nvPr/>
        </p:nvSpPr>
        <p:spPr>
          <a:xfrm xmlns:a="http://schemas.openxmlformats.org/drawingml/2006/main">
            <a:off x="685800" y="1000125"/>
            <a:ext cx="138684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13243F"/>
                </a:solidFill>
                <a:latin typeface="Arial"/>
                <a:ea typeface="Arial"/>
                <a:cs typeface="Arial"/>
              </a:defRPr>
            </a:defPPr>
          </a:lstStyle>
          <a:p xmlns:a="http://schemas.openxmlformats.org/drawingml/2006/main">
            <a:pPr algn="l">
              <a:defRPr sz="4500" b="1">
                <a:solidFill>
                  <a:srgbClr val="13243F"/>
                </a:solidFill>
                <a:latin typeface="Arial"/>
                <a:ea typeface="Arial"/>
                <a:cs typeface="Arial"/>
              </a:defRPr>
            </a:pPr>
            <a:r>
              <a:rPr sz="4500" b="1">
                <a:solidFill>
                  <a:srgbClr val="13243F"/>
                </a:solidFill>
                <a:latin typeface="Arial"/>
                <a:ea typeface="Arial"/>
                <a:cs typeface="Arial"/>
              </a:rPr>
              <a:t>System architecture</a:t>
            </a:r>
          </a:p>
        </p:txBody>
      </p:sp>
      <p:sp>
        <p:nvSpPr>
          <p:cNvPr id="4" name="Next.js frontend">
            <a:extLst xmlns:a="http://schemas.openxmlformats.org/drawingml/2006/main">
              <a:ext uri="{FF2B5EF4-FFF2-40B4-BE49-F238E27FC236}">
                <a16:creationId xmlns:a16="http://schemas.microsoft.com/office/drawing/2014/main" id="{F9DFDE47-B6D9-42EC-8705-FFE2F0E2EE60}"/>
              </a:ext>
            </a:extLst>
          </p:cNvPr>
          <p:cNvSpPr>
            <a:spLocks xmlns:a="http://schemas.openxmlformats.org/drawingml/2006/main" noGrp="1"/>
          </p:cNvSpPr>
          <p:nvPr/>
        </p:nvSpPr>
        <p:spPr>
          <a:xfrm xmlns:a="http://schemas.openxmlformats.org/drawingml/2006/main">
            <a:off x="723900" y="2714625"/>
            <a:ext cx="3619500" cy="1381125"/>
          </a:xfrm>
          <a:prstGeom xmlns:a="http://schemas.openxmlformats.org/drawingml/2006/main" prst="rect">
            <a:avLst/>
          </a:prstGeom>
          <a:solidFill xmlns:a="http://schemas.openxmlformats.org/drawingml/2006/main">
            <a:srgbClr val="FFFFFF"/>
          </a:solidFill>
          <a:ln xmlns:a="http://schemas.openxmlformats.org/drawingml/2006/main" w="14288">
            <a:solidFill>
              <a:srgbClr val="D8E0ED"/>
            </a:solidFill>
          </a:ln>
        </p:spPr>
      </p:sp>
      <p:sp>
        <p:nvSpPr>
          <p:cNvPr id="5" name="Next.js frontend">
            <a:extLst xmlns:a="http://schemas.openxmlformats.org/drawingml/2006/main">
              <a:ext uri="{FF2B5EF4-FFF2-40B4-BE49-F238E27FC236}">
                <a16:creationId xmlns:a16="http://schemas.microsoft.com/office/drawing/2014/main" id="{A26582FB-0BD7-4E16-ABDF-8C2923480C3C}"/>
              </a:ext>
            </a:extLst>
          </p:cNvPr>
          <p:cNvSpPr>
            <a:spLocks xmlns:a="http://schemas.openxmlformats.org/drawingml/2006/main" noGrp="1"/>
          </p:cNvSpPr>
          <p:nvPr/>
        </p:nvSpPr>
        <p:spPr>
          <a:xfrm xmlns:a="http://schemas.openxmlformats.org/drawingml/2006/main">
            <a:off x="933450" y="2905125"/>
            <a:ext cx="320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3243F"/>
                </a:solidFill>
                <a:latin typeface="Arial"/>
                <a:ea typeface="Arial"/>
                <a:cs typeface="Arial"/>
              </a:defRPr>
            </a:defPPr>
          </a:lstStyle>
          <a:p xmlns:a="http://schemas.openxmlformats.org/drawingml/2006/main">
            <a:pPr algn="l">
              <a:defRPr sz="1950" b="1">
                <a:solidFill>
                  <a:srgbClr val="13243F"/>
                </a:solidFill>
                <a:latin typeface="Arial"/>
                <a:ea typeface="Arial"/>
                <a:cs typeface="Arial"/>
              </a:defRPr>
            </a:pPr>
            <a:r>
              <a:rPr sz="1950" b="1">
                <a:solidFill>
                  <a:srgbClr val="13243F"/>
                </a:solidFill>
                <a:latin typeface="Arial"/>
                <a:ea typeface="Arial"/>
                <a:cs typeface="Arial"/>
              </a:rPr>
              <a:t>Next.js frontend</a:t>
            </a:r>
          </a:p>
        </p:txBody>
      </p:sp>
      <p:sp>
        <p:nvSpPr>
          <p:cNvPr id="6" name="React / Tailwind Vercel deployment">
            <a:extLst xmlns:a="http://schemas.openxmlformats.org/drawingml/2006/main">
              <a:ext uri="{FF2B5EF4-FFF2-40B4-BE49-F238E27FC236}">
                <a16:creationId xmlns:a16="http://schemas.microsoft.com/office/drawing/2014/main" id="{E806C23A-44E3-4EC9-B91E-A46A1D913D86}"/>
              </a:ext>
            </a:extLst>
          </p:cNvPr>
          <p:cNvSpPr>
            <a:spLocks xmlns:a="http://schemas.openxmlformats.org/drawingml/2006/main" noGrp="1"/>
          </p:cNvSpPr>
          <p:nvPr/>
        </p:nvSpPr>
        <p:spPr>
          <a:xfrm xmlns:a="http://schemas.openxmlformats.org/drawingml/2006/main">
            <a:off x="933450" y="3533775"/>
            <a:ext cx="320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37089"/>
                </a:solidFill>
                <a:latin typeface="Arial"/>
                <a:ea typeface="Arial"/>
                <a:cs typeface="Arial"/>
              </a:defRPr>
            </a:defPPr>
          </a:lstStyle>
          <a:p xmlns:a="http://schemas.openxmlformats.org/drawingml/2006/main">
            <a:pPr algn="l">
              <a:defRPr sz="1650" b="0">
                <a:solidFill>
                  <a:srgbClr val="637089"/>
                </a:solidFill>
                <a:latin typeface="Arial"/>
                <a:ea typeface="Arial"/>
                <a:cs typeface="Arial"/>
              </a:defRPr>
            </a:pPr>
            <a:r>
              <a:rPr sz="1650" b="0">
                <a:solidFill>
                  <a:srgbClr val="637089"/>
                </a:solidFill>
                <a:latin typeface="Arial"/>
                <a:ea typeface="Arial"/>
                <a:cs typeface="Arial"/>
              </a:rPr>
              <a:t>React / Tailwind</a:t>
            </a:r>
          </a:p>
          <a:p xmlns:a="http://schemas.openxmlformats.org/drawingml/2006/main">
            <a:pPr algn="l">
              <a:defRPr sz="1650" b="0">
                <a:solidFill>
                  <a:srgbClr val="637089"/>
                </a:solidFill>
                <a:latin typeface="Arial"/>
                <a:ea typeface="Arial"/>
                <a:cs typeface="Arial"/>
              </a:defRPr>
            </a:pPr>
            <a:r>
              <a:rPr sz="1650" b="0">
                <a:solidFill>
                  <a:srgbClr val="637089"/>
                </a:solidFill>
                <a:latin typeface="Arial"/>
                <a:ea typeface="Arial"/>
                <a:cs typeface="Arial"/>
              </a:rPr>
              <a:t>Vercel deployment</a:t>
            </a:r>
          </a:p>
        </p:txBody>
      </p:sp>
      <p:sp>
        <p:nvSpPr>
          <p:cNvPr id="7" name="Express API">
            <a:extLst xmlns:a="http://schemas.openxmlformats.org/drawingml/2006/main">
              <a:ext uri="{FF2B5EF4-FFF2-40B4-BE49-F238E27FC236}">
                <a16:creationId xmlns:a16="http://schemas.microsoft.com/office/drawing/2014/main" id="{5941202D-12F0-443D-AEC5-E19D41F55BF9}"/>
              </a:ext>
            </a:extLst>
          </p:cNvPr>
          <p:cNvSpPr>
            <a:spLocks xmlns:a="http://schemas.openxmlformats.org/drawingml/2006/main" noGrp="1"/>
          </p:cNvSpPr>
          <p:nvPr/>
        </p:nvSpPr>
        <p:spPr>
          <a:xfrm xmlns:a="http://schemas.openxmlformats.org/drawingml/2006/main">
            <a:off x="5810250" y="2714625"/>
            <a:ext cx="3619500" cy="1381125"/>
          </a:xfrm>
          <a:prstGeom xmlns:a="http://schemas.openxmlformats.org/drawingml/2006/main" prst="rect">
            <a:avLst/>
          </a:prstGeom>
          <a:solidFill xmlns:a="http://schemas.openxmlformats.org/drawingml/2006/main">
            <a:srgbClr val="2463EB"/>
          </a:solidFill>
          <a:ln xmlns:a="http://schemas.openxmlformats.org/drawingml/2006/main" w="14288">
            <a:solidFill>
              <a:srgbClr val="D8E0ED"/>
            </a:solidFill>
          </a:ln>
        </p:spPr>
      </p:sp>
      <p:sp>
        <p:nvSpPr>
          <p:cNvPr id="8" name="Express API">
            <a:extLst xmlns:a="http://schemas.openxmlformats.org/drawingml/2006/main">
              <a:ext uri="{FF2B5EF4-FFF2-40B4-BE49-F238E27FC236}">
                <a16:creationId xmlns:a16="http://schemas.microsoft.com/office/drawing/2014/main" id="{190B2B10-BAFF-4F99-873E-335E0144E059}"/>
              </a:ext>
            </a:extLst>
          </p:cNvPr>
          <p:cNvSpPr>
            <a:spLocks xmlns:a="http://schemas.openxmlformats.org/drawingml/2006/main" noGrp="1"/>
          </p:cNvSpPr>
          <p:nvPr/>
        </p:nvSpPr>
        <p:spPr>
          <a:xfrm xmlns:a="http://schemas.openxmlformats.org/drawingml/2006/main">
            <a:off x="6019800" y="2905125"/>
            <a:ext cx="320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FFFFFF"/>
                </a:solidFill>
                <a:latin typeface="Arial"/>
                <a:ea typeface="Arial"/>
                <a:cs typeface="Arial"/>
              </a:defRPr>
            </a:defPPr>
          </a:lstStyle>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Express API</a:t>
            </a:r>
          </a:p>
        </p:txBody>
      </p:sp>
      <p:sp>
        <p:nvSpPr>
          <p:cNvPr id="9" name="JWT, roles and scope Request validation">
            <a:extLst xmlns:a="http://schemas.openxmlformats.org/drawingml/2006/main">
              <a:ext uri="{FF2B5EF4-FFF2-40B4-BE49-F238E27FC236}">
                <a16:creationId xmlns:a16="http://schemas.microsoft.com/office/drawing/2014/main" id="{3111ADDF-CF0E-4853-A707-D97D56E3D035}"/>
              </a:ext>
            </a:extLst>
          </p:cNvPr>
          <p:cNvSpPr>
            <a:spLocks xmlns:a="http://schemas.openxmlformats.org/drawingml/2006/main" noGrp="1"/>
          </p:cNvSpPr>
          <p:nvPr/>
        </p:nvSpPr>
        <p:spPr>
          <a:xfrm xmlns:a="http://schemas.openxmlformats.org/drawingml/2006/main">
            <a:off x="6019800" y="3533775"/>
            <a:ext cx="320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DCE6F7"/>
                </a:solidFill>
                <a:latin typeface="Arial"/>
                <a:ea typeface="Arial"/>
                <a:cs typeface="Arial"/>
              </a:defRPr>
            </a:defPPr>
          </a:lstStyle>
          <a:p xmlns:a="http://schemas.openxmlformats.org/drawingml/2006/main">
            <a:pPr algn="l">
              <a:defRPr sz="1650" b="0">
                <a:solidFill>
                  <a:srgbClr val="DCE6F7"/>
                </a:solidFill>
                <a:latin typeface="Arial"/>
                <a:ea typeface="Arial"/>
                <a:cs typeface="Arial"/>
              </a:defRPr>
            </a:pPr>
            <a:r>
              <a:rPr sz="1650" b="0">
                <a:solidFill>
                  <a:srgbClr val="DCE6F7"/>
                </a:solidFill>
                <a:latin typeface="Arial"/>
                <a:ea typeface="Arial"/>
                <a:cs typeface="Arial"/>
              </a:rPr>
              <a:t>JWT, roles and scope</a:t>
            </a:r>
          </a:p>
          <a:p xmlns:a="http://schemas.openxmlformats.org/drawingml/2006/main">
            <a:pPr algn="l">
              <a:defRPr sz="1650" b="0">
                <a:solidFill>
                  <a:srgbClr val="DCE6F7"/>
                </a:solidFill>
                <a:latin typeface="Arial"/>
                <a:ea typeface="Arial"/>
                <a:cs typeface="Arial"/>
              </a:defRPr>
            </a:pPr>
            <a:r>
              <a:rPr sz="1650" b="0">
                <a:solidFill>
                  <a:srgbClr val="DCE6F7"/>
                </a:solidFill>
                <a:latin typeface="Arial"/>
                <a:ea typeface="Arial"/>
                <a:cs typeface="Arial"/>
              </a:rPr>
              <a:t>Request validation</a:t>
            </a:r>
          </a:p>
        </p:txBody>
      </p:sp>
      <p:sp>
        <p:nvSpPr>
          <p:cNvPr id="10" name="PostgreSQL">
            <a:extLst xmlns:a="http://schemas.openxmlformats.org/drawingml/2006/main">
              <a:ext uri="{FF2B5EF4-FFF2-40B4-BE49-F238E27FC236}">
                <a16:creationId xmlns:a16="http://schemas.microsoft.com/office/drawing/2014/main" id="{28DE3453-4B3C-4357-B737-3BAC060717AC}"/>
              </a:ext>
            </a:extLst>
          </p:cNvPr>
          <p:cNvSpPr>
            <a:spLocks xmlns:a="http://schemas.openxmlformats.org/drawingml/2006/main" noGrp="1"/>
          </p:cNvSpPr>
          <p:nvPr/>
        </p:nvSpPr>
        <p:spPr>
          <a:xfrm xmlns:a="http://schemas.openxmlformats.org/drawingml/2006/main">
            <a:off x="10896600" y="2714625"/>
            <a:ext cx="3619500" cy="1381125"/>
          </a:xfrm>
          <a:prstGeom xmlns:a="http://schemas.openxmlformats.org/drawingml/2006/main" prst="rect">
            <a:avLst/>
          </a:prstGeom>
          <a:solidFill xmlns:a="http://schemas.openxmlformats.org/drawingml/2006/main">
            <a:srgbClr val="FFFFFF"/>
          </a:solidFill>
          <a:ln xmlns:a="http://schemas.openxmlformats.org/drawingml/2006/main" w="14288">
            <a:solidFill>
              <a:srgbClr val="D8E0ED"/>
            </a:solidFill>
          </a:ln>
        </p:spPr>
      </p:sp>
      <p:sp>
        <p:nvSpPr>
          <p:cNvPr id="11" name="PostgreSQL">
            <a:extLst xmlns:a="http://schemas.openxmlformats.org/drawingml/2006/main">
              <a:ext uri="{FF2B5EF4-FFF2-40B4-BE49-F238E27FC236}">
                <a16:creationId xmlns:a16="http://schemas.microsoft.com/office/drawing/2014/main" id="{128EE941-6A3F-44AB-944A-5EF91F3F78D9}"/>
              </a:ext>
            </a:extLst>
          </p:cNvPr>
          <p:cNvSpPr>
            <a:spLocks xmlns:a="http://schemas.openxmlformats.org/drawingml/2006/main" noGrp="1"/>
          </p:cNvSpPr>
          <p:nvPr/>
        </p:nvSpPr>
        <p:spPr>
          <a:xfrm xmlns:a="http://schemas.openxmlformats.org/drawingml/2006/main">
            <a:off x="11106150" y="2905125"/>
            <a:ext cx="320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3243F"/>
                </a:solidFill>
                <a:latin typeface="Arial"/>
                <a:ea typeface="Arial"/>
                <a:cs typeface="Arial"/>
              </a:defRPr>
            </a:defPPr>
          </a:lstStyle>
          <a:p xmlns:a="http://schemas.openxmlformats.org/drawingml/2006/main">
            <a:pPr algn="l">
              <a:defRPr sz="1950" b="1">
                <a:solidFill>
                  <a:srgbClr val="13243F"/>
                </a:solidFill>
                <a:latin typeface="Arial"/>
                <a:ea typeface="Arial"/>
                <a:cs typeface="Arial"/>
              </a:defRPr>
            </a:pPr>
            <a:r>
              <a:rPr sz="1950" b="1">
                <a:solidFill>
                  <a:srgbClr val="13243F"/>
                </a:solidFill>
                <a:latin typeface="Arial"/>
                <a:ea typeface="Arial"/>
                <a:cs typeface="Arial"/>
              </a:rPr>
              <a:t>PostgreSQL</a:t>
            </a:r>
          </a:p>
        </p:txBody>
      </p:sp>
      <p:sp>
        <p:nvSpPr>
          <p:cNvPr id="12" name="Prisma migrations Scoped business records">
            <a:extLst xmlns:a="http://schemas.openxmlformats.org/drawingml/2006/main">
              <a:ext uri="{FF2B5EF4-FFF2-40B4-BE49-F238E27FC236}">
                <a16:creationId xmlns:a16="http://schemas.microsoft.com/office/drawing/2014/main" id="{27CCAA46-D9BF-4984-B699-BE183505E481}"/>
              </a:ext>
            </a:extLst>
          </p:cNvPr>
          <p:cNvSpPr>
            <a:spLocks xmlns:a="http://schemas.openxmlformats.org/drawingml/2006/main" noGrp="1"/>
          </p:cNvSpPr>
          <p:nvPr/>
        </p:nvSpPr>
        <p:spPr>
          <a:xfrm xmlns:a="http://schemas.openxmlformats.org/drawingml/2006/main">
            <a:off x="11106150" y="3533775"/>
            <a:ext cx="320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37089"/>
                </a:solidFill>
                <a:latin typeface="Arial"/>
                <a:ea typeface="Arial"/>
                <a:cs typeface="Arial"/>
              </a:defRPr>
            </a:defPPr>
          </a:lstStyle>
          <a:p xmlns:a="http://schemas.openxmlformats.org/drawingml/2006/main">
            <a:pPr algn="l">
              <a:defRPr sz="1650" b="0">
                <a:solidFill>
                  <a:srgbClr val="637089"/>
                </a:solidFill>
                <a:latin typeface="Arial"/>
                <a:ea typeface="Arial"/>
                <a:cs typeface="Arial"/>
              </a:defRPr>
            </a:pPr>
            <a:r>
              <a:rPr sz="1650" b="0">
                <a:solidFill>
                  <a:srgbClr val="637089"/>
                </a:solidFill>
                <a:latin typeface="Arial"/>
                <a:ea typeface="Arial"/>
                <a:cs typeface="Arial"/>
              </a:rPr>
              <a:t>Prisma migrations</a:t>
            </a:r>
          </a:p>
          <a:p xmlns:a="http://schemas.openxmlformats.org/drawingml/2006/main">
            <a:pPr algn="l">
              <a:defRPr sz="1650" b="0">
                <a:solidFill>
                  <a:srgbClr val="637089"/>
                </a:solidFill>
                <a:latin typeface="Arial"/>
                <a:ea typeface="Arial"/>
                <a:cs typeface="Arial"/>
              </a:defRPr>
            </a:pPr>
            <a:r>
              <a:rPr sz="1650" b="0">
                <a:solidFill>
                  <a:srgbClr val="637089"/>
                </a:solidFill>
                <a:latin typeface="Arial"/>
                <a:ea typeface="Arial"/>
                <a:cs typeface="Arial"/>
              </a:rPr>
              <a:t>Scoped business records</a:t>
            </a:r>
          </a:p>
        </p:txBody>
      </p:sp>
      <p:sp>
        <p:nvSpPr>
          <p:cNvPr id="13" name="Finance engines">
            <a:extLst xmlns:a="http://schemas.openxmlformats.org/drawingml/2006/main">
              <a:ext uri="{FF2B5EF4-FFF2-40B4-BE49-F238E27FC236}">
                <a16:creationId xmlns:a16="http://schemas.microsoft.com/office/drawing/2014/main" id="{225601EE-41FF-44B7-9A44-08F24CB99751}"/>
              </a:ext>
            </a:extLst>
          </p:cNvPr>
          <p:cNvSpPr>
            <a:spLocks xmlns:a="http://schemas.openxmlformats.org/drawingml/2006/main" noGrp="1"/>
          </p:cNvSpPr>
          <p:nvPr/>
        </p:nvSpPr>
        <p:spPr>
          <a:xfrm xmlns:a="http://schemas.openxmlformats.org/drawingml/2006/main">
            <a:off x="723900" y="5362575"/>
            <a:ext cx="3619500" cy="1381125"/>
          </a:xfrm>
          <a:prstGeom xmlns:a="http://schemas.openxmlformats.org/drawingml/2006/main" prst="rect">
            <a:avLst/>
          </a:prstGeom>
          <a:solidFill xmlns:a="http://schemas.openxmlformats.org/drawingml/2006/main">
            <a:srgbClr val="FFFFFF"/>
          </a:solidFill>
          <a:ln xmlns:a="http://schemas.openxmlformats.org/drawingml/2006/main" w="14288">
            <a:solidFill>
              <a:srgbClr val="D8E0ED"/>
            </a:solidFill>
          </a:ln>
        </p:spPr>
      </p:sp>
      <p:sp>
        <p:nvSpPr>
          <p:cNvPr id="14" name="Finance engines">
            <a:extLst xmlns:a="http://schemas.openxmlformats.org/drawingml/2006/main">
              <a:ext uri="{FF2B5EF4-FFF2-40B4-BE49-F238E27FC236}">
                <a16:creationId xmlns:a16="http://schemas.microsoft.com/office/drawing/2014/main" id="{F492E826-8B0F-4060-A14F-426DFD8D1C2B}"/>
              </a:ext>
            </a:extLst>
          </p:cNvPr>
          <p:cNvSpPr>
            <a:spLocks xmlns:a="http://schemas.openxmlformats.org/drawingml/2006/main" noGrp="1"/>
          </p:cNvSpPr>
          <p:nvPr/>
        </p:nvSpPr>
        <p:spPr>
          <a:xfrm xmlns:a="http://schemas.openxmlformats.org/drawingml/2006/main">
            <a:off x="933450" y="5553075"/>
            <a:ext cx="320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3243F"/>
                </a:solidFill>
                <a:latin typeface="Arial"/>
                <a:ea typeface="Arial"/>
                <a:cs typeface="Arial"/>
              </a:defRPr>
            </a:defPPr>
          </a:lstStyle>
          <a:p xmlns:a="http://schemas.openxmlformats.org/drawingml/2006/main">
            <a:pPr algn="l">
              <a:defRPr sz="1950" b="1">
                <a:solidFill>
                  <a:srgbClr val="13243F"/>
                </a:solidFill>
                <a:latin typeface="Arial"/>
                <a:ea typeface="Arial"/>
                <a:cs typeface="Arial"/>
              </a:defRPr>
            </a:pPr>
            <a:r>
              <a:rPr sz="1950" b="1">
                <a:solidFill>
                  <a:srgbClr val="13243F"/>
                </a:solidFill>
                <a:latin typeface="Arial"/>
                <a:ea typeface="Arial"/>
                <a:cs typeface="Arial"/>
              </a:rPr>
              <a:t>Finance engines</a:t>
            </a:r>
          </a:p>
        </p:txBody>
      </p:sp>
      <p:sp>
        <p:nvSpPr>
          <p:cNvPr id="15" name="Calculations, forecasts and financial guards">
            <a:extLst xmlns:a="http://schemas.openxmlformats.org/drawingml/2006/main">
              <a:ext uri="{FF2B5EF4-FFF2-40B4-BE49-F238E27FC236}">
                <a16:creationId xmlns:a16="http://schemas.microsoft.com/office/drawing/2014/main" id="{456FF11C-0C97-4C0D-94E6-E864D11487D5}"/>
              </a:ext>
            </a:extLst>
          </p:cNvPr>
          <p:cNvSpPr>
            <a:spLocks xmlns:a="http://schemas.openxmlformats.org/drawingml/2006/main" noGrp="1"/>
          </p:cNvSpPr>
          <p:nvPr/>
        </p:nvSpPr>
        <p:spPr>
          <a:xfrm xmlns:a="http://schemas.openxmlformats.org/drawingml/2006/main">
            <a:off x="933450" y="6181725"/>
            <a:ext cx="320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37089"/>
                </a:solidFill>
                <a:latin typeface="Arial"/>
                <a:ea typeface="Arial"/>
                <a:cs typeface="Arial"/>
              </a:defRPr>
            </a:defPPr>
          </a:lstStyle>
          <a:p xmlns:a="http://schemas.openxmlformats.org/drawingml/2006/main">
            <a:pPr algn="l">
              <a:defRPr sz="1650" b="0">
                <a:solidFill>
                  <a:srgbClr val="637089"/>
                </a:solidFill>
                <a:latin typeface="Arial"/>
                <a:ea typeface="Arial"/>
                <a:cs typeface="Arial"/>
              </a:defRPr>
            </a:pPr>
            <a:r>
              <a:rPr sz="1650" b="0">
                <a:solidFill>
                  <a:srgbClr val="637089"/>
                </a:solidFill>
                <a:latin typeface="Arial"/>
                <a:ea typeface="Arial"/>
                <a:cs typeface="Arial"/>
              </a:rPr>
              <a:t>Calculations, forecasts</a:t>
            </a:r>
          </a:p>
          <a:p xmlns:a="http://schemas.openxmlformats.org/drawingml/2006/main">
            <a:pPr algn="l">
              <a:defRPr sz="1650" b="0">
                <a:solidFill>
                  <a:srgbClr val="637089"/>
                </a:solidFill>
                <a:latin typeface="Arial"/>
                <a:ea typeface="Arial"/>
                <a:cs typeface="Arial"/>
              </a:defRPr>
            </a:pPr>
            <a:r>
              <a:rPr sz="1650" b="0">
                <a:solidFill>
                  <a:srgbClr val="637089"/>
                </a:solidFill>
                <a:latin typeface="Arial"/>
                <a:ea typeface="Arial"/>
                <a:cs typeface="Arial"/>
              </a:rPr>
              <a:t>and financial guards</a:t>
            </a:r>
          </a:p>
        </p:txBody>
      </p:sp>
      <p:sp>
        <p:nvSpPr>
          <p:cNvPr id="16" name="AI runtime">
            <a:extLst xmlns:a="http://schemas.openxmlformats.org/drawingml/2006/main">
              <a:ext uri="{FF2B5EF4-FFF2-40B4-BE49-F238E27FC236}">
                <a16:creationId xmlns:a16="http://schemas.microsoft.com/office/drawing/2014/main" id="{C3EBCA97-5331-4F49-9DF8-8F34301B8DF2}"/>
              </a:ext>
            </a:extLst>
          </p:cNvPr>
          <p:cNvSpPr>
            <a:spLocks xmlns:a="http://schemas.openxmlformats.org/drawingml/2006/main" noGrp="1"/>
          </p:cNvSpPr>
          <p:nvPr/>
        </p:nvSpPr>
        <p:spPr>
          <a:xfrm xmlns:a="http://schemas.openxmlformats.org/drawingml/2006/main">
            <a:off x="5810250" y="5362575"/>
            <a:ext cx="3619500" cy="1381125"/>
          </a:xfrm>
          <a:prstGeom xmlns:a="http://schemas.openxmlformats.org/drawingml/2006/main" prst="rect">
            <a:avLst/>
          </a:prstGeom>
          <a:solidFill xmlns:a="http://schemas.openxmlformats.org/drawingml/2006/main">
            <a:srgbClr val="FFFFFF"/>
          </a:solidFill>
          <a:ln xmlns:a="http://schemas.openxmlformats.org/drawingml/2006/main" w="14288">
            <a:solidFill>
              <a:srgbClr val="D8E0ED"/>
            </a:solidFill>
          </a:ln>
        </p:spPr>
      </p:sp>
      <p:sp>
        <p:nvSpPr>
          <p:cNvPr id="17" name="AI runtime">
            <a:extLst xmlns:a="http://schemas.openxmlformats.org/drawingml/2006/main">
              <a:ext uri="{FF2B5EF4-FFF2-40B4-BE49-F238E27FC236}">
                <a16:creationId xmlns:a16="http://schemas.microsoft.com/office/drawing/2014/main" id="{E7EBC240-624F-4C96-8991-4E879F5A4E3F}"/>
              </a:ext>
            </a:extLst>
          </p:cNvPr>
          <p:cNvSpPr>
            <a:spLocks xmlns:a="http://schemas.openxmlformats.org/drawingml/2006/main" noGrp="1"/>
          </p:cNvSpPr>
          <p:nvPr/>
        </p:nvSpPr>
        <p:spPr>
          <a:xfrm xmlns:a="http://schemas.openxmlformats.org/drawingml/2006/main">
            <a:off x="6019800" y="5553075"/>
            <a:ext cx="320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3243F"/>
                </a:solidFill>
                <a:latin typeface="Arial"/>
                <a:ea typeface="Arial"/>
                <a:cs typeface="Arial"/>
              </a:defRPr>
            </a:defPPr>
          </a:lstStyle>
          <a:p xmlns:a="http://schemas.openxmlformats.org/drawingml/2006/main">
            <a:pPr algn="l">
              <a:defRPr sz="1950" b="1">
                <a:solidFill>
                  <a:srgbClr val="13243F"/>
                </a:solidFill>
                <a:latin typeface="Arial"/>
                <a:ea typeface="Arial"/>
                <a:cs typeface="Arial"/>
              </a:defRPr>
            </a:pPr>
            <a:r>
              <a:rPr sz="1950" b="1">
                <a:solidFill>
                  <a:srgbClr val="13243F"/>
                </a:solidFill>
                <a:latin typeface="Arial"/>
                <a:ea typeface="Arial"/>
                <a:cs typeface="Arial"/>
              </a:rPr>
              <a:t>AI runtime</a:t>
            </a:r>
          </a:p>
        </p:txBody>
      </p:sp>
      <p:sp>
        <p:nvSpPr>
          <p:cNvPr id="18" name="Structured JSON Budget and fallback">
            <a:extLst xmlns:a="http://schemas.openxmlformats.org/drawingml/2006/main">
              <a:ext uri="{FF2B5EF4-FFF2-40B4-BE49-F238E27FC236}">
                <a16:creationId xmlns:a16="http://schemas.microsoft.com/office/drawing/2014/main" id="{0F243C4B-6D66-444C-9C90-BB0FED53048B}"/>
              </a:ext>
            </a:extLst>
          </p:cNvPr>
          <p:cNvSpPr>
            <a:spLocks xmlns:a="http://schemas.openxmlformats.org/drawingml/2006/main" noGrp="1"/>
          </p:cNvSpPr>
          <p:nvPr/>
        </p:nvSpPr>
        <p:spPr>
          <a:xfrm xmlns:a="http://schemas.openxmlformats.org/drawingml/2006/main">
            <a:off x="6019800" y="6181725"/>
            <a:ext cx="320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37089"/>
                </a:solidFill>
                <a:latin typeface="Arial"/>
                <a:ea typeface="Arial"/>
                <a:cs typeface="Arial"/>
              </a:defRPr>
            </a:defPPr>
          </a:lstStyle>
          <a:p xmlns:a="http://schemas.openxmlformats.org/drawingml/2006/main">
            <a:pPr algn="l">
              <a:defRPr sz="1650" b="0">
                <a:solidFill>
                  <a:srgbClr val="637089"/>
                </a:solidFill>
                <a:latin typeface="Arial"/>
                <a:ea typeface="Arial"/>
                <a:cs typeface="Arial"/>
              </a:defRPr>
            </a:pPr>
            <a:r>
              <a:rPr sz="1650" b="0">
                <a:solidFill>
                  <a:srgbClr val="637089"/>
                </a:solidFill>
                <a:latin typeface="Arial"/>
                <a:ea typeface="Arial"/>
                <a:cs typeface="Arial"/>
              </a:rPr>
              <a:t>Structured JSON</a:t>
            </a:r>
          </a:p>
          <a:p xmlns:a="http://schemas.openxmlformats.org/drawingml/2006/main">
            <a:pPr algn="l">
              <a:defRPr sz="1650" b="0">
                <a:solidFill>
                  <a:srgbClr val="637089"/>
                </a:solidFill>
                <a:latin typeface="Arial"/>
                <a:ea typeface="Arial"/>
                <a:cs typeface="Arial"/>
              </a:defRPr>
            </a:pPr>
            <a:r>
              <a:rPr sz="1650" b="0">
                <a:solidFill>
                  <a:srgbClr val="637089"/>
                </a:solidFill>
                <a:latin typeface="Arial"/>
                <a:ea typeface="Arial"/>
                <a:cs typeface="Arial"/>
              </a:rPr>
              <a:t>Budget and fallback</a:t>
            </a:r>
          </a:p>
        </p:txBody>
      </p:sp>
      <p:sp>
        <p:nvSpPr>
          <p:cNvPr id="19" name="Optional OpenAI">
            <a:extLst xmlns:a="http://schemas.openxmlformats.org/drawingml/2006/main">
              <a:ext uri="{FF2B5EF4-FFF2-40B4-BE49-F238E27FC236}">
                <a16:creationId xmlns:a16="http://schemas.microsoft.com/office/drawing/2014/main" id="{58E87EFC-633A-4476-96A6-8C238B34121E}"/>
              </a:ext>
            </a:extLst>
          </p:cNvPr>
          <p:cNvSpPr>
            <a:spLocks xmlns:a="http://schemas.openxmlformats.org/drawingml/2006/main" noGrp="1"/>
          </p:cNvSpPr>
          <p:nvPr/>
        </p:nvSpPr>
        <p:spPr>
          <a:xfrm xmlns:a="http://schemas.openxmlformats.org/drawingml/2006/main">
            <a:off x="10896600" y="5362575"/>
            <a:ext cx="3619500" cy="1381125"/>
          </a:xfrm>
          <a:prstGeom xmlns:a="http://schemas.openxmlformats.org/drawingml/2006/main" prst="rect">
            <a:avLst/>
          </a:prstGeom>
          <a:solidFill xmlns:a="http://schemas.openxmlformats.org/drawingml/2006/main">
            <a:srgbClr val="FFFFFF"/>
          </a:solidFill>
          <a:ln xmlns:a="http://schemas.openxmlformats.org/drawingml/2006/main" w="14288">
            <a:solidFill>
              <a:srgbClr val="D8E0ED"/>
            </a:solidFill>
          </a:ln>
        </p:spPr>
      </p:sp>
      <p:sp>
        <p:nvSpPr>
          <p:cNvPr id="20" name="Optional OpenAI">
            <a:extLst xmlns:a="http://schemas.openxmlformats.org/drawingml/2006/main">
              <a:ext uri="{FF2B5EF4-FFF2-40B4-BE49-F238E27FC236}">
                <a16:creationId xmlns:a16="http://schemas.microsoft.com/office/drawing/2014/main" id="{6791381A-6273-4029-BB28-111B4156D161}"/>
              </a:ext>
            </a:extLst>
          </p:cNvPr>
          <p:cNvSpPr>
            <a:spLocks xmlns:a="http://schemas.openxmlformats.org/drawingml/2006/main" noGrp="1"/>
          </p:cNvSpPr>
          <p:nvPr/>
        </p:nvSpPr>
        <p:spPr>
          <a:xfrm xmlns:a="http://schemas.openxmlformats.org/drawingml/2006/main">
            <a:off x="11106150" y="5553075"/>
            <a:ext cx="320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3243F"/>
                </a:solidFill>
                <a:latin typeface="Arial"/>
                <a:ea typeface="Arial"/>
                <a:cs typeface="Arial"/>
              </a:defRPr>
            </a:defPPr>
          </a:lstStyle>
          <a:p xmlns:a="http://schemas.openxmlformats.org/drawingml/2006/main">
            <a:pPr algn="l">
              <a:defRPr sz="1950" b="1">
                <a:solidFill>
                  <a:srgbClr val="13243F"/>
                </a:solidFill>
                <a:latin typeface="Arial"/>
                <a:ea typeface="Arial"/>
                <a:cs typeface="Arial"/>
              </a:defRPr>
            </a:pPr>
            <a:r>
              <a:rPr sz="1950" b="1">
                <a:solidFill>
                  <a:srgbClr val="13243F"/>
                </a:solidFill>
                <a:latin typeface="Arial"/>
                <a:ea typeface="Arial"/>
                <a:cs typeface="Arial"/>
              </a:rPr>
              <a:t>Optional OpenAI</a:t>
            </a:r>
          </a:p>
        </p:txBody>
      </p:sp>
      <p:sp>
        <p:nvSpPr>
          <p:cNvPr id="21" name="Select or explain constrained options">
            <a:extLst xmlns:a="http://schemas.openxmlformats.org/drawingml/2006/main">
              <a:ext uri="{FF2B5EF4-FFF2-40B4-BE49-F238E27FC236}">
                <a16:creationId xmlns:a16="http://schemas.microsoft.com/office/drawing/2014/main" id="{09683DF3-54CC-4F0F-B448-446AD009E78C}"/>
              </a:ext>
            </a:extLst>
          </p:cNvPr>
          <p:cNvSpPr>
            <a:spLocks xmlns:a="http://schemas.openxmlformats.org/drawingml/2006/main" noGrp="1"/>
          </p:cNvSpPr>
          <p:nvPr/>
        </p:nvSpPr>
        <p:spPr>
          <a:xfrm xmlns:a="http://schemas.openxmlformats.org/drawingml/2006/main">
            <a:off x="11106150" y="6181725"/>
            <a:ext cx="320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37089"/>
                </a:solidFill>
                <a:latin typeface="Arial"/>
                <a:ea typeface="Arial"/>
                <a:cs typeface="Arial"/>
              </a:defRPr>
            </a:defPPr>
          </a:lstStyle>
          <a:p xmlns:a="http://schemas.openxmlformats.org/drawingml/2006/main">
            <a:pPr algn="l">
              <a:defRPr sz="1650" b="0">
                <a:solidFill>
                  <a:srgbClr val="637089"/>
                </a:solidFill>
                <a:latin typeface="Arial"/>
                <a:ea typeface="Arial"/>
                <a:cs typeface="Arial"/>
              </a:defRPr>
            </a:pPr>
            <a:r>
              <a:rPr sz="1650" b="0">
                <a:solidFill>
                  <a:srgbClr val="637089"/>
                </a:solidFill>
                <a:latin typeface="Arial"/>
                <a:ea typeface="Arial"/>
                <a:cs typeface="Arial"/>
              </a:rPr>
              <a:t>Select or explain</a:t>
            </a:r>
          </a:p>
          <a:p xmlns:a="http://schemas.openxmlformats.org/drawingml/2006/main">
            <a:pPr algn="l">
              <a:defRPr sz="1650" b="0">
                <a:solidFill>
                  <a:srgbClr val="637089"/>
                </a:solidFill>
                <a:latin typeface="Arial"/>
                <a:ea typeface="Arial"/>
                <a:cs typeface="Arial"/>
              </a:defRPr>
            </a:pPr>
            <a:r>
              <a:rPr sz="1650" b="0">
                <a:solidFill>
                  <a:srgbClr val="637089"/>
                </a:solidFill>
                <a:latin typeface="Arial"/>
                <a:ea typeface="Arial"/>
                <a:cs typeface="Arial"/>
              </a:rPr>
              <a:t>constrained options</a:t>
            </a:r>
          </a:p>
        </p:txBody>
      </p:sp>
      <p:cxnSp>
        <p:nvCxnSpPr>
          <p:cNvPr id="26" name="API to finance engines">
            <a:extLst xmlns:a="http://schemas.openxmlformats.org/drawingml/2006/main">
              <a:ext uri="{FF2B5EF4-FFF2-40B4-BE49-F238E27FC236}">
                <a16:creationId xmlns:a16="http://schemas.microsoft.com/office/drawing/2014/main" id="{6114B6BD-4602-4167-AB82-9E62294A3363}"/>
              </a:ext>
            </a:extLst>
          </p:cNvPr>
          <p:cNvCxnSpPr/>
          <p:nvPr/>
        </p:nvCxnSpPr>
        <p:spPr>
          <a:xfrm xmlns:a="http://schemas.openxmlformats.org/drawingml/2006/main">
            <a:off x="7620000" y="4095750"/>
            <a:ext cx="0" cy="762000"/>
          </a:xfrm>
          <a:prstGeom xmlns:a="http://schemas.openxmlformats.org/drawingml/2006/main" prst="straightConnector1">
            <a:avLst/>
          </a:prstGeom>
          <a:ln xmlns:a="http://schemas.openxmlformats.org/drawingml/2006/main" w="23813">
            <a:solidFill>
              <a:srgbClr val="2463EB"/>
            </a:solidFill>
          </a:ln>
        </p:spPr>
      </p:cxnSp>
      <p:cxnSp>
        <p:nvCxnSpPr>
          <p:cNvPr id="27" name="API to finance engines">
            <a:extLst xmlns:a="http://schemas.openxmlformats.org/drawingml/2006/main">
              <a:ext uri="{FF2B5EF4-FFF2-40B4-BE49-F238E27FC236}">
                <a16:creationId xmlns:a16="http://schemas.microsoft.com/office/drawing/2014/main" id="{D44BFB8E-BA22-43C4-A072-BC7B4F1F5B14}"/>
              </a:ext>
            </a:extLst>
          </p:cNvPr>
          <p:cNvCxnSpPr/>
          <p:nvPr/>
        </p:nvCxnSpPr>
        <p:spPr>
          <a:xfrm xmlns:a="http://schemas.openxmlformats.org/drawingml/2006/main">
            <a:off x="2533650" y="4857750"/>
            <a:ext cx="5086350" cy="0"/>
          </a:xfrm>
          <a:prstGeom xmlns:a="http://schemas.openxmlformats.org/drawingml/2006/main" prst="straightConnector1">
            <a:avLst/>
          </a:prstGeom>
          <a:ln xmlns:a="http://schemas.openxmlformats.org/drawingml/2006/main" w="23813">
            <a:solidFill>
              <a:srgbClr val="2463EB"/>
            </a:solidFill>
          </a:ln>
        </p:spPr>
      </p:cxnSp>
      <p:cxnSp>
        <p:nvCxnSpPr>
          <p:cNvPr id="28" name="API to finance engines">
            <a:extLst xmlns:a="http://schemas.openxmlformats.org/drawingml/2006/main">
              <a:ext uri="{FF2B5EF4-FFF2-40B4-BE49-F238E27FC236}">
                <a16:creationId xmlns:a16="http://schemas.microsoft.com/office/drawing/2014/main" id="{C1BE415F-E533-46B7-A5D2-0A8B04E475F3}"/>
              </a:ext>
            </a:extLst>
          </p:cNvPr>
          <p:cNvCxnSpPr/>
          <p:nvPr/>
        </p:nvCxnSpPr>
        <p:spPr>
          <a:xfrm xmlns:a="http://schemas.openxmlformats.org/drawingml/2006/main">
            <a:off x="2533650" y="4857750"/>
            <a:ext cx="0" cy="504825"/>
          </a:xfrm>
          <a:prstGeom xmlns:a="http://schemas.openxmlformats.org/drawingml/2006/main" prst="straightConnector1">
            <a:avLst/>
          </a:prstGeom>
          <a:ln xmlns:a="http://schemas.openxmlformats.org/drawingml/2006/main" w="23813">
            <a:solidFill>
              <a:srgbClr val="2463EB"/>
            </a:solidFill>
            <a:tailEnd type="triangle" w="sm" len="sm"/>
          </a:ln>
        </p:spPr>
      </p:cxnSp>
      <p:sp>
        <p:nvSpPr>
          <p:cNvPr id="29" name="Same-origin API proxy">
            <a:extLst xmlns:a="http://schemas.openxmlformats.org/drawingml/2006/main">
              <a:ext uri="{FF2B5EF4-FFF2-40B4-BE49-F238E27FC236}">
                <a16:creationId xmlns:a16="http://schemas.microsoft.com/office/drawing/2014/main" id="{37C68F8C-864E-403F-A77D-30039B345CDC}"/>
              </a:ext>
            </a:extLst>
          </p:cNvPr>
          <p:cNvSpPr>
            <a:spLocks xmlns:a="http://schemas.openxmlformats.org/drawingml/2006/main" noGrp="1"/>
          </p:cNvSpPr>
          <p:nvPr/>
        </p:nvSpPr>
        <p:spPr>
          <a:xfrm xmlns:a="http://schemas.openxmlformats.org/drawingml/2006/main">
            <a:off x="733425" y="4324350"/>
            <a:ext cx="428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37089"/>
                </a:solidFill>
                <a:latin typeface="Arial"/>
                <a:ea typeface="Arial"/>
                <a:cs typeface="Arial"/>
              </a:defRPr>
            </a:defPPr>
          </a:lstStyle>
          <a:p xmlns:a="http://schemas.openxmlformats.org/drawingml/2006/main">
            <a:pPr algn="l">
              <a:defRPr sz="1650" b="0">
                <a:solidFill>
                  <a:srgbClr val="637089"/>
                </a:solidFill>
                <a:latin typeface="Arial"/>
                <a:ea typeface="Arial"/>
                <a:cs typeface="Arial"/>
              </a:defRPr>
            </a:pPr>
            <a:r>
              <a:rPr sz="1650" b="0">
                <a:solidFill>
                  <a:srgbClr val="637089"/>
                </a:solidFill>
                <a:latin typeface="Arial"/>
                <a:ea typeface="Arial"/>
                <a:cs typeface="Arial"/>
              </a:rPr>
              <a:t>Same-origin API proxy</a:t>
            </a:r>
          </a:p>
        </p:txBody>
      </p:sp>
      <p:sp>
        <p:nvSpPr>
          <p:cNvPr id="30" name="Backend authorization">
            <a:extLst xmlns:a="http://schemas.openxmlformats.org/drawingml/2006/main">
              <a:ext uri="{FF2B5EF4-FFF2-40B4-BE49-F238E27FC236}">
                <a16:creationId xmlns:a16="http://schemas.microsoft.com/office/drawing/2014/main" id="{6B57F9ED-2184-4DDF-A066-4C44645666C5}"/>
              </a:ext>
            </a:extLst>
          </p:cNvPr>
          <p:cNvSpPr>
            <a:spLocks xmlns:a="http://schemas.openxmlformats.org/drawingml/2006/main" noGrp="1"/>
          </p:cNvSpPr>
          <p:nvPr/>
        </p:nvSpPr>
        <p:spPr>
          <a:xfrm xmlns:a="http://schemas.openxmlformats.org/drawingml/2006/main">
            <a:off x="10382250" y="4324350"/>
            <a:ext cx="4133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463EB"/>
                </a:solidFill>
                <a:latin typeface="Arial"/>
                <a:ea typeface="Arial"/>
                <a:cs typeface="Arial"/>
              </a:defRPr>
            </a:defPPr>
          </a:lstStyle>
          <a:p xmlns:a="http://schemas.openxmlformats.org/drawingml/2006/main">
            <a:pPr algn="l">
              <a:defRPr sz="1650" b="0">
                <a:solidFill>
                  <a:srgbClr val="2463EB"/>
                </a:solidFill>
                <a:latin typeface="Arial"/>
                <a:ea typeface="Arial"/>
                <a:cs typeface="Arial"/>
              </a:defRPr>
            </a:pPr>
            <a:r>
              <a:rPr sz="1650" b="0">
                <a:solidFill>
                  <a:srgbClr val="2463EB"/>
                </a:solidFill>
                <a:latin typeface="Arial"/>
                <a:ea typeface="Arial"/>
                <a:cs typeface="Arial"/>
              </a:rPr>
              <a:t>Backend authorization</a:t>
            </a:r>
          </a:p>
        </p:txBody>
      </p:sp>
      <p:sp>
        <p:nvSpPr>
          <p:cNvPr id="31" name="Browser, application, database and external AI form separate">
            <a:extLst xmlns:a="http://schemas.openxmlformats.org/drawingml/2006/main">
              <a:ext uri="{FF2B5EF4-FFF2-40B4-BE49-F238E27FC236}">
                <a16:creationId xmlns:a16="http://schemas.microsoft.com/office/drawing/2014/main" id="{545C16E5-AADC-4028-B44D-533C9158869F}"/>
              </a:ext>
            </a:extLst>
          </p:cNvPr>
          <p:cNvSpPr>
            <a:spLocks xmlns:a="http://schemas.openxmlformats.org/drawingml/2006/main" noGrp="1"/>
          </p:cNvSpPr>
          <p:nvPr/>
        </p:nvSpPr>
        <p:spPr>
          <a:xfrm xmlns:a="http://schemas.openxmlformats.org/drawingml/2006/main">
            <a:off x="685800" y="7915275"/>
            <a:ext cx="13868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37089"/>
                </a:solidFill>
                <a:latin typeface="Arial"/>
                <a:ea typeface="Arial"/>
                <a:cs typeface="Arial"/>
              </a:defRPr>
            </a:defPPr>
          </a:lstStyle>
          <a:p xmlns:a="http://schemas.openxmlformats.org/drawingml/2006/main">
            <a:pPr algn="l">
              <a:defRPr sz="1425" b="0">
                <a:solidFill>
                  <a:srgbClr val="637089"/>
                </a:solidFill>
                <a:latin typeface="Arial"/>
                <a:ea typeface="Arial"/>
                <a:cs typeface="Arial"/>
              </a:defRPr>
            </a:pPr>
            <a:r>
              <a:rPr sz="1425" b="0">
                <a:solidFill>
                  <a:srgbClr val="637089"/>
                </a:solidFill>
                <a:latin typeface="Arial"/>
                <a:ea typeface="Arial"/>
                <a:cs typeface="Arial"/>
              </a:rPr>
              <a:t>Browser, application, database and external AI form separate trust boundaries.</a:t>
            </a:r>
          </a:p>
        </p:txBody>
      </p:sp>
    </p:spTree>
    <p:extLst>
      <p:ext uri="{BB962C8B-B14F-4D97-AF65-F5344CB8AC3E}">
        <p14:creationId xmlns:p14="http://schemas.microsoft.com/office/powerpoint/2010/main" val="1941209040"/>
      </p:ext>
    </p:extLst>
  </p:cSld>
</p:sld>
</file>

<file path=ppt/slides/slide13.xml><?xml version="1.0" encoding="utf-8"?>
<p:sld xmlns:p="http://schemas.openxmlformats.org/presentationml/2006/main">
  <p:cSld>
    <p:bg>
      <p:bgPr>
        <a:solidFill xmlns:a="http://schemas.openxmlformats.org/drawingml/2006/main">
          <a:srgbClr val="101F3C"/>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B515C253-E98C-4A89-A0C5-0A050987546F}"/>
              </a:ext>
            </a:extLst>
          </p:cNvPr>
          <p:cNvCxnSpPr>
            <a:stCxn xmlns:a="http://schemas.openxmlformats.org/drawingml/2006/main" id="15" idx="3"/>
            <a:endCxn xmlns:a="http://schemas.openxmlformats.org/drawingml/2006/main" id="18" idx="1"/>
          </p:cNvCxnSpPr>
          <p:nvPr/>
        </p:nvCxnSpPr>
        <p:spPr>
          <a:xfrm xmlns:a="http://schemas.openxmlformats.org/drawingml/2006/main">
            <a:off x="9105900" y="5991225"/>
            <a:ext cx="390525" cy="0"/>
          </a:xfrm>
          <a:prstGeom xmlns:a="http://schemas.openxmlformats.org/drawingml/2006/main" prst="straightConnector1">
            <a:avLst/>
          </a:prstGeom>
          <a:ln xmlns:a="http://schemas.openxmlformats.org/drawingml/2006/main" w="23813">
            <a:solidFill>
              <a:srgbClr val="7FA5FF"/>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6334D03D-CA7A-4880-B59A-936959743966}"/>
              </a:ext>
            </a:extLst>
          </p:cNvPr>
          <p:cNvCxnSpPr>
            <a:stCxn xmlns:a="http://schemas.openxmlformats.org/drawingml/2006/main" id="12" idx="3"/>
            <a:endCxn xmlns:a="http://schemas.openxmlformats.org/drawingml/2006/main" id="15" idx="1"/>
          </p:cNvCxnSpPr>
          <p:nvPr/>
        </p:nvCxnSpPr>
        <p:spPr>
          <a:xfrm xmlns:a="http://schemas.openxmlformats.org/drawingml/2006/main">
            <a:off x="6181725" y="5991225"/>
            <a:ext cx="390525" cy="0"/>
          </a:xfrm>
          <a:prstGeom xmlns:a="http://schemas.openxmlformats.org/drawingml/2006/main" prst="straightConnector1">
            <a:avLst/>
          </a:prstGeom>
          <a:ln xmlns:a="http://schemas.openxmlformats.org/drawingml/2006/main" w="23813">
            <a:solidFill>
              <a:srgbClr val="7FA5FF"/>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FDD32FEC-E2BD-4C44-AE7F-1FBF85BE417C}"/>
              </a:ext>
            </a:extLst>
          </p:cNvPr>
          <p:cNvCxnSpPr>
            <a:stCxn xmlns:a="http://schemas.openxmlformats.org/drawingml/2006/main" id="9" idx="3"/>
            <a:endCxn xmlns:a="http://schemas.openxmlformats.org/drawingml/2006/main" id="12" idx="1"/>
          </p:cNvCxnSpPr>
          <p:nvPr/>
        </p:nvCxnSpPr>
        <p:spPr>
          <a:xfrm xmlns:a="http://schemas.openxmlformats.org/drawingml/2006/main">
            <a:off x="3257550" y="5991225"/>
            <a:ext cx="390525" cy="0"/>
          </a:xfrm>
          <a:prstGeom xmlns:a="http://schemas.openxmlformats.org/drawingml/2006/main" prst="straightConnector1">
            <a:avLst/>
          </a:prstGeom>
          <a:ln xmlns:a="http://schemas.openxmlformats.org/drawingml/2006/main" w="23813">
            <a:solidFill>
              <a:srgbClr val="7FA5FF"/>
            </a:solidFill>
            <a:prstDash val="solid"/>
            <a:tailEnd type="triangle" w="sm" len="sm"/>
          </a:ln>
        </p:spPr>
      </p:cxnSp>
      <p:sp>
        <p:nvSpPr>
          <p:cNvPr id="25" name="BizWizard">
            <a:extLst xmlns:a="http://schemas.openxmlformats.org/drawingml/2006/main">
              <a:ext uri="{FF2B5EF4-FFF2-40B4-BE49-F238E27FC236}">
                <a16:creationId xmlns:a16="http://schemas.microsoft.com/office/drawing/2014/main" id="{D1BCDBB4-4F99-4E7C-89A9-884D88344B87}"/>
              </a:ext>
            </a:extLst>
          </p:cNvPr>
          <p:cNvSpPr>
            <a:spLocks xmlns:a="http://schemas.openxmlformats.org/drawingml/2006/main" noGrp="1"/>
          </p:cNvSpPr>
          <p:nvPr/>
        </p:nvSpPr>
        <p:spPr>
          <a:xfrm xmlns:a="http://schemas.openxmlformats.org/drawingml/2006/main">
            <a:off x="685800" y="3238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FFFFFF"/>
                </a:solidFill>
                <a:latin typeface="Arial"/>
                <a:ea typeface="Arial"/>
                <a:cs typeface="Arial"/>
              </a:defRPr>
            </a:defPPr>
          </a:lstStyle>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BizWizard</a:t>
            </a:r>
          </a:p>
        </p:txBody>
      </p:sp>
      <p:sp>
        <p:nvSpPr>
          <p:cNvPr id="2" name="13">
            <a:extLst xmlns:a="http://schemas.openxmlformats.org/drawingml/2006/main">
              <a:ext uri="{FF2B5EF4-FFF2-40B4-BE49-F238E27FC236}">
                <a16:creationId xmlns:a16="http://schemas.microsoft.com/office/drawing/2014/main" id="{3DCD4E99-6B2E-480E-BD36-5EB6778D3CB9}"/>
              </a:ext>
            </a:extLst>
          </p:cNvPr>
          <p:cNvSpPr>
            <a:spLocks xmlns:a="http://schemas.openxmlformats.org/drawingml/2006/main" noGrp="1"/>
          </p:cNvSpPr>
          <p:nvPr/>
        </p:nvSpPr>
        <p:spPr>
          <a:xfrm xmlns:a="http://schemas.openxmlformats.org/drawingml/2006/main">
            <a:off x="12573000" y="323850"/>
            <a:ext cx="198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ADBBD2"/>
                </a:solidFill>
                <a:latin typeface="Arial"/>
                <a:ea typeface="Arial"/>
                <a:cs typeface="Arial"/>
              </a:defRPr>
            </a:defPPr>
          </a:lstStyle>
          <a:p xmlns:a="http://schemas.openxmlformats.org/drawingml/2006/main">
            <a:pPr algn="r">
              <a:defRPr sz="1425" b="0">
                <a:solidFill>
                  <a:srgbClr val="ADBBD2"/>
                </a:solidFill>
                <a:latin typeface="Arial"/>
                <a:ea typeface="Arial"/>
                <a:cs typeface="Arial"/>
              </a:defRPr>
            </a:pPr>
            <a:r>
              <a:rPr sz="1425" b="0">
                <a:solidFill>
                  <a:srgbClr val="ADBBD2"/>
                </a:solidFill>
                <a:latin typeface="Arial"/>
                <a:ea typeface="Arial"/>
                <a:cs typeface="Arial"/>
              </a:rPr>
              <a:t>13</a:t>
            </a:r>
          </a:p>
        </p:txBody>
      </p:sp>
      <p:sp>
        <p:nvSpPr>
          <p:cNvPr id="3" name="Slide heading">
            <a:extLst xmlns:a="http://schemas.openxmlformats.org/drawingml/2006/main">
              <a:ext uri="{FF2B5EF4-FFF2-40B4-BE49-F238E27FC236}">
                <a16:creationId xmlns:a16="http://schemas.microsoft.com/office/drawing/2014/main" id="{A162A200-AA38-49E8-B919-82F9E1B210B9}"/>
              </a:ext>
            </a:extLst>
          </p:cNvPr>
          <p:cNvSpPr>
            <a:spLocks xmlns:a="http://schemas.openxmlformats.org/drawingml/2006/main" noGrp="1"/>
          </p:cNvSpPr>
          <p:nvPr/>
        </p:nvSpPr>
        <p:spPr>
          <a:xfrm xmlns:a="http://schemas.openxmlformats.org/drawingml/2006/main">
            <a:off x="685800" y="1000125"/>
            <a:ext cx="138684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FFFFFF"/>
                </a:solidFill>
                <a:latin typeface="Arial"/>
                <a:ea typeface="Arial"/>
                <a:cs typeface="Arial"/>
              </a:defRPr>
            </a:defPPr>
          </a:lstStyle>
          <a:p xmlns:a="http://schemas.openxmlformats.org/drawingml/2006/main">
            <a:pPr algn="l">
              <a:defRPr sz="4500" b="1">
                <a:solidFill>
                  <a:srgbClr val="FFFFFF"/>
                </a:solidFill>
                <a:latin typeface="Arial"/>
                <a:ea typeface="Arial"/>
                <a:cs typeface="Arial"/>
              </a:defRPr>
            </a:pPr>
            <a:r>
              <a:rPr sz="4500" b="1">
                <a:solidFill>
                  <a:srgbClr val="FFFFFF"/>
                </a:solidFill>
                <a:latin typeface="Arial"/>
                <a:ea typeface="Arial"/>
                <a:cs typeface="Arial"/>
              </a:rPr>
              <a:t>Where AI participates</a:t>
            </a:r>
          </a:p>
        </p:txBody>
      </p:sp>
      <p:sp>
        <p:nvSpPr>
          <p:cNvPr id="4" name="Four agent roles">
            <a:extLst xmlns:a="http://schemas.openxmlformats.org/drawingml/2006/main">
              <a:ext uri="{FF2B5EF4-FFF2-40B4-BE49-F238E27FC236}">
                <a16:creationId xmlns:a16="http://schemas.microsoft.com/office/drawing/2014/main" id="{5ECE6E62-A13D-4996-B9F1-D8B018C9DFC2}"/>
              </a:ext>
            </a:extLst>
          </p:cNvPr>
          <p:cNvSpPr>
            <a:spLocks xmlns:a="http://schemas.openxmlformats.org/drawingml/2006/main" noGrp="1"/>
          </p:cNvSpPr>
          <p:nvPr/>
        </p:nvSpPr>
        <p:spPr>
          <a:xfrm xmlns:a="http://schemas.openxmlformats.org/drawingml/2006/main">
            <a:off x="723900" y="2533650"/>
            <a:ext cx="666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FFFFF"/>
                </a:solidFill>
                <a:latin typeface="Arial"/>
                <a:ea typeface="Arial"/>
                <a:cs typeface="Arial"/>
              </a:defRPr>
            </a:defPPr>
          </a:lstStyle>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Four agent roles</a:t>
            </a:r>
          </a:p>
        </p:txBody>
      </p:sp>
      <p:sp>
        <p:nvSpPr>
          <p:cNvPr id="5" name="Lender, borrower, treasurer and analyst. Optional AI support">
            <a:extLst xmlns:a="http://schemas.openxmlformats.org/drawingml/2006/main">
              <a:ext uri="{FF2B5EF4-FFF2-40B4-BE49-F238E27FC236}">
                <a16:creationId xmlns:a16="http://schemas.microsoft.com/office/drawing/2014/main" id="{E42CEA88-B93C-4E3E-B604-9264367A91F9}"/>
              </a:ext>
            </a:extLst>
          </p:cNvPr>
          <p:cNvSpPr>
            <a:spLocks xmlns:a="http://schemas.openxmlformats.org/drawingml/2006/main" noGrp="1"/>
          </p:cNvSpPr>
          <p:nvPr/>
        </p:nvSpPr>
        <p:spPr>
          <a:xfrm xmlns:a="http://schemas.openxmlformats.org/drawingml/2006/main">
            <a:off x="723900" y="3228975"/>
            <a:ext cx="66770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ADBBD2"/>
                </a:solidFill>
                <a:latin typeface="Arial"/>
                <a:ea typeface="Arial"/>
                <a:cs typeface="Arial"/>
              </a:defRPr>
            </a:defPPr>
          </a:lstStyle>
          <a:p xmlns:a="http://schemas.openxmlformats.org/drawingml/2006/main">
            <a:pPr algn="l">
              <a:defRPr sz="2175" b="0">
                <a:solidFill>
                  <a:srgbClr val="ADBBD2"/>
                </a:solidFill>
                <a:latin typeface="Arial"/>
                <a:ea typeface="Arial"/>
                <a:cs typeface="Arial"/>
              </a:defRPr>
            </a:pPr>
            <a:r>
              <a:rPr sz="2175" b="0">
                <a:solidFill>
                  <a:srgbClr val="ADBBD2"/>
                </a:solidFill>
                <a:latin typeface="Arial"/>
                <a:ea typeface="Arial"/>
                <a:cs typeface="Arial"/>
              </a:rPr>
              <a:t>Lender, borrower, treasurer and analyst.</a:t>
            </a:r>
          </a:p>
          <a:p xmlns:a="http://schemas.openxmlformats.org/drawingml/2006/main">
            <a:pPr algn="l">
              <a:defRPr sz="2175" b="0">
                <a:solidFill>
                  <a:srgbClr val="ADBBD2"/>
                </a:solidFill>
                <a:latin typeface="Arial"/>
                <a:ea typeface="Arial"/>
                <a:cs typeface="Arial"/>
              </a:defRPr>
            </a:pPr>
            <a:r>
              <a:rPr sz="2175" b="0">
                <a:solidFill>
                  <a:srgbClr val="ADBBD2"/>
                </a:solidFill>
                <a:latin typeface="Arial"/>
                <a:ea typeface="Arial"/>
                <a:cs typeface="Arial"/>
              </a:rPr>
              <a:t>Optional AI supports ranking, explanations</a:t>
            </a:r>
          </a:p>
          <a:p xmlns:a="http://schemas.openxmlformats.org/drawingml/2006/main">
            <a:pPr algn="l">
              <a:defRPr sz="2175" b="0">
                <a:solidFill>
                  <a:srgbClr val="ADBBD2"/>
                </a:solidFill>
                <a:latin typeface="Arial"/>
                <a:ea typeface="Arial"/>
                <a:cs typeface="Arial"/>
              </a:defRPr>
            </a:pPr>
            <a:r>
              <a:rPr sz="2175" b="0">
                <a:solidFill>
                  <a:srgbClr val="ADBBD2"/>
                </a:solidFill>
                <a:latin typeface="Arial"/>
                <a:ea typeface="Arial"/>
                <a:cs typeface="Arial"/>
              </a:rPr>
              <a:t>and matched evaluation choices.</a:t>
            </a:r>
          </a:p>
        </p:txBody>
      </p:sp>
      <p:sp>
        <p:nvSpPr>
          <p:cNvPr id="6" name="Code keeps the financial contract">
            <a:extLst xmlns:a="http://schemas.openxmlformats.org/drawingml/2006/main">
              <a:ext uri="{FF2B5EF4-FFF2-40B4-BE49-F238E27FC236}">
                <a16:creationId xmlns:a16="http://schemas.microsoft.com/office/drawing/2014/main" id="{2C0697D4-ED56-4F4E-9D9B-14F573F7827A}"/>
              </a:ext>
            </a:extLst>
          </p:cNvPr>
          <p:cNvSpPr>
            <a:spLocks xmlns:a="http://schemas.openxmlformats.org/drawingml/2006/main" noGrp="1"/>
          </p:cNvSpPr>
          <p:nvPr/>
        </p:nvSpPr>
        <p:spPr>
          <a:xfrm xmlns:a="http://schemas.openxmlformats.org/drawingml/2006/main">
            <a:off x="8143875" y="2533650"/>
            <a:ext cx="64103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FFFFF"/>
                </a:solidFill>
                <a:latin typeface="Arial"/>
                <a:ea typeface="Arial"/>
                <a:cs typeface="Arial"/>
              </a:defRPr>
            </a:defPPr>
          </a:lstStyle>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Code keeps the financial contract</a:t>
            </a:r>
          </a:p>
        </p:txBody>
      </p:sp>
      <p:sp>
        <p:nvSpPr>
          <p:cNvPr id="7" name="Eligibility, pricing, negotiation policies, repayment math a">
            <a:extLst xmlns:a="http://schemas.openxmlformats.org/drawingml/2006/main">
              <a:ext uri="{FF2B5EF4-FFF2-40B4-BE49-F238E27FC236}">
                <a16:creationId xmlns:a16="http://schemas.microsoft.com/office/drawing/2014/main" id="{5404CA5A-F035-49B8-BBEE-5847D95D6C2D}"/>
              </a:ext>
            </a:extLst>
          </p:cNvPr>
          <p:cNvSpPr>
            <a:spLocks xmlns:a="http://schemas.openxmlformats.org/drawingml/2006/main" noGrp="1"/>
          </p:cNvSpPr>
          <p:nvPr/>
        </p:nvSpPr>
        <p:spPr>
          <a:xfrm xmlns:a="http://schemas.openxmlformats.org/drawingml/2006/main">
            <a:off x="8143875" y="3228975"/>
            <a:ext cx="64103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ADBBD2"/>
                </a:solidFill>
                <a:latin typeface="Arial"/>
                <a:ea typeface="Arial"/>
                <a:cs typeface="Arial"/>
              </a:defRPr>
            </a:defPPr>
          </a:lstStyle>
          <a:p xmlns:a="http://schemas.openxmlformats.org/drawingml/2006/main">
            <a:pPr algn="l">
              <a:defRPr sz="2325" b="0">
                <a:solidFill>
                  <a:srgbClr val="ADBBD2"/>
                </a:solidFill>
                <a:latin typeface="Arial"/>
                <a:ea typeface="Arial"/>
                <a:cs typeface="Arial"/>
              </a:defRPr>
            </a:pPr>
            <a:r>
              <a:rPr sz="2325" b="0">
                <a:solidFill>
                  <a:srgbClr val="ADBBD2"/>
                </a:solidFill>
                <a:latin typeface="Arial"/>
                <a:ea typeface="Arial"/>
                <a:cs typeface="Arial"/>
              </a:rPr>
              <a:t>Eligibility, pricing, negotiation policies,</a:t>
            </a:r>
          </a:p>
          <a:p xmlns:a="http://schemas.openxmlformats.org/drawingml/2006/main">
            <a:pPr algn="l">
              <a:defRPr sz="2325" b="0">
                <a:solidFill>
                  <a:srgbClr val="ADBBD2"/>
                </a:solidFill>
                <a:latin typeface="Arial"/>
                <a:ea typeface="Arial"/>
                <a:cs typeface="Arial"/>
              </a:defRPr>
            </a:pPr>
            <a:r>
              <a:rPr sz="2325" b="0">
                <a:solidFill>
                  <a:srgbClr val="ADBBD2"/>
                </a:solidFill>
                <a:latin typeface="Arial"/>
                <a:ea typeface="Arial"/>
                <a:cs typeface="Arial"/>
              </a:rPr>
              <a:t>repayment math and outcome calculations.</a:t>
            </a:r>
          </a:p>
        </p:txBody>
      </p:sp>
      <p:sp>
        <p:nvSpPr>
          <p:cNvPr id="8" name="$2 / tenant / month default budget 6s fast / 12s reasoning d">
            <a:extLst xmlns:a="http://schemas.openxmlformats.org/drawingml/2006/main">
              <a:ext uri="{FF2B5EF4-FFF2-40B4-BE49-F238E27FC236}">
                <a16:creationId xmlns:a16="http://schemas.microsoft.com/office/drawing/2014/main" id="{19E8012A-BA7B-4544-AA87-7909FC9B0788}"/>
              </a:ext>
            </a:extLst>
          </p:cNvPr>
          <p:cNvSpPr>
            <a:spLocks xmlns:a="http://schemas.openxmlformats.org/drawingml/2006/main" noGrp="1"/>
          </p:cNvSpPr>
          <p:nvPr/>
        </p:nvSpPr>
        <p:spPr>
          <a:xfrm xmlns:a="http://schemas.openxmlformats.org/drawingml/2006/main">
            <a:off x="723900" y="4543425"/>
            <a:ext cx="13792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94B6FF"/>
                </a:solidFill>
                <a:latin typeface="Arial"/>
                <a:ea typeface="Arial"/>
                <a:cs typeface="Arial"/>
              </a:defRPr>
            </a:defPPr>
          </a:lstStyle>
          <a:p xmlns:a="http://schemas.openxmlformats.org/drawingml/2006/main">
            <a:pPr algn="l">
              <a:defRPr sz="2175" b="1">
                <a:solidFill>
                  <a:srgbClr val="94B6FF"/>
                </a:solidFill>
                <a:latin typeface="Arial"/>
                <a:ea typeface="Arial"/>
                <a:cs typeface="Arial"/>
              </a:defRPr>
            </a:pPr>
            <a:r>
              <a:rPr sz="2175" b="1">
                <a:solidFill>
                  <a:srgbClr val="94B6FF"/>
                </a:solidFill>
                <a:latin typeface="Arial"/>
                <a:ea typeface="Arial"/>
                <a:cs typeface="Arial"/>
              </a:rPr>
              <a:t>$2 / tenant / month default budget     6s fast / 12s reasoning deadline</a:t>
            </a:r>
          </a:p>
        </p:txBody>
      </p:sp>
      <p:sp>
        <p:nvSpPr>
          <p:cNvPr id="9" name="Scoped inputs">
            <a:extLst xmlns:a="http://schemas.openxmlformats.org/drawingml/2006/main">
              <a:ext uri="{FF2B5EF4-FFF2-40B4-BE49-F238E27FC236}">
                <a16:creationId xmlns:a16="http://schemas.microsoft.com/office/drawing/2014/main" id="{B8CB4BFD-54D5-401A-BD98-268BB50F5395}"/>
              </a:ext>
            </a:extLst>
          </p:cNvPr>
          <p:cNvSpPr>
            <a:spLocks xmlns:a="http://schemas.openxmlformats.org/drawingml/2006/main" noGrp="1"/>
          </p:cNvSpPr>
          <p:nvPr/>
        </p:nvSpPr>
        <p:spPr>
          <a:xfrm xmlns:a="http://schemas.openxmlformats.org/drawingml/2006/main">
            <a:off x="723900" y="5295900"/>
            <a:ext cx="2533650" cy="1390650"/>
          </a:xfrm>
          <a:prstGeom xmlns:a="http://schemas.openxmlformats.org/drawingml/2006/main" prst="rect">
            <a:avLst/>
          </a:prstGeom>
          <a:solidFill xmlns:a="http://schemas.openxmlformats.org/drawingml/2006/main">
            <a:srgbClr val="1C3154"/>
          </a:solidFill>
          <a:ln xmlns:a="http://schemas.openxmlformats.org/drawingml/2006/main" w="14288">
            <a:solidFill>
              <a:srgbClr val="415779"/>
            </a:solidFill>
          </a:ln>
        </p:spPr>
      </p:sp>
      <p:sp>
        <p:nvSpPr>
          <p:cNvPr id="10" name="Scoped inputs">
            <a:extLst xmlns:a="http://schemas.openxmlformats.org/drawingml/2006/main">
              <a:ext uri="{FF2B5EF4-FFF2-40B4-BE49-F238E27FC236}">
                <a16:creationId xmlns:a16="http://schemas.microsoft.com/office/drawing/2014/main" id="{98CADBC5-C100-4BD2-AEB1-27E0F8CB62D8}"/>
              </a:ext>
            </a:extLst>
          </p:cNvPr>
          <p:cNvSpPr>
            <a:spLocks xmlns:a="http://schemas.openxmlformats.org/drawingml/2006/main" noGrp="1"/>
          </p:cNvSpPr>
          <p:nvPr/>
        </p:nvSpPr>
        <p:spPr>
          <a:xfrm xmlns:a="http://schemas.openxmlformats.org/drawingml/2006/main">
            <a:off x="933450" y="5486400"/>
            <a:ext cx="2114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FFFFFF"/>
                </a:solidFill>
                <a:latin typeface="Arial"/>
                <a:ea typeface="Arial"/>
                <a:cs typeface="Arial"/>
              </a:defRPr>
            </a:defPPr>
          </a:lstStyle>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Scoped inputs</a:t>
            </a:r>
          </a:p>
        </p:txBody>
      </p:sp>
      <p:sp>
        <p:nvSpPr>
          <p:cNvPr id="11" name="Only the relevant shop">
            <a:extLst xmlns:a="http://schemas.openxmlformats.org/drawingml/2006/main">
              <a:ext uri="{FF2B5EF4-FFF2-40B4-BE49-F238E27FC236}">
                <a16:creationId xmlns:a16="http://schemas.microsoft.com/office/drawing/2014/main" id="{EBAD5BB2-DC69-4913-875E-631E18E19EBF}"/>
              </a:ext>
            </a:extLst>
          </p:cNvPr>
          <p:cNvSpPr>
            <a:spLocks xmlns:a="http://schemas.openxmlformats.org/drawingml/2006/main" noGrp="1"/>
          </p:cNvSpPr>
          <p:nvPr/>
        </p:nvSpPr>
        <p:spPr>
          <a:xfrm xmlns:a="http://schemas.openxmlformats.org/drawingml/2006/main">
            <a:off x="933450" y="6115050"/>
            <a:ext cx="2114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DCE6F7"/>
                </a:solidFill>
                <a:latin typeface="Arial"/>
                <a:ea typeface="Arial"/>
                <a:cs typeface="Arial"/>
              </a:defRPr>
            </a:defPPr>
          </a:lstStyle>
          <a:p xmlns:a="http://schemas.openxmlformats.org/drawingml/2006/main">
            <a:pPr algn="l">
              <a:defRPr sz="1650" b="0">
                <a:solidFill>
                  <a:srgbClr val="DCE6F7"/>
                </a:solidFill>
                <a:latin typeface="Arial"/>
                <a:ea typeface="Arial"/>
                <a:cs typeface="Arial"/>
              </a:defRPr>
            </a:pPr>
            <a:r>
              <a:rPr sz="1650" b="0">
                <a:solidFill>
                  <a:srgbClr val="DCE6F7"/>
                </a:solidFill>
                <a:latin typeface="Arial"/>
                <a:ea typeface="Arial"/>
                <a:cs typeface="Arial"/>
              </a:rPr>
              <a:t>Only the relevant shop</a:t>
            </a:r>
          </a:p>
        </p:txBody>
      </p:sp>
      <p:sp>
        <p:nvSpPr>
          <p:cNvPr id="12" name="JSON choice">
            <a:extLst xmlns:a="http://schemas.openxmlformats.org/drawingml/2006/main">
              <a:ext uri="{FF2B5EF4-FFF2-40B4-BE49-F238E27FC236}">
                <a16:creationId xmlns:a16="http://schemas.microsoft.com/office/drawing/2014/main" id="{2B5022AC-0C4A-4677-B699-203C785AA98E}"/>
              </a:ext>
            </a:extLst>
          </p:cNvPr>
          <p:cNvSpPr>
            <a:spLocks xmlns:a="http://schemas.openxmlformats.org/drawingml/2006/main" noGrp="1"/>
          </p:cNvSpPr>
          <p:nvPr/>
        </p:nvSpPr>
        <p:spPr>
          <a:xfrm xmlns:a="http://schemas.openxmlformats.org/drawingml/2006/main">
            <a:off x="3648075" y="5295900"/>
            <a:ext cx="2533650" cy="1390650"/>
          </a:xfrm>
          <a:prstGeom xmlns:a="http://schemas.openxmlformats.org/drawingml/2006/main" prst="rect">
            <a:avLst/>
          </a:prstGeom>
          <a:solidFill xmlns:a="http://schemas.openxmlformats.org/drawingml/2006/main">
            <a:srgbClr val="1C3154"/>
          </a:solidFill>
          <a:ln xmlns:a="http://schemas.openxmlformats.org/drawingml/2006/main" w="14288">
            <a:solidFill>
              <a:srgbClr val="415779"/>
            </a:solidFill>
          </a:ln>
        </p:spPr>
      </p:sp>
      <p:sp>
        <p:nvSpPr>
          <p:cNvPr id="13" name="JSON choice">
            <a:extLst xmlns:a="http://schemas.openxmlformats.org/drawingml/2006/main">
              <a:ext uri="{FF2B5EF4-FFF2-40B4-BE49-F238E27FC236}">
                <a16:creationId xmlns:a16="http://schemas.microsoft.com/office/drawing/2014/main" id="{8CEBEBD9-E8F8-430D-A875-2FCC1948B79F}"/>
              </a:ext>
            </a:extLst>
          </p:cNvPr>
          <p:cNvSpPr>
            <a:spLocks xmlns:a="http://schemas.openxmlformats.org/drawingml/2006/main" noGrp="1"/>
          </p:cNvSpPr>
          <p:nvPr/>
        </p:nvSpPr>
        <p:spPr>
          <a:xfrm xmlns:a="http://schemas.openxmlformats.org/drawingml/2006/main">
            <a:off x="3857625" y="5486400"/>
            <a:ext cx="2114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FFFFFF"/>
                </a:solidFill>
                <a:latin typeface="Arial"/>
                <a:ea typeface="Arial"/>
                <a:cs typeface="Arial"/>
              </a:defRPr>
            </a:defPPr>
          </a:lstStyle>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JSON choice</a:t>
            </a:r>
          </a:p>
        </p:txBody>
      </p:sp>
      <p:sp>
        <p:nvSpPr>
          <p:cNvPr id="14" name="Schema and allowed IDs">
            <a:extLst xmlns:a="http://schemas.openxmlformats.org/drawingml/2006/main">
              <a:ext uri="{FF2B5EF4-FFF2-40B4-BE49-F238E27FC236}">
                <a16:creationId xmlns:a16="http://schemas.microsoft.com/office/drawing/2014/main" id="{C487FDB8-EA61-4C7E-A310-477E972A649C}"/>
              </a:ext>
            </a:extLst>
          </p:cNvPr>
          <p:cNvSpPr>
            <a:spLocks xmlns:a="http://schemas.openxmlformats.org/drawingml/2006/main" noGrp="1"/>
          </p:cNvSpPr>
          <p:nvPr/>
        </p:nvSpPr>
        <p:spPr>
          <a:xfrm xmlns:a="http://schemas.openxmlformats.org/drawingml/2006/main">
            <a:off x="3857625" y="6115050"/>
            <a:ext cx="2114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DCE6F7"/>
                </a:solidFill>
                <a:latin typeface="Arial"/>
                <a:ea typeface="Arial"/>
                <a:cs typeface="Arial"/>
              </a:defRPr>
            </a:defPPr>
          </a:lstStyle>
          <a:p xmlns:a="http://schemas.openxmlformats.org/drawingml/2006/main">
            <a:pPr algn="l">
              <a:defRPr sz="1650" b="0">
                <a:solidFill>
                  <a:srgbClr val="DCE6F7"/>
                </a:solidFill>
                <a:latin typeface="Arial"/>
                <a:ea typeface="Arial"/>
                <a:cs typeface="Arial"/>
              </a:defRPr>
            </a:pPr>
            <a:r>
              <a:rPr sz="1650" b="0">
                <a:solidFill>
                  <a:srgbClr val="DCE6F7"/>
                </a:solidFill>
                <a:latin typeface="Arial"/>
                <a:ea typeface="Arial"/>
                <a:cs typeface="Arial"/>
              </a:rPr>
              <a:t>Schema and allowed IDs</a:t>
            </a:r>
          </a:p>
        </p:txBody>
      </p:sp>
      <p:sp>
        <p:nvSpPr>
          <p:cNvPr id="15" name="Guards">
            <a:extLst xmlns:a="http://schemas.openxmlformats.org/drawingml/2006/main">
              <a:ext uri="{FF2B5EF4-FFF2-40B4-BE49-F238E27FC236}">
                <a16:creationId xmlns:a16="http://schemas.microsoft.com/office/drawing/2014/main" id="{ABD56C40-8F60-454A-B95D-E1E2723700FC}"/>
              </a:ext>
            </a:extLst>
          </p:cNvPr>
          <p:cNvSpPr>
            <a:spLocks xmlns:a="http://schemas.openxmlformats.org/drawingml/2006/main" noGrp="1"/>
          </p:cNvSpPr>
          <p:nvPr/>
        </p:nvSpPr>
        <p:spPr>
          <a:xfrm xmlns:a="http://schemas.openxmlformats.org/drawingml/2006/main">
            <a:off x="6572250" y="5295900"/>
            <a:ext cx="2533650" cy="1390650"/>
          </a:xfrm>
          <a:prstGeom xmlns:a="http://schemas.openxmlformats.org/drawingml/2006/main" prst="rect">
            <a:avLst/>
          </a:prstGeom>
          <a:solidFill xmlns:a="http://schemas.openxmlformats.org/drawingml/2006/main">
            <a:srgbClr val="1C3154"/>
          </a:solidFill>
          <a:ln xmlns:a="http://schemas.openxmlformats.org/drawingml/2006/main" w="14288">
            <a:solidFill>
              <a:srgbClr val="415779"/>
            </a:solidFill>
          </a:ln>
        </p:spPr>
      </p:sp>
      <p:sp>
        <p:nvSpPr>
          <p:cNvPr id="16" name="Guards">
            <a:extLst xmlns:a="http://schemas.openxmlformats.org/drawingml/2006/main">
              <a:ext uri="{FF2B5EF4-FFF2-40B4-BE49-F238E27FC236}">
                <a16:creationId xmlns:a16="http://schemas.microsoft.com/office/drawing/2014/main" id="{156F8165-DE90-4CF2-8FCA-24701DFE16BF}"/>
              </a:ext>
            </a:extLst>
          </p:cNvPr>
          <p:cNvSpPr>
            <a:spLocks xmlns:a="http://schemas.openxmlformats.org/drawingml/2006/main" noGrp="1"/>
          </p:cNvSpPr>
          <p:nvPr/>
        </p:nvSpPr>
        <p:spPr>
          <a:xfrm xmlns:a="http://schemas.openxmlformats.org/drawingml/2006/main">
            <a:off x="6781800" y="5486400"/>
            <a:ext cx="2114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FFFFFF"/>
                </a:solidFill>
                <a:latin typeface="Arial"/>
                <a:ea typeface="Arial"/>
                <a:cs typeface="Arial"/>
              </a:defRPr>
            </a:defPPr>
          </a:lstStyle>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Guards</a:t>
            </a:r>
          </a:p>
        </p:txBody>
      </p:sp>
      <p:sp>
        <p:nvSpPr>
          <p:cNvPr id="17" name="Independent code checks">
            <a:extLst xmlns:a="http://schemas.openxmlformats.org/drawingml/2006/main">
              <a:ext uri="{FF2B5EF4-FFF2-40B4-BE49-F238E27FC236}">
                <a16:creationId xmlns:a16="http://schemas.microsoft.com/office/drawing/2014/main" id="{ACCA8DC9-56DC-4233-8A6A-488A14079D87}"/>
              </a:ext>
            </a:extLst>
          </p:cNvPr>
          <p:cNvSpPr>
            <a:spLocks xmlns:a="http://schemas.openxmlformats.org/drawingml/2006/main" noGrp="1"/>
          </p:cNvSpPr>
          <p:nvPr/>
        </p:nvSpPr>
        <p:spPr>
          <a:xfrm xmlns:a="http://schemas.openxmlformats.org/drawingml/2006/main">
            <a:off x="6781800" y="6115050"/>
            <a:ext cx="2114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DCE6F7"/>
                </a:solidFill>
                <a:latin typeface="Arial"/>
                <a:ea typeface="Arial"/>
                <a:cs typeface="Arial"/>
              </a:defRPr>
            </a:defPPr>
          </a:lstStyle>
          <a:p xmlns:a="http://schemas.openxmlformats.org/drawingml/2006/main">
            <a:pPr algn="l">
              <a:defRPr sz="1650" b="0">
                <a:solidFill>
                  <a:srgbClr val="DCE6F7"/>
                </a:solidFill>
                <a:latin typeface="Arial"/>
                <a:ea typeface="Arial"/>
                <a:cs typeface="Arial"/>
              </a:defRPr>
            </a:pPr>
            <a:r>
              <a:rPr sz="1650" b="0">
                <a:solidFill>
                  <a:srgbClr val="DCE6F7"/>
                </a:solidFill>
                <a:latin typeface="Arial"/>
                <a:ea typeface="Arial"/>
                <a:cs typeface="Arial"/>
              </a:rPr>
              <a:t>Independent code checks</a:t>
            </a:r>
          </a:p>
        </p:txBody>
      </p:sp>
      <p:sp>
        <p:nvSpPr>
          <p:cNvPr id="18" name="Decision or fallback">
            <a:extLst xmlns:a="http://schemas.openxmlformats.org/drawingml/2006/main">
              <a:ext uri="{FF2B5EF4-FFF2-40B4-BE49-F238E27FC236}">
                <a16:creationId xmlns:a16="http://schemas.microsoft.com/office/drawing/2014/main" id="{165FE842-56B0-4667-823B-D4756D58BB19}"/>
              </a:ext>
            </a:extLst>
          </p:cNvPr>
          <p:cNvSpPr>
            <a:spLocks xmlns:a="http://schemas.openxmlformats.org/drawingml/2006/main" noGrp="1"/>
          </p:cNvSpPr>
          <p:nvPr/>
        </p:nvSpPr>
        <p:spPr>
          <a:xfrm xmlns:a="http://schemas.openxmlformats.org/drawingml/2006/main">
            <a:off x="9496425" y="5295900"/>
            <a:ext cx="4105275" cy="1390650"/>
          </a:xfrm>
          <a:prstGeom xmlns:a="http://schemas.openxmlformats.org/drawingml/2006/main" prst="rect">
            <a:avLst/>
          </a:prstGeom>
          <a:solidFill xmlns:a="http://schemas.openxmlformats.org/drawingml/2006/main">
            <a:srgbClr val="2463EB"/>
          </a:solidFill>
          <a:ln xmlns:a="http://schemas.openxmlformats.org/drawingml/2006/main" w="14288">
            <a:solidFill>
              <a:srgbClr val="415779"/>
            </a:solidFill>
          </a:ln>
        </p:spPr>
      </p:sp>
      <p:sp>
        <p:nvSpPr>
          <p:cNvPr id="19" name="Decision or fallback">
            <a:extLst xmlns:a="http://schemas.openxmlformats.org/drawingml/2006/main">
              <a:ext uri="{FF2B5EF4-FFF2-40B4-BE49-F238E27FC236}">
                <a16:creationId xmlns:a16="http://schemas.microsoft.com/office/drawing/2014/main" id="{EC9E1F40-B0A4-43C2-A5B3-C9C37E968B08}"/>
              </a:ext>
            </a:extLst>
          </p:cNvPr>
          <p:cNvSpPr>
            <a:spLocks xmlns:a="http://schemas.openxmlformats.org/drawingml/2006/main" noGrp="1"/>
          </p:cNvSpPr>
          <p:nvPr/>
        </p:nvSpPr>
        <p:spPr>
          <a:xfrm xmlns:a="http://schemas.openxmlformats.org/drawingml/2006/main">
            <a:off x="9705975" y="5486400"/>
            <a:ext cx="36861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FFFFFF"/>
                </a:solidFill>
                <a:latin typeface="Arial"/>
                <a:ea typeface="Arial"/>
                <a:cs typeface="Arial"/>
              </a:defRPr>
            </a:defPPr>
          </a:lstStyle>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Decision or fallback</a:t>
            </a:r>
          </a:p>
        </p:txBody>
      </p:sp>
      <p:sp>
        <p:nvSpPr>
          <p:cNvPr id="20" name="Label the model used">
            <a:extLst xmlns:a="http://schemas.openxmlformats.org/drawingml/2006/main">
              <a:ext uri="{FF2B5EF4-FFF2-40B4-BE49-F238E27FC236}">
                <a16:creationId xmlns:a16="http://schemas.microsoft.com/office/drawing/2014/main" id="{7C0B538B-AC73-488A-AD8F-5BA601EE3CF7}"/>
              </a:ext>
            </a:extLst>
          </p:cNvPr>
          <p:cNvSpPr>
            <a:spLocks xmlns:a="http://schemas.openxmlformats.org/drawingml/2006/main" noGrp="1"/>
          </p:cNvSpPr>
          <p:nvPr/>
        </p:nvSpPr>
        <p:spPr>
          <a:xfrm xmlns:a="http://schemas.openxmlformats.org/drawingml/2006/main">
            <a:off x="9705975" y="6115050"/>
            <a:ext cx="36861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DCE6F7"/>
                </a:solidFill>
                <a:latin typeface="Arial"/>
                <a:ea typeface="Arial"/>
                <a:cs typeface="Arial"/>
              </a:defRPr>
            </a:defPPr>
          </a:lstStyle>
          <a:p xmlns:a="http://schemas.openxmlformats.org/drawingml/2006/main">
            <a:pPr algn="l">
              <a:defRPr sz="1650" b="0">
                <a:solidFill>
                  <a:srgbClr val="DCE6F7"/>
                </a:solidFill>
                <a:latin typeface="Arial"/>
                <a:ea typeface="Arial"/>
                <a:cs typeface="Arial"/>
              </a:defRPr>
            </a:pPr>
            <a:r>
              <a:rPr sz="1650" b="0">
                <a:solidFill>
                  <a:srgbClr val="DCE6F7"/>
                </a:solidFill>
                <a:latin typeface="Arial"/>
                <a:ea typeface="Arial"/>
                <a:cs typeface="Arial"/>
              </a:rPr>
              <a:t>Label the model used</a:t>
            </a:r>
          </a:p>
        </p:txBody>
      </p:sp>
      <p:sp>
        <p:nvSpPr>
          <p:cNvPr id="24" name="No key: zero provider calls. A fallback after an invalid res">
            <a:extLst xmlns:a="http://schemas.openxmlformats.org/drawingml/2006/main">
              <a:ext uri="{FF2B5EF4-FFF2-40B4-BE49-F238E27FC236}">
                <a16:creationId xmlns:a16="http://schemas.microsoft.com/office/drawing/2014/main" id="{D7D5E6A5-51ED-4676-9A6A-F892B69BAF6D}"/>
              </a:ext>
            </a:extLst>
          </p:cNvPr>
          <p:cNvSpPr>
            <a:spLocks xmlns:a="http://schemas.openxmlformats.org/drawingml/2006/main" noGrp="1"/>
          </p:cNvSpPr>
          <p:nvPr/>
        </p:nvSpPr>
        <p:spPr>
          <a:xfrm xmlns:a="http://schemas.openxmlformats.org/drawingml/2006/main">
            <a:off x="685800" y="7915275"/>
            <a:ext cx="13868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ADBBD2"/>
                </a:solidFill>
                <a:latin typeface="Arial"/>
                <a:ea typeface="Arial"/>
                <a:cs typeface="Arial"/>
              </a:defRPr>
            </a:defPPr>
          </a:lstStyle>
          <a:p xmlns:a="http://schemas.openxmlformats.org/drawingml/2006/main">
            <a:pPr algn="l">
              <a:defRPr sz="1425" b="0">
                <a:solidFill>
                  <a:srgbClr val="ADBBD2"/>
                </a:solidFill>
                <a:latin typeface="Arial"/>
                <a:ea typeface="Arial"/>
                <a:cs typeface="Arial"/>
              </a:defRPr>
            </a:pPr>
            <a:r>
              <a:rPr sz="1425" b="0">
                <a:solidFill>
                  <a:srgbClr val="ADBBD2"/>
                </a:solidFill>
                <a:latin typeface="Arial"/>
                <a:ea typeface="Arial"/>
                <a:cs typeface="Arial"/>
              </a:rPr>
              <a:t>No key: zero provider calls. A fallback after an invalid response or timeout can still incur cost.</a:t>
            </a:r>
          </a:p>
        </p:txBody>
      </p:sp>
    </p:spTree>
    <p:extLst>
      <p:ext uri="{BB962C8B-B14F-4D97-AF65-F5344CB8AC3E}">
        <p14:creationId xmlns:p14="http://schemas.microsoft.com/office/powerpoint/2010/main" val="614430339"/>
      </p:ext>
    </p:extLst>
  </p:cSld>
</p:sld>
</file>

<file path=ppt/slides/slide14.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9" name="BizWizard">
            <a:extLst xmlns:a="http://schemas.openxmlformats.org/drawingml/2006/main">
              <a:ext uri="{FF2B5EF4-FFF2-40B4-BE49-F238E27FC236}">
                <a16:creationId xmlns:a16="http://schemas.microsoft.com/office/drawing/2014/main" id="{8C040512-FA0B-48D3-A1F3-3B2D05FE63AA}"/>
              </a:ext>
            </a:extLst>
          </p:cNvPr>
          <p:cNvSpPr>
            <a:spLocks xmlns:a="http://schemas.openxmlformats.org/drawingml/2006/main" noGrp="1"/>
          </p:cNvSpPr>
          <p:nvPr/>
        </p:nvSpPr>
        <p:spPr>
          <a:xfrm xmlns:a="http://schemas.openxmlformats.org/drawingml/2006/main">
            <a:off x="685800" y="3238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01F3C"/>
                </a:solidFill>
                <a:latin typeface="Arial"/>
                <a:ea typeface="Arial"/>
                <a:cs typeface="Arial"/>
              </a:defRPr>
            </a:defPPr>
          </a:lstStyle>
          <a:p xmlns:a="http://schemas.openxmlformats.org/drawingml/2006/main">
            <a:pPr algn="l">
              <a:defRPr sz="1575" b="1">
                <a:solidFill>
                  <a:srgbClr val="101F3C"/>
                </a:solidFill>
                <a:latin typeface="Arial"/>
                <a:ea typeface="Arial"/>
                <a:cs typeface="Arial"/>
              </a:defRPr>
            </a:pPr>
            <a:r>
              <a:rPr sz="1575" b="1">
                <a:solidFill>
                  <a:srgbClr val="101F3C"/>
                </a:solidFill>
                <a:latin typeface="Arial"/>
                <a:ea typeface="Arial"/>
                <a:cs typeface="Arial"/>
              </a:rPr>
              <a:t>BizWizard</a:t>
            </a:r>
          </a:p>
        </p:txBody>
      </p:sp>
      <p:sp>
        <p:nvSpPr>
          <p:cNvPr id="2" name="14">
            <a:extLst xmlns:a="http://schemas.openxmlformats.org/drawingml/2006/main">
              <a:ext uri="{FF2B5EF4-FFF2-40B4-BE49-F238E27FC236}">
                <a16:creationId xmlns:a16="http://schemas.microsoft.com/office/drawing/2014/main" id="{51F19052-325F-4BAC-8159-B045A388E138}"/>
              </a:ext>
            </a:extLst>
          </p:cNvPr>
          <p:cNvSpPr>
            <a:spLocks xmlns:a="http://schemas.openxmlformats.org/drawingml/2006/main" noGrp="1"/>
          </p:cNvSpPr>
          <p:nvPr/>
        </p:nvSpPr>
        <p:spPr>
          <a:xfrm xmlns:a="http://schemas.openxmlformats.org/drawingml/2006/main">
            <a:off x="12573000" y="323850"/>
            <a:ext cx="198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37089"/>
                </a:solidFill>
                <a:latin typeface="Arial"/>
                <a:ea typeface="Arial"/>
                <a:cs typeface="Arial"/>
              </a:defRPr>
            </a:defPPr>
          </a:lstStyle>
          <a:p xmlns:a="http://schemas.openxmlformats.org/drawingml/2006/main">
            <a:pPr algn="r">
              <a:defRPr sz="1425" b="0">
                <a:solidFill>
                  <a:srgbClr val="637089"/>
                </a:solidFill>
                <a:latin typeface="Arial"/>
                <a:ea typeface="Arial"/>
                <a:cs typeface="Arial"/>
              </a:defRPr>
            </a:pPr>
            <a:r>
              <a:rPr sz="1425" b="0">
                <a:solidFill>
                  <a:srgbClr val="637089"/>
                </a:solidFill>
                <a:latin typeface="Arial"/>
                <a:ea typeface="Arial"/>
                <a:cs typeface="Arial"/>
              </a:rPr>
              <a:t>14</a:t>
            </a:r>
          </a:p>
        </p:txBody>
      </p:sp>
      <p:sp>
        <p:nvSpPr>
          <p:cNvPr id="3" name="Slide heading">
            <a:extLst xmlns:a="http://schemas.openxmlformats.org/drawingml/2006/main">
              <a:ext uri="{FF2B5EF4-FFF2-40B4-BE49-F238E27FC236}">
                <a16:creationId xmlns:a16="http://schemas.microsoft.com/office/drawing/2014/main" id="{D74E76B3-EB74-45D2-9B4C-6651FBD6E492}"/>
              </a:ext>
            </a:extLst>
          </p:cNvPr>
          <p:cNvSpPr>
            <a:spLocks xmlns:a="http://schemas.openxmlformats.org/drawingml/2006/main" noGrp="1"/>
          </p:cNvSpPr>
          <p:nvPr/>
        </p:nvSpPr>
        <p:spPr>
          <a:xfrm xmlns:a="http://schemas.openxmlformats.org/drawingml/2006/main">
            <a:off x="685800" y="1000125"/>
            <a:ext cx="138684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13243F"/>
                </a:solidFill>
                <a:latin typeface="Arial"/>
                <a:ea typeface="Arial"/>
                <a:cs typeface="Arial"/>
              </a:defRPr>
            </a:defPPr>
          </a:lstStyle>
          <a:p xmlns:a="http://schemas.openxmlformats.org/drawingml/2006/main">
            <a:pPr algn="l">
              <a:defRPr sz="4500" b="1">
                <a:solidFill>
                  <a:srgbClr val="13243F"/>
                </a:solidFill>
                <a:latin typeface="Arial"/>
                <a:ea typeface="Arial"/>
                <a:cs typeface="Arial"/>
              </a:defRPr>
            </a:pPr>
            <a:r>
              <a:rPr sz="4500" b="1">
                <a:solidFill>
                  <a:srgbClr val="13243F"/>
                </a:solidFill>
                <a:latin typeface="Arial"/>
                <a:ea typeface="Arial"/>
                <a:cs typeface="Arial"/>
              </a:rPr>
              <a:t>Decision ledger and matched evaluation</a:t>
            </a:r>
          </a:p>
        </p:txBody>
      </p:sp>
      <p:sp>
        <p:nvSpPr>
          <p:cNvPr id="4" name="Versioned mandates and recorded choices keep decisions inspe">
            <a:extLst xmlns:a="http://schemas.openxmlformats.org/drawingml/2006/main">
              <a:ext uri="{FF2B5EF4-FFF2-40B4-BE49-F238E27FC236}">
                <a16:creationId xmlns:a16="http://schemas.microsoft.com/office/drawing/2014/main" id="{0E2FF6DD-400D-4B2E-AD79-E776B41ED504}"/>
              </a:ext>
            </a:extLst>
          </p:cNvPr>
          <p:cNvSpPr>
            <a:spLocks xmlns:a="http://schemas.openxmlformats.org/drawingml/2006/main" noGrp="1"/>
          </p:cNvSpPr>
          <p:nvPr/>
        </p:nvSpPr>
        <p:spPr>
          <a:xfrm xmlns:a="http://schemas.openxmlformats.org/drawingml/2006/main">
            <a:off x="723900" y="2333625"/>
            <a:ext cx="13792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3243F"/>
                </a:solidFill>
                <a:latin typeface="Arial"/>
                <a:ea typeface="Arial"/>
                <a:cs typeface="Arial"/>
              </a:defRPr>
            </a:defPPr>
          </a:lstStyle>
          <a:p xmlns:a="http://schemas.openxmlformats.org/drawingml/2006/main">
            <a:pPr algn="l">
              <a:defRPr sz="2325" b="1">
                <a:solidFill>
                  <a:srgbClr val="13243F"/>
                </a:solidFill>
                <a:latin typeface="Arial"/>
                <a:ea typeface="Arial"/>
                <a:cs typeface="Arial"/>
              </a:defRPr>
            </a:pPr>
            <a:r>
              <a:rPr sz="2325" b="1">
                <a:solidFill>
                  <a:srgbClr val="13243F"/>
                </a:solidFill>
                <a:latin typeface="Arial"/>
                <a:ea typeface="Arial"/>
                <a:cs typeface="Arial"/>
              </a:rPr>
              <a:t>Versioned mandates and recorded choices keep decisions inspectable.</a:t>
            </a:r>
          </a:p>
        </p:txBody>
      </p:sp>
      <p:sp>
        <p:nvSpPr>
          <p:cNvPr id="5" name="Saved live policy run: eight paired paths on one frozen shop">
            <a:extLst xmlns:a="http://schemas.openxmlformats.org/drawingml/2006/main">
              <a:ext uri="{FF2B5EF4-FFF2-40B4-BE49-F238E27FC236}">
                <a16:creationId xmlns:a16="http://schemas.microsoft.com/office/drawing/2014/main" id="{7D3FC5DC-F734-410D-9DC7-9310C92FC3F6}"/>
              </a:ext>
            </a:extLst>
          </p:cNvPr>
          <p:cNvSpPr>
            <a:spLocks xmlns:a="http://schemas.openxmlformats.org/drawingml/2006/main" noGrp="1"/>
          </p:cNvSpPr>
          <p:nvPr/>
        </p:nvSpPr>
        <p:spPr>
          <a:xfrm xmlns:a="http://schemas.openxmlformats.org/drawingml/2006/main">
            <a:off x="723900" y="2924175"/>
            <a:ext cx="13792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37089"/>
                </a:solidFill>
                <a:latin typeface="Arial"/>
                <a:ea typeface="Arial"/>
                <a:cs typeface="Arial"/>
              </a:defRPr>
            </a:defPPr>
          </a:lstStyle>
          <a:p xmlns:a="http://schemas.openxmlformats.org/drawingml/2006/main">
            <a:pPr algn="l">
              <a:defRPr sz="2100" b="0">
                <a:solidFill>
                  <a:srgbClr val="637089"/>
                </a:solidFill>
                <a:latin typeface="Arial"/>
                <a:ea typeface="Arial"/>
                <a:cs typeface="Arial"/>
              </a:defRPr>
            </a:pPr>
            <a:r>
              <a:rPr sz="2100" b="0">
                <a:solidFill>
                  <a:srgbClr val="637089"/>
                </a:solidFill>
                <a:latin typeface="Arial"/>
                <a:ea typeface="Arial"/>
                <a:cs typeface="Arial"/>
              </a:rPr>
              <a:t>Saved live policy run: eight paired paths on one frozen shop snapshot</a:t>
            </a:r>
          </a:p>
        </p:txBody>
      </p:sp>
      <p:graphicFrame>
        <p:nvGraphicFramePr>
          <p:cNvPr id="6" name="">
            <a:extLst xmlns:a="http://schemas.openxmlformats.org/drawingml/2006/main">
              <a:ext uri="{FF2B5EF4-FFF2-40B4-BE49-F238E27FC236}">
                <a16:creationId xmlns:a16="http://schemas.microsoft.com/office/drawing/2014/main" id="{65F56754-EBFC-4A85-8189-43D0E9081D88}"/>
              </a:ext>
            </a:extLst>
          </p:cNvPr>
          <p:cNvGraphicFramePr/>
          <p:nvPr/>
        </p:nvGraphicFramePr>
        <p:xfrm>
          <a:off xmlns:a="http://schemas.openxmlformats.org/drawingml/2006/main" x="723900" y="3638550"/>
          <a:ext xmlns:a="http://schemas.openxmlformats.org/drawingml/2006/main" cx="13792200" cy="3171825"/>
        </p:xfrm>
        <a:graphic xmlns:a="http://schemas.openxmlformats.org/drawingml/2006/main">
          <a:graphicData uri="http://schemas.openxmlformats.org/drawingml/2006/table">
            <a:tbl>
              <a:tblPr firstRow="1" bandRow="0"/>
              <a:tblGrid>
                <a:gridCol w="4667250"/>
                <a:gridCol w="3048000"/>
                <a:gridCol w="3048000"/>
                <a:gridCol w="3028950"/>
              </a:tblGrid>
              <a:tr h="634365">
                <a:tc>
                  <a:txBody>
                    <a:bodyPr lIns="133350" tIns="133350" rIns="133350" bIns="95250"/>
                    <a:lstStyle/>
                    <a:p>
                      <a:r>
                        <a:rPr sz="1875" b="1">
                          <a:solidFill>
                            <a:srgbClr val="FFFFFF"/>
                          </a:solidFill>
                          <a:latin typeface="Arial"/>
                          <a:ea typeface="Arial"/>
                          <a:cs typeface="Arial"/>
                        </a:rPr>
                        <a:t>Role / metric</a:t>
                      </a:r>
                    </a:p>
                  </a:txBody>
                  <a:tcPr marL="91440" marR="91440" marT="45720" marB="45720" anchor="ctr">
                    <a:lnL w="6668">
                      <a:solidFill>
                        <a:srgbClr val="F6F8FC"/>
                      </a:solidFill>
                      <a:prstDash val="solid"/>
                    </a:lnL>
                    <a:lnR w="6668">
                      <a:solidFill>
                        <a:srgbClr val="F6F8FC"/>
                      </a:solidFill>
                      <a:prstDash val="solid"/>
                    </a:lnR>
                    <a:lnT w="6668">
                      <a:solidFill>
                        <a:srgbClr val="F6F8FC"/>
                      </a:solidFill>
                      <a:prstDash val="solid"/>
                    </a:lnT>
                    <a:lnB w="6668">
                      <a:solidFill>
                        <a:srgbClr val="F6F8FC"/>
                      </a:solidFill>
                      <a:prstDash val="solid"/>
                    </a:lnB>
                    <a:solidFill>
                      <a:srgbClr val="101F3C"/>
                    </a:solidFill>
                  </a:tcPr>
                </a:tc>
                <a:tc>
                  <a:txBody>
                    <a:bodyPr lIns="133350" tIns="133350" rIns="133350" bIns="95250"/>
                    <a:lstStyle/>
                    <a:p>
                      <a:r>
                        <a:rPr sz="1875" b="1">
                          <a:solidFill>
                            <a:srgbClr val="FFFFFF"/>
                          </a:solidFill>
                          <a:latin typeface="Arial"/>
                          <a:ea typeface="Arial"/>
                          <a:cs typeface="Arial"/>
                        </a:rPr>
                        <a:t>Rules baseline (BDT)</a:t>
                      </a:r>
                    </a:p>
                  </a:txBody>
                  <a:tcPr marL="91440" marR="91440" marT="45720" marB="45720" anchor="ctr">
                    <a:lnR w="6668">
                      <a:solidFill>
                        <a:srgbClr val="F6F8FC"/>
                      </a:solidFill>
                      <a:prstDash val="solid"/>
                    </a:lnR>
                    <a:lnT w="6668">
                      <a:solidFill>
                        <a:srgbClr val="F6F8FC"/>
                      </a:solidFill>
                      <a:prstDash val="solid"/>
                    </a:lnT>
                    <a:lnB w="6668">
                      <a:solidFill>
                        <a:srgbClr val="F6F8FC"/>
                      </a:solidFill>
                      <a:prstDash val="solid"/>
                    </a:lnB>
                    <a:solidFill>
                      <a:srgbClr val="101F3C"/>
                    </a:solidFill>
                  </a:tcPr>
                </a:tc>
                <a:tc>
                  <a:txBody>
                    <a:bodyPr lIns="133350" tIns="133350" rIns="133350" bIns="95250"/>
                    <a:lstStyle/>
                    <a:p>
                      <a:r>
                        <a:rPr sz="1875" b="1">
                          <a:solidFill>
                            <a:srgbClr val="FFFFFF"/>
                          </a:solidFill>
                          <a:latin typeface="Arial"/>
                          <a:ea typeface="Arial"/>
                          <a:cs typeface="Arial"/>
                        </a:rPr>
                        <a:t>AI policy (BDT)</a:t>
                      </a:r>
                    </a:p>
                  </a:txBody>
                  <a:tcPr marL="91440" marR="91440" marT="45720" marB="45720" anchor="ctr">
                    <a:lnR w="6668">
                      <a:solidFill>
                        <a:srgbClr val="F6F8FC"/>
                      </a:solidFill>
                      <a:prstDash val="solid"/>
                    </a:lnR>
                    <a:lnT w="6668">
                      <a:solidFill>
                        <a:srgbClr val="F6F8FC"/>
                      </a:solidFill>
                      <a:prstDash val="solid"/>
                    </a:lnT>
                    <a:lnB w="6668">
                      <a:solidFill>
                        <a:srgbClr val="F6F8FC"/>
                      </a:solidFill>
                      <a:prstDash val="solid"/>
                    </a:lnB>
                    <a:solidFill>
                      <a:srgbClr val="101F3C"/>
                    </a:solidFill>
                  </a:tcPr>
                </a:tc>
                <a:tc>
                  <a:txBody>
                    <a:bodyPr lIns="133350" tIns="133350" rIns="133350" bIns="95250"/>
                    <a:lstStyle/>
                    <a:p>
                      <a:r>
                        <a:rPr sz="1875" b="1">
                          <a:solidFill>
                            <a:srgbClr val="FFFFFF"/>
                          </a:solidFill>
                          <a:latin typeface="Arial"/>
                          <a:ea typeface="Arial"/>
                          <a:cs typeface="Arial"/>
                        </a:rPr>
                        <a:t>AI-favouring delta</a:t>
                      </a:r>
                    </a:p>
                  </a:txBody>
                  <a:tcPr marL="91440" marR="91440" marT="45720" marB="45720" anchor="ctr">
                    <a:lnR w="6668">
                      <a:solidFill>
                        <a:srgbClr val="F6F8FC"/>
                      </a:solidFill>
                      <a:prstDash val="solid"/>
                    </a:lnR>
                    <a:lnT w="6668">
                      <a:solidFill>
                        <a:srgbClr val="F6F8FC"/>
                      </a:solidFill>
                      <a:prstDash val="solid"/>
                    </a:lnT>
                    <a:lnB w="6668">
                      <a:solidFill>
                        <a:srgbClr val="F6F8FC"/>
                      </a:solidFill>
                      <a:prstDash val="solid"/>
                    </a:lnB>
                    <a:solidFill>
                      <a:srgbClr val="101F3C"/>
                    </a:solidFill>
                  </a:tcPr>
                </a:tc>
              </a:tr>
              <a:tr h="634365">
                <a:tc>
                  <a:txBody>
                    <a:bodyPr lIns="133350" tIns="133350" rIns="133350" bIns="95250"/>
                    <a:lstStyle/>
                    <a:p>
                      <a:r>
                        <a:rPr sz="1875" b="0">
                          <a:solidFill>
                            <a:srgbClr val="13243F"/>
                          </a:solidFill>
                          <a:latin typeface="Arial"/>
                          <a:ea typeface="Arial"/>
                          <a:cs typeface="Arial"/>
                        </a:rPr>
                        <a:t>Lender / net credit return</a:t>
                      </a:r>
                    </a:p>
                  </a:txBody>
                  <a:tcPr marL="91440" marR="91440" marT="45720" marB="45720" anchor="ctr">
                    <a:lnL w="6668">
                      <a:solidFill>
                        <a:srgbClr val="F6F8FC"/>
                      </a:solidFill>
                      <a:prstDash val="solid"/>
                    </a:lnL>
                    <a:lnR w="6668">
                      <a:solidFill>
                        <a:srgbClr val="F6F8FC"/>
                      </a:solidFill>
                      <a:prstDash val="solid"/>
                    </a:lnR>
                    <a:lnB w="6668">
                      <a:solidFill>
                        <a:srgbClr val="F6F8FC"/>
                      </a:solidFill>
                      <a:prstDash val="solid"/>
                    </a:lnB>
                    <a:solidFill>
                      <a:srgbClr val="FFFFFF"/>
                    </a:solidFill>
                  </a:tcPr>
                </a:tc>
                <a:tc>
                  <a:txBody>
                    <a:bodyPr lIns="133350" tIns="133350" rIns="133350" bIns="95250"/>
                    <a:lstStyle/>
                    <a:p>
                      <a:r>
                        <a:rPr sz="1875" b="0">
                          <a:solidFill>
                            <a:srgbClr val="13243F"/>
                          </a:solidFill>
                          <a:latin typeface="Arial"/>
                          <a:ea typeface="Arial"/>
                          <a:cs typeface="Arial"/>
                        </a:rPr>
                        <a:t>665.94</a:t>
                      </a:r>
                    </a:p>
                  </a:txBody>
                  <a:tcPr marL="91440" marR="91440" marT="45720" marB="45720" anchor="ctr">
                    <a:lnR w="6668">
                      <a:solidFill>
                        <a:srgbClr val="F6F8FC"/>
                      </a:solidFill>
                      <a:prstDash val="solid"/>
                    </a:lnR>
                    <a:lnB w="6668">
                      <a:solidFill>
                        <a:srgbClr val="F6F8FC"/>
                      </a:solidFill>
                      <a:prstDash val="solid"/>
                    </a:lnB>
                    <a:solidFill>
                      <a:srgbClr val="FFFFFF"/>
                    </a:solidFill>
                  </a:tcPr>
                </a:tc>
                <a:tc>
                  <a:txBody>
                    <a:bodyPr lIns="133350" tIns="133350" rIns="133350" bIns="95250"/>
                    <a:lstStyle/>
                    <a:p>
                      <a:r>
                        <a:rPr sz="1875" b="0">
                          <a:solidFill>
                            <a:srgbClr val="13243F"/>
                          </a:solidFill>
                          <a:latin typeface="Arial"/>
                          <a:ea typeface="Arial"/>
                          <a:cs typeface="Arial"/>
                        </a:rPr>
                        <a:t>265.22</a:t>
                      </a:r>
                    </a:p>
                  </a:txBody>
                  <a:tcPr marL="91440" marR="91440" marT="45720" marB="45720" anchor="ctr">
                    <a:lnR w="6668">
                      <a:solidFill>
                        <a:srgbClr val="F6F8FC"/>
                      </a:solidFill>
                      <a:prstDash val="solid"/>
                    </a:lnR>
                    <a:lnB w="6668">
                      <a:solidFill>
                        <a:srgbClr val="F6F8FC"/>
                      </a:solidFill>
                      <a:prstDash val="solid"/>
                    </a:lnB>
                    <a:solidFill>
                      <a:srgbClr val="FFFFFF"/>
                    </a:solidFill>
                  </a:tcPr>
                </a:tc>
                <a:tc>
                  <a:txBody>
                    <a:bodyPr lIns="133350" tIns="133350" rIns="133350" bIns="95250"/>
                    <a:lstStyle/>
                    <a:p>
                      <a:r>
                        <a:rPr sz="1875" b="0">
                          <a:solidFill>
                            <a:srgbClr val="13243F"/>
                          </a:solidFill>
                          <a:latin typeface="Arial"/>
                          <a:ea typeface="Arial"/>
                          <a:cs typeface="Arial"/>
                        </a:rPr>
                        <a:t>−400.72</a:t>
                      </a:r>
                    </a:p>
                  </a:txBody>
                  <a:tcPr marL="91440" marR="91440" marT="45720" marB="45720" anchor="ctr">
                    <a:lnR w="6668">
                      <a:solidFill>
                        <a:srgbClr val="F6F8FC"/>
                      </a:solidFill>
                      <a:prstDash val="solid"/>
                    </a:lnR>
                    <a:lnB w="6668">
                      <a:solidFill>
                        <a:srgbClr val="F6F8FC"/>
                      </a:solidFill>
                      <a:prstDash val="solid"/>
                    </a:lnB>
                    <a:solidFill>
                      <a:srgbClr val="FFFFFF"/>
                    </a:solidFill>
                  </a:tcPr>
                </a:tc>
              </a:tr>
              <a:tr h="634365">
                <a:tc>
                  <a:txBody>
                    <a:bodyPr lIns="133350" tIns="133350" rIns="133350" bIns="95250"/>
                    <a:lstStyle/>
                    <a:p>
                      <a:r>
                        <a:rPr sz="1875" b="0">
                          <a:solidFill>
                            <a:srgbClr val="13243F"/>
                          </a:solidFill>
                          <a:latin typeface="Arial"/>
                          <a:ea typeface="Arial"/>
                          <a:cs typeface="Arial"/>
                        </a:rPr>
                        <a:t>Borrower / borrowing cost</a:t>
                      </a:r>
                    </a:p>
                  </a:txBody>
                  <a:tcPr marL="91440" marR="91440" marT="45720" marB="45720" anchor="ctr">
                    <a:lnL w="6668">
                      <a:solidFill>
                        <a:srgbClr val="F6F8FC"/>
                      </a:solidFill>
                      <a:prstDash val="solid"/>
                    </a:lnL>
                    <a:lnR w="6668">
                      <a:solidFill>
                        <a:srgbClr val="F6F8FC"/>
                      </a:solidFill>
                      <a:prstDash val="solid"/>
                    </a:lnR>
                    <a:lnB w="6668">
                      <a:solidFill>
                        <a:srgbClr val="F6F8FC"/>
                      </a:solidFill>
                      <a:prstDash val="solid"/>
                    </a:lnB>
                    <a:solidFill>
                      <a:srgbClr val="EDF2F9"/>
                    </a:solidFill>
                  </a:tcPr>
                </a:tc>
                <a:tc>
                  <a:txBody>
                    <a:bodyPr lIns="133350" tIns="133350" rIns="133350" bIns="95250"/>
                    <a:lstStyle/>
                    <a:p>
                      <a:r>
                        <a:rPr sz="1875" b="0">
                          <a:solidFill>
                            <a:srgbClr val="13243F"/>
                          </a:solidFill>
                          <a:latin typeface="Arial"/>
                          <a:ea typeface="Arial"/>
                          <a:cs typeface="Arial"/>
                        </a:rPr>
                        <a:t>705.82</a:t>
                      </a:r>
                    </a:p>
                  </a:txBody>
                  <a:tcPr marL="91440" marR="91440" marT="45720" marB="45720" anchor="ctr">
                    <a:lnR w="6668">
                      <a:solidFill>
                        <a:srgbClr val="F6F8FC"/>
                      </a:solidFill>
                      <a:prstDash val="solid"/>
                    </a:lnR>
                    <a:lnB w="6668">
                      <a:solidFill>
                        <a:srgbClr val="F6F8FC"/>
                      </a:solidFill>
                      <a:prstDash val="solid"/>
                    </a:lnB>
                    <a:solidFill>
                      <a:srgbClr val="EDF2F9"/>
                    </a:solidFill>
                  </a:tcPr>
                </a:tc>
                <a:tc>
                  <a:txBody>
                    <a:bodyPr lIns="133350" tIns="133350" rIns="133350" bIns="95250"/>
                    <a:lstStyle/>
                    <a:p>
                      <a:r>
                        <a:rPr sz="1875" b="0">
                          <a:solidFill>
                            <a:srgbClr val="13243F"/>
                          </a:solidFill>
                          <a:latin typeface="Arial"/>
                          <a:ea typeface="Arial"/>
                          <a:cs typeface="Arial"/>
                        </a:rPr>
                        <a:t>423.28</a:t>
                      </a:r>
                    </a:p>
                  </a:txBody>
                  <a:tcPr marL="91440" marR="91440" marT="45720" marB="45720" anchor="ctr">
                    <a:lnR w="6668">
                      <a:solidFill>
                        <a:srgbClr val="F6F8FC"/>
                      </a:solidFill>
                      <a:prstDash val="solid"/>
                    </a:lnR>
                    <a:lnB w="6668">
                      <a:solidFill>
                        <a:srgbClr val="F6F8FC"/>
                      </a:solidFill>
                      <a:prstDash val="solid"/>
                    </a:lnB>
                    <a:solidFill>
                      <a:srgbClr val="EDF2F9"/>
                    </a:solidFill>
                  </a:tcPr>
                </a:tc>
                <a:tc>
                  <a:txBody>
                    <a:bodyPr lIns="133350" tIns="133350" rIns="133350" bIns="95250"/>
                    <a:lstStyle/>
                    <a:p>
                      <a:r>
                        <a:rPr sz="1875" b="0">
                          <a:solidFill>
                            <a:srgbClr val="13243F"/>
                          </a:solidFill>
                          <a:latin typeface="Arial"/>
                          <a:ea typeface="Arial"/>
                          <a:cs typeface="Arial"/>
                        </a:rPr>
                        <a:t>+282.54</a:t>
                      </a:r>
                    </a:p>
                  </a:txBody>
                  <a:tcPr marL="91440" marR="91440" marT="45720" marB="45720" anchor="ctr">
                    <a:lnR w="6668">
                      <a:solidFill>
                        <a:srgbClr val="F6F8FC"/>
                      </a:solidFill>
                      <a:prstDash val="solid"/>
                    </a:lnR>
                    <a:lnB w="6668">
                      <a:solidFill>
                        <a:srgbClr val="F6F8FC"/>
                      </a:solidFill>
                      <a:prstDash val="solid"/>
                    </a:lnB>
                    <a:solidFill>
                      <a:srgbClr val="EDF2F9"/>
                    </a:solidFill>
                  </a:tcPr>
                </a:tc>
              </a:tr>
              <a:tr h="634365">
                <a:tc>
                  <a:txBody>
                    <a:bodyPr lIns="133350" tIns="133350" rIns="133350" bIns="95250"/>
                    <a:lstStyle/>
                    <a:p>
                      <a:r>
                        <a:rPr sz="1875" b="0">
                          <a:solidFill>
                            <a:srgbClr val="13243F"/>
                          </a:solidFill>
                          <a:latin typeface="Arial"/>
                          <a:ea typeface="Arial"/>
                          <a:cs typeface="Arial"/>
                        </a:rPr>
                        <a:t>Treasurer / closing cash</a:t>
                      </a:r>
                    </a:p>
                  </a:txBody>
                  <a:tcPr marL="91440" marR="91440" marT="45720" marB="45720" anchor="ctr">
                    <a:lnL w="6668">
                      <a:solidFill>
                        <a:srgbClr val="F6F8FC"/>
                      </a:solidFill>
                      <a:prstDash val="solid"/>
                    </a:lnL>
                    <a:lnR w="6668">
                      <a:solidFill>
                        <a:srgbClr val="F6F8FC"/>
                      </a:solidFill>
                      <a:prstDash val="solid"/>
                    </a:lnR>
                    <a:lnB w="6668">
                      <a:solidFill>
                        <a:srgbClr val="F6F8FC"/>
                      </a:solidFill>
                      <a:prstDash val="solid"/>
                    </a:lnB>
                    <a:solidFill>
                      <a:srgbClr val="FFFFFF"/>
                    </a:solidFill>
                  </a:tcPr>
                </a:tc>
                <a:tc>
                  <a:txBody>
                    <a:bodyPr lIns="133350" tIns="133350" rIns="133350" bIns="95250"/>
                    <a:lstStyle/>
                    <a:p>
                      <a:r>
                        <a:rPr sz="1875" b="0">
                          <a:solidFill>
                            <a:srgbClr val="13243F"/>
                          </a:solidFill>
                          <a:latin typeface="Arial"/>
                          <a:ea typeface="Arial"/>
                          <a:cs typeface="Arial"/>
                        </a:rPr>
                        <a:t>1,484,037.23</a:t>
                      </a:r>
                    </a:p>
                  </a:txBody>
                  <a:tcPr marL="91440" marR="91440" marT="45720" marB="45720" anchor="ctr">
                    <a:lnR w="6668">
                      <a:solidFill>
                        <a:srgbClr val="F6F8FC"/>
                      </a:solidFill>
                      <a:prstDash val="solid"/>
                    </a:lnR>
                    <a:lnB w="6668">
                      <a:solidFill>
                        <a:srgbClr val="F6F8FC"/>
                      </a:solidFill>
                      <a:prstDash val="solid"/>
                    </a:lnB>
                    <a:solidFill>
                      <a:srgbClr val="FFFFFF"/>
                    </a:solidFill>
                  </a:tcPr>
                </a:tc>
                <a:tc>
                  <a:txBody>
                    <a:bodyPr lIns="133350" tIns="133350" rIns="133350" bIns="95250"/>
                    <a:lstStyle/>
                    <a:p>
                      <a:r>
                        <a:rPr sz="1875" b="0">
                          <a:solidFill>
                            <a:srgbClr val="13243F"/>
                          </a:solidFill>
                          <a:latin typeface="Arial"/>
                          <a:ea typeface="Arial"/>
                          <a:cs typeface="Arial"/>
                        </a:rPr>
                        <a:t>1,484,037.23</a:t>
                      </a:r>
                    </a:p>
                  </a:txBody>
                  <a:tcPr marL="91440" marR="91440" marT="45720" marB="45720" anchor="ctr">
                    <a:lnR w="6668">
                      <a:solidFill>
                        <a:srgbClr val="F6F8FC"/>
                      </a:solidFill>
                      <a:prstDash val="solid"/>
                    </a:lnR>
                    <a:lnB w="6668">
                      <a:solidFill>
                        <a:srgbClr val="F6F8FC"/>
                      </a:solidFill>
                      <a:prstDash val="solid"/>
                    </a:lnB>
                    <a:solidFill>
                      <a:srgbClr val="FFFFFF"/>
                    </a:solidFill>
                  </a:tcPr>
                </a:tc>
                <a:tc>
                  <a:txBody>
                    <a:bodyPr lIns="133350" tIns="133350" rIns="133350" bIns="95250"/>
                    <a:lstStyle/>
                    <a:p>
                      <a:r>
                        <a:rPr sz="1875" b="0">
                          <a:solidFill>
                            <a:srgbClr val="13243F"/>
                          </a:solidFill>
                          <a:latin typeface="Arial"/>
                          <a:ea typeface="Arial"/>
                          <a:cs typeface="Arial"/>
                        </a:rPr>
                        <a:t>0.00</a:t>
                      </a:r>
                    </a:p>
                  </a:txBody>
                  <a:tcPr marL="91440" marR="91440" marT="45720" marB="45720" anchor="ctr">
                    <a:lnR w="6668">
                      <a:solidFill>
                        <a:srgbClr val="F6F8FC"/>
                      </a:solidFill>
                      <a:prstDash val="solid"/>
                    </a:lnR>
                    <a:lnB w="6668">
                      <a:solidFill>
                        <a:srgbClr val="F6F8FC"/>
                      </a:solidFill>
                      <a:prstDash val="solid"/>
                    </a:lnB>
                    <a:solidFill>
                      <a:srgbClr val="FFFFFF"/>
                    </a:solidFill>
                  </a:tcPr>
                </a:tc>
              </a:tr>
              <a:tr h="634365">
                <a:tc>
                  <a:txBody>
                    <a:bodyPr lIns="133350" tIns="133350" rIns="133350" bIns="95250"/>
                    <a:lstStyle/>
                    <a:p>
                      <a:r>
                        <a:rPr sz="1875" b="0">
                          <a:solidFill>
                            <a:srgbClr val="13243F"/>
                          </a:solidFill>
                          <a:latin typeface="Arial"/>
                          <a:ea typeface="Arial"/>
                          <a:cs typeface="Arial"/>
                        </a:rPr>
                        <a:t>Analyst / modeled margin</a:t>
                      </a:r>
                    </a:p>
                  </a:txBody>
                  <a:tcPr marL="91440" marR="91440" marT="45720" marB="45720" anchor="ctr">
                    <a:lnL w="6668">
                      <a:solidFill>
                        <a:srgbClr val="F6F8FC"/>
                      </a:solidFill>
                      <a:prstDash val="solid"/>
                    </a:lnL>
                    <a:lnR w="6668">
                      <a:solidFill>
                        <a:srgbClr val="F6F8FC"/>
                      </a:solidFill>
                      <a:prstDash val="solid"/>
                    </a:lnR>
                    <a:lnB w="6668">
                      <a:solidFill>
                        <a:srgbClr val="F6F8FC"/>
                      </a:solidFill>
                      <a:prstDash val="solid"/>
                    </a:lnB>
                    <a:solidFill>
                      <a:srgbClr val="EDF2F9"/>
                    </a:solidFill>
                  </a:tcPr>
                </a:tc>
                <a:tc>
                  <a:txBody>
                    <a:bodyPr lIns="133350" tIns="133350" rIns="133350" bIns="95250"/>
                    <a:lstStyle/>
                    <a:p>
                      <a:r>
                        <a:rPr sz="1875" b="0">
                          <a:solidFill>
                            <a:srgbClr val="13243F"/>
                          </a:solidFill>
                          <a:latin typeface="Arial"/>
                          <a:ea typeface="Arial"/>
                          <a:cs typeface="Arial"/>
                        </a:rPr>
                        <a:t>46,761.23</a:t>
                      </a:r>
                    </a:p>
                  </a:txBody>
                  <a:tcPr marL="91440" marR="91440" marT="45720" marB="45720" anchor="ctr">
                    <a:lnR w="6668">
                      <a:solidFill>
                        <a:srgbClr val="F6F8FC"/>
                      </a:solidFill>
                      <a:prstDash val="solid"/>
                    </a:lnR>
                    <a:lnB w="6668">
                      <a:solidFill>
                        <a:srgbClr val="F6F8FC"/>
                      </a:solidFill>
                      <a:prstDash val="solid"/>
                    </a:lnB>
                    <a:solidFill>
                      <a:srgbClr val="EDF2F9"/>
                    </a:solidFill>
                  </a:tcPr>
                </a:tc>
                <a:tc>
                  <a:txBody>
                    <a:bodyPr lIns="133350" tIns="133350" rIns="133350" bIns="95250"/>
                    <a:lstStyle/>
                    <a:p>
                      <a:r>
                        <a:rPr sz="1875" b="0">
                          <a:solidFill>
                            <a:srgbClr val="13243F"/>
                          </a:solidFill>
                          <a:latin typeface="Arial"/>
                          <a:ea typeface="Arial"/>
                          <a:cs typeface="Arial"/>
                        </a:rPr>
                        <a:t>46,761.23</a:t>
                      </a:r>
                    </a:p>
                  </a:txBody>
                  <a:tcPr marL="91440" marR="91440" marT="45720" marB="45720" anchor="ctr">
                    <a:lnR w="6668">
                      <a:solidFill>
                        <a:srgbClr val="F6F8FC"/>
                      </a:solidFill>
                      <a:prstDash val="solid"/>
                    </a:lnR>
                    <a:lnB w="6668">
                      <a:solidFill>
                        <a:srgbClr val="F6F8FC"/>
                      </a:solidFill>
                      <a:prstDash val="solid"/>
                    </a:lnB>
                    <a:solidFill>
                      <a:srgbClr val="EDF2F9"/>
                    </a:solidFill>
                  </a:tcPr>
                </a:tc>
                <a:tc>
                  <a:txBody>
                    <a:bodyPr lIns="133350" tIns="133350" rIns="133350" bIns="95250"/>
                    <a:lstStyle/>
                    <a:p>
                      <a:r>
                        <a:rPr sz="1875" b="0">
                          <a:solidFill>
                            <a:srgbClr val="13243F"/>
                          </a:solidFill>
                          <a:latin typeface="Arial"/>
                          <a:ea typeface="Arial"/>
                          <a:cs typeface="Arial"/>
                        </a:rPr>
                        <a:t>0.00</a:t>
                      </a:r>
                    </a:p>
                  </a:txBody>
                  <a:tcPr marL="91440" marR="91440" marT="45720" marB="45720" anchor="ctr">
                    <a:lnR w="6668">
                      <a:solidFill>
                        <a:srgbClr val="F6F8FC"/>
                      </a:solidFill>
                      <a:prstDash val="solid"/>
                    </a:lnR>
                    <a:lnB w="6668">
                      <a:solidFill>
                        <a:srgbClr val="F6F8FC"/>
                      </a:solidFill>
                      <a:prstDash val="solid"/>
                    </a:lnB>
                    <a:solidFill>
                      <a:srgbClr val="EDF2F9"/>
                    </a:solidFill>
                  </a:tcPr>
                </a:tc>
              </a:tr>
            </a:tbl>
          </a:graphicData>
        </a:graphic>
      </p:graphicFrame>
      <p:sp>
        <p:nvSpPr>
          <p:cNvPr id="7" name="Same inputs and outcome draws. Offline replay matched the sa">
            <a:extLst xmlns:a="http://schemas.openxmlformats.org/drawingml/2006/main">
              <a:ext uri="{FF2B5EF4-FFF2-40B4-BE49-F238E27FC236}">
                <a16:creationId xmlns:a16="http://schemas.microsoft.com/office/drawing/2014/main" id="{895A4F8F-112A-48EB-B415-38DBFF395A4C}"/>
              </a:ext>
            </a:extLst>
          </p:cNvPr>
          <p:cNvSpPr>
            <a:spLocks xmlns:a="http://schemas.openxmlformats.org/drawingml/2006/main" noGrp="1"/>
          </p:cNvSpPr>
          <p:nvPr/>
        </p:nvSpPr>
        <p:spPr>
          <a:xfrm xmlns:a="http://schemas.openxmlformats.org/drawingml/2006/main">
            <a:off x="723900" y="7181850"/>
            <a:ext cx="1362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637089"/>
                </a:solidFill>
                <a:latin typeface="Arial"/>
                <a:ea typeface="Arial"/>
                <a:cs typeface="Arial"/>
              </a:defRPr>
            </a:defPPr>
          </a:lstStyle>
          <a:p xmlns:a="http://schemas.openxmlformats.org/drawingml/2006/main">
            <a:pPr algn="l">
              <a:defRPr sz="2025" b="0">
                <a:solidFill>
                  <a:srgbClr val="637089"/>
                </a:solidFill>
                <a:latin typeface="Arial"/>
                <a:ea typeface="Arial"/>
                <a:cs typeface="Arial"/>
              </a:defRPr>
            </a:pPr>
            <a:r>
              <a:rPr sz="2025" b="0">
                <a:solidFill>
                  <a:srgbClr val="637089"/>
                </a:solidFill>
                <a:latin typeface="Arial"/>
                <a:ea typeface="Arial"/>
                <a:cs typeface="Arial"/>
              </a:rPr>
              <a:t>Same inputs and outcome draws. Offline replay matched the saved outcome hash.</a:t>
            </a:r>
          </a:p>
        </p:txBody>
      </p:sp>
      <p:sp>
        <p:nvSpPr>
          <p:cNvPr id="8" name="Loan roles use full terms. Cash and margin use 30 days. Thes">
            <a:extLst xmlns:a="http://schemas.openxmlformats.org/drawingml/2006/main">
              <a:ext uri="{FF2B5EF4-FFF2-40B4-BE49-F238E27FC236}">
                <a16:creationId xmlns:a16="http://schemas.microsoft.com/office/drawing/2014/main" id="{8F42E2C1-1FCF-46A5-9656-79020681C7BA}"/>
              </a:ext>
            </a:extLst>
          </p:cNvPr>
          <p:cNvSpPr>
            <a:spLocks xmlns:a="http://schemas.openxmlformats.org/drawingml/2006/main" noGrp="1"/>
          </p:cNvSpPr>
          <p:nvPr/>
        </p:nvSpPr>
        <p:spPr>
          <a:xfrm xmlns:a="http://schemas.openxmlformats.org/drawingml/2006/main">
            <a:off x="685800" y="7915275"/>
            <a:ext cx="13868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37089"/>
                </a:solidFill>
                <a:latin typeface="Arial"/>
                <a:ea typeface="Arial"/>
                <a:cs typeface="Arial"/>
              </a:defRPr>
            </a:defPPr>
          </a:lstStyle>
          <a:p xmlns:a="http://schemas.openxmlformats.org/drawingml/2006/main">
            <a:pPr algn="l">
              <a:defRPr sz="1425" b="0">
                <a:solidFill>
                  <a:srgbClr val="637089"/>
                </a:solidFill>
                <a:latin typeface="Arial"/>
                <a:ea typeface="Arial"/>
                <a:cs typeface="Arial"/>
              </a:defRPr>
            </a:pPr>
            <a:r>
              <a:rPr sz="1425" b="0">
                <a:solidFill>
                  <a:srgbClr val="637089"/>
                </a:solidFill>
                <a:latin typeface="Arial"/>
                <a:ea typeface="Arial"/>
                <a:cs typeface="Arial"/>
              </a:rPr>
              <a:t>Loan roles use full terms. Cash and margin use 30 days. These outcomes are simulated and cannot be added as profit.</a:t>
            </a:r>
          </a:p>
        </p:txBody>
      </p:sp>
    </p:spTree>
    <p:extLst>
      <p:ext uri="{BB962C8B-B14F-4D97-AF65-F5344CB8AC3E}">
        <p14:creationId xmlns:p14="http://schemas.microsoft.com/office/powerpoint/2010/main" val="896440260"/>
      </p:ext>
    </p:extLst>
  </p:cSld>
</p:sld>
</file>

<file path=ppt/slides/slide15.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1" name="BizWizard">
            <a:extLst xmlns:a="http://schemas.openxmlformats.org/drawingml/2006/main">
              <a:ext uri="{FF2B5EF4-FFF2-40B4-BE49-F238E27FC236}">
                <a16:creationId xmlns:a16="http://schemas.microsoft.com/office/drawing/2014/main" id="{7B0FDC69-746B-4218-98D5-AA91C885A1E1}"/>
              </a:ext>
            </a:extLst>
          </p:cNvPr>
          <p:cNvSpPr>
            <a:spLocks xmlns:a="http://schemas.openxmlformats.org/drawingml/2006/main" noGrp="1"/>
          </p:cNvSpPr>
          <p:nvPr/>
        </p:nvSpPr>
        <p:spPr>
          <a:xfrm xmlns:a="http://schemas.openxmlformats.org/drawingml/2006/main">
            <a:off x="685800" y="3238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01F3C"/>
                </a:solidFill>
                <a:latin typeface="Arial"/>
                <a:ea typeface="Arial"/>
                <a:cs typeface="Arial"/>
              </a:defRPr>
            </a:defPPr>
          </a:lstStyle>
          <a:p xmlns:a="http://schemas.openxmlformats.org/drawingml/2006/main">
            <a:pPr algn="l">
              <a:defRPr sz="1575" b="1">
                <a:solidFill>
                  <a:srgbClr val="101F3C"/>
                </a:solidFill>
                <a:latin typeface="Arial"/>
                <a:ea typeface="Arial"/>
                <a:cs typeface="Arial"/>
              </a:defRPr>
            </a:pPr>
            <a:r>
              <a:rPr sz="1575" b="1">
                <a:solidFill>
                  <a:srgbClr val="101F3C"/>
                </a:solidFill>
                <a:latin typeface="Arial"/>
                <a:ea typeface="Arial"/>
                <a:cs typeface="Arial"/>
              </a:rPr>
              <a:t>BizWizard</a:t>
            </a:r>
          </a:p>
        </p:txBody>
      </p:sp>
      <p:sp>
        <p:nvSpPr>
          <p:cNvPr id="2" name="15">
            <a:extLst xmlns:a="http://schemas.openxmlformats.org/drawingml/2006/main">
              <a:ext uri="{FF2B5EF4-FFF2-40B4-BE49-F238E27FC236}">
                <a16:creationId xmlns:a16="http://schemas.microsoft.com/office/drawing/2014/main" id="{F9198643-5303-4F52-9219-01A451662C2F}"/>
              </a:ext>
            </a:extLst>
          </p:cNvPr>
          <p:cNvSpPr>
            <a:spLocks xmlns:a="http://schemas.openxmlformats.org/drawingml/2006/main" noGrp="1"/>
          </p:cNvSpPr>
          <p:nvPr/>
        </p:nvSpPr>
        <p:spPr>
          <a:xfrm xmlns:a="http://schemas.openxmlformats.org/drawingml/2006/main">
            <a:off x="12573000" y="323850"/>
            <a:ext cx="198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37089"/>
                </a:solidFill>
                <a:latin typeface="Arial"/>
                <a:ea typeface="Arial"/>
                <a:cs typeface="Arial"/>
              </a:defRPr>
            </a:defPPr>
          </a:lstStyle>
          <a:p xmlns:a="http://schemas.openxmlformats.org/drawingml/2006/main">
            <a:pPr algn="r">
              <a:defRPr sz="1425" b="0">
                <a:solidFill>
                  <a:srgbClr val="637089"/>
                </a:solidFill>
                <a:latin typeface="Arial"/>
                <a:ea typeface="Arial"/>
                <a:cs typeface="Arial"/>
              </a:defRPr>
            </a:pPr>
            <a:r>
              <a:rPr sz="1425" b="0">
                <a:solidFill>
                  <a:srgbClr val="637089"/>
                </a:solidFill>
                <a:latin typeface="Arial"/>
                <a:ea typeface="Arial"/>
                <a:cs typeface="Arial"/>
              </a:rPr>
              <a:t>15</a:t>
            </a:r>
          </a:p>
        </p:txBody>
      </p:sp>
      <p:sp>
        <p:nvSpPr>
          <p:cNvPr id="3" name="Slide heading">
            <a:extLst xmlns:a="http://schemas.openxmlformats.org/drawingml/2006/main">
              <a:ext uri="{FF2B5EF4-FFF2-40B4-BE49-F238E27FC236}">
                <a16:creationId xmlns:a16="http://schemas.microsoft.com/office/drawing/2014/main" id="{83E9D63B-65A3-4BF7-821B-D60DDC3003CF}"/>
              </a:ext>
            </a:extLst>
          </p:cNvPr>
          <p:cNvSpPr>
            <a:spLocks xmlns:a="http://schemas.openxmlformats.org/drawingml/2006/main" noGrp="1"/>
          </p:cNvSpPr>
          <p:nvPr/>
        </p:nvSpPr>
        <p:spPr>
          <a:xfrm xmlns:a="http://schemas.openxmlformats.org/drawingml/2006/main">
            <a:off x="685800" y="1000125"/>
            <a:ext cx="138684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13243F"/>
                </a:solidFill>
                <a:latin typeface="Arial"/>
                <a:ea typeface="Arial"/>
                <a:cs typeface="Arial"/>
              </a:defRPr>
            </a:defPPr>
          </a:lstStyle>
          <a:p xmlns:a="http://schemas.openxmlformats.org/drawingml/2006/main">
            <a:pPr algn="l">
              <a:defRPr sz="4500" b="1">
                <a:solidFill>
                  <a:srgbClr val="13243F"/>
                </a:solidFill>
                <a:latin typeface="Arial"/>
                <a:ea typeface="Arial"/>
                <a:cs typeface="Arial"/>
              </a:defRPr>
            </a:pPr>
            <a:r>
              <a:rPr sz="4500" b="1">
                <a:solidFill>
                  <a:srgbClr val="13243F"/>
                </a:solidFill>
                <a:latin typeface="Arial"/>
                <a:ea typeface="Arial"/>
                <a:cs typeface="Arial"/>
              </a:rPr>
              <a:t>The owner keeps approval authority</a:t>
            </a:r>
          </a:p>
        </p:txBody>
      </p:sp>
      <p:graphicFrame>
        <p:nvGraphicFramePr>
          <p:cNvPr id="4" name="">
            <a:extLst xmlns:a="http://schemas.openxmlformats.org/drawingml/2006/main">
              <a:ext uri="{FF2B5EF4-FFF2-40B4-BE49-F238E27FC236}">
                <a16:creationId xmlns:a16="http://schemas.microsoft.com/office/drawing/2014/main" id="{3DD467A7-2D1A-4FF6-9E8E-A8BBE582D292}"/>
              </a:ext>
            </a:extLst>
          </p:cNvPr>
          <p:cNvGraphicFramePr/>
          <p:nvPr/>
        </p:nvGraphicFramePr>
        <p:xfrm>
          <a:off xmlns:a="http://schemas.openxmlformats.org/drawingml/2006/main" x="723900" y="2562225"/>
          <a:ext xmlns:a="http://schemas.openxmlformats.org/drawingml/2006/main" cx="9048750" cy="3667125"/>
        </p:xfrm>
        <a:graphic xmlns:a="http://schemas.openxmlformats.org/drawingml/2006/main">
          <a:graphicData uri="http://schemas.openxmlformats.org/drawingml/2006/table">
            <a:tbl>
              <a:tblPr firstRow="1" bandRow="0"/>
              <a:tblGrid>
                <a:gridCol w="4914900"/>
                <a:gridCol w="1809750"/>
                <a:gridCol w="2324100"/>
              </a:tblGrid>
              <a:tr h="733425">
                <a:tc>
                  <a:txBody>
                    <a:bodyPr lIns="133350" tIns="133350" rIns="133350" bIns="95250"/>
                    <a:lstStyle/>
                    <a:p>
                      <a:r>
                        <a:rPr sz="1875" b="1">
                          <a:solidFill>
                            <a:srgbClr val="FFFFFF"/>
                          </a:solidFill>
                          <a:latin typeface="Arial"/>
                          <a:ea typeface="Arial"/>
                          <a:cs typeface="Arial"/>
                        </a:rPr>
                        <a:t>Finance capability</a:t>
                      </a:r>
                    </a:p>
                  </a:txBody>
                  <a:tcPr marL="91440" marR="91440" marT="45720" marB="45720" anchor="ctr">
                    <a:lnL w="6668">
                      <a:solidFill>
                        <a:srgbClr val="F6F8FC"/>
                      </a:solidFill>
                      <a:prstDash val="solid"/>
                    </a:lnL>
                    <a:lnR w="6668">
                      <a:solidFill>
                        <a:srgbClr val="F6F8FC"/>
                      </a:solidFill>
                      <a:prstDash val="solid"/>
                    </a:lnR>
                    <a:lnT w="6668">
                      <a:solidFill>
                        <a:srgbClr val="F6F8FC"/>
                      </a:solidFill>
                      <a:prstDash val="solid"/>
                    </a:lnT>
                    <a:lnB w="6668">
                      <a:solidFill>
                        <a:srgbClr val="F6F8FC"/>
                      </a:solidFill>
                      <a:prstDash val="solid"/>
                    </a:lnB>
                    <a:solidFill>
                      <a:srgbClr val="101F3C"/>
                    </a:solidFill>
                  </a:tcPr>
                </a:tc>
                <a:tc>
                  <a:txBody>
                    <a:bodyPr lIns="133350" tIns="133350" rIns="133350" bIns="95250"/>
                    <a:lstStyle/>
                    <a:p>
                      <a:r>
                        <a:rPr sz="1875" b="1">
                          <a:solidFill>
                            <a:srgbClr val="FFFFFF"/>
                          </a:solidFill>
                          <a:latin typeface="Arial"/>
                          <a:ea typeface="Arial"/>
                          <a:cs typeface="Arial"/>
                        </a:rPr>
                        <a:t>Employee</a:t>
                      </a:r>
                    </a:p>
                  </a:txBody>
                  <a:tcPr marL="91440" marR="91440" marT="45720" marB="45720" anchor="ctr">
                    <a:lnR w="6668">
                      <a:solidFill>
                        <a:srgbClr val="F6F8FC"/>
                      </a:solidFill>
                      <a:prstDash val="solid"/>
                    </a:lnR>
                    <a:lnT w="6668">
                      <a:solidFill>
                        <a:srgbClr val="F6F8FC"/>
                      </a:solidFill>
                      <a:prstDash val="solid"/>
                    </a:lnT>
                    <a:lnB w="6668">
                      <a:solidFill>
                        <a:srgbClr val="F6F8FC"/>
                      </a:solidFill>
                      <a:prstDash val="solid"/>
                    </a:lnB>
                    <a:solidFill>
                      <a:srgbClr val="101F3C"/>
                    </a:solidFill>
                  </a:tcPr>
                </a:tc>
                <a:tc>
                  <a:txBody>
                    <a:bodyPr lIns="133350" tIns="133350" rIns="133350" bIns="95250"/>
                    <a:lstStyle/>
                    <a:p>
                      <a:r>
                        <a:rPr sz="1875" b="1">
                          <a:solidFill>
                            <a:srgbClr val="FFFFFF"/>
                          </a:solidFill>
                          <a:latin typeface="Arial"/>
                          <a:ea typeface="Arial"/>
                          <a:cs typeface="Arial"/>
                        </a:rPr>
                        <a:t>Owner / admin</a:t>
                      </a:r>
                    </a:p>
                  </a:txBody>
                  <a:tcPr marL="91440" marR="91440" marT="45720" marB="45720" anchor="ctr">
                    <a:lnR w="6668">
                      <a:solidFill>
                        <a:srgbClr val="F6F8FC"/>
                      </a:solidFill>
                      <a:prstDash val="solid"/>
                    </a:lnR>
                    <a:lnT w="6668">
                      <a:solidFill>
                        <a:srgbClr val="F6F8FC"/>
                      </a:solidFill>
                      <a:prstDash val="solid"/>
                    </a:lnT>
                    <a:lnB w="6668">
                      <a:solidFill>
                        <a:srgbClr val="F6F8FC"/>
                      </a:solidFill>
                      <a:prstDash val="solid"/>
                    </a:lnB>
                    <a:solidFill>
                      <a:srgbClr val="101F3C"/>
                    </a:solidFill>
                  </a:tcPr>
                </a:tc>
              </a:tr>
              <a:tr h="733425">
                <a:tc>
                  <a:txBody>
                    <a:bodyPr lIns="133350" tIns="133350" rIns="133350" bIns="95250"/>
                    <a:lstStyle/>
                    <a:p>
                      <a:r>
                        <a:rPr sz="1875" b="0">
                          <a:solidFill>
                            <a:srgbClr val="13243F"/>
                          </a:solidFill>
                          <a:latin typeface="Arial"/>
                          <a:ea typeface="Arial"/>
                          <a:cs typeface="Arial"/>
                        </a:rPr>
                        <a:t>Read assigned-shop finance</a:t>
                      </a:r>
                    </a:p>
                  </a:txBody>
                  <a:tcPr marL="91440" marR="91440" marT="45720" marB="45720" anchor="ctr">
                    <a:lnL w="6668">
                      <a:solidFill>
                        <a:srgbClr val="F6F8FC"/>
                      </a:solidFill>
                      <a:prstDash val="solid"/>
                    </a:lnL>
                    <a:lnR w="6668">
                      <a:solidFill>
                        <a:srgbClr val="F6F8FC"/>
                      </a:solidFill>
                      <a:prstDash val="solid"/>
                    </a:lnR>
                    <a:lnB w="6668">
                      <a:solidFill>
                        <a:srgbClr val="F6F8FC"/>
                      </a:solidFill>
                      <a:prstDash val="solid"/>
                    </a:lnB>
                    <a:solidFill>
                      <a:srgbClr val="FFFFFF"/>
                    </a:solidFill>
                  </a:tcPr>
                </a:tc>
                <a:tc>
                  <a:txBody>
                    <a:bodyPr lIns="133350" tIns="133350" rIns="133350" bIns="95250"/>
                    <a:lstStyle/>
                    <a:p>
                      <a:r>
                        <a:rPr sz="1875" b="0">
                          <a:solidFill>
                            <a:srgbClr val="13243F"/>
                          </a:solidFill>
                          <a:latin typeface="Arial"/>
                          <a:ea typeface="Arial"/>
                          <a:cs typeface="Arial"/>
                        </a:rPr>
                        <a:t>Allowed</a:t>
                      </a:r>
                    </a:p>
                  </a:txBody>
                  <a:tcPr marL="91440" marR="91440" marT="45720" marB="45720" anchor="ctr">
                    <a:lnR w="6668">
                      <a:solidFill>
                        <a:srgbClr val="F6F8FC"/>
                      </a:solidFill>
                      <a:prstDash val="solid"/>
                    </a:lnR>
                    <a:lnB w="6668">
                      <a:solidFill>
                        <a:srgbClr val="F6F8FC"/>
                      </a:solidFill>
                      <a:prstDash val="solid"/>
                    </a:lnB>
                    <a:solidFill>
                      <a:srgbClr val="FFFFFF"/>
                    </a:solidFill>
                  </a:tcPr>
                </a:tc>
                <a:tc>
                  <a:txBody>
                    <a:bodyPr lIns="133350" tIns="133350" rIns="133350" bIns="95250"/>
                    <a:lstStyle/>
                    <a:p>
                      <a:r>
                        <a:rPr sz="1875" b="0">
                          <a:solidFill>
                            <a:srgbClr val="13243F"/>
                          </a:solidFill>
                          <a:latin typeface="Arial"/>
                          <a:ea typeface="Arial"/>
                          <a:cs typeface="Arial"/>
                        </a:rPr>
                        <a:t>Allowed</a:t>
                      </a:r>
                    </a:p>
                  </a:txBody>
                  <a:tcPr marL="91440" marR="91440" marT="45720" marB="45720" anchor="ctr">
                    <a:lnR w="6668">
                      <a:solidFill>
                        <a:srgbClr val="F6F8FC"/>
                      </a:solidFill>
                      <a:prstDash val="solid"/>
                    </a:lnR>
                    <a:lnB w="6668">
                      <a:solidFill>
                        <a:srgbClr val="F6F8FC"/>
                      </a:solidFill>
                      <a:prstDash val="solid"/>
                    </a:lnB>
                    <a:solidFill>
                      <a:srgbClr val="FFFFFF"/>
                    </a:solidFill>
                  </a:tcPr>
                </a:tc>
              </a:tr>
              <a:tr h="733425">
                <a:tc>
                  <a:txBody>
                    <a:bodyPr lIns="133350" tIns="133350" rIns="133350" bIns="95250"/>
                    <a:lstStyle/>
                    <a:p>
                      <a:r>
                        <a:rPr sz="1875" b="0">
                          <a:solidFill>
                            <a:srgbClr val="13243F"/>
                          </a:solidFill>
                          <a:latin typeface="Arial"/>
                          <a:ea typeface="Arial"/>
                          <a:cs typeface="Arial"/>
                        </a:rPr>
                        <a:t>Acknowledge or dismiss alerts</a:t>
                      </a:r>
                    </a:p>
                  </a:txBody>
                  <a:tcPr marL="91440" marR="91440" marT="45720" marB="45720" anchor="ctr">
                    <a:lnL w="6668">
                      <a:solidFill>
                        <a:srgbClr val="F6F8FC"/>
                      </a:solidFill>
                      <a:prstDash val="solid"/>
                    </a:lnL>
                    <a:lnR w="6668">
                      <a:solidFill>
                        <a:srgbClr val="F6F8FC"/>
                      </a:solidFill>
                      <a:prstDash val="solid"/>
                    </a:lnR>
                    <a:lnB w="6668">
                      <a:solidFill>
                        <a:srgbClr val="F6F8FC"/>
                      </a:solidFill>
                      <a:prstDash val="solid"/>
                    </a:lnB>
                    <a:solidFill>
                      <a:srgbClr val="EDF2F9"/>
                    </a:solidFill>
                  </a:tcPr>
                </a:tc>
                <a:tc>
                  <a:txBody>
                    <a:bodyPr lIns="133350" tIns="133350" rIns="133350" bIns="95250"/>
                    <a:lstStyle/>
                    <a:p>
                      <a:r>
                        <a:rPr sz="1875" b="0">
                          <a:solidFill>
                            <a:srgbClr val="13243F"/>
                          </a:solidFill>
                          <a:latin typeface="Arial"/>
                          <a:ea typeface="Arial"/>
                          <a:cs typeface="Arial"/>
                        </a:rPr>
                        <a:t>Allowed</a:t>
                      </a:r>
                    </a:p>
                  </a:txBody>
                  <a:tcPr marL="91440" marR="91440" marT="45720" marB="45720" anchor="ctr">
                    <a:lnR w="6668">
                      <a:solidFill>
                        <a:srgbClr val="F6F8FC"/>
                      </a:solidFill>
                      <a:prstDash val="solid"/>
                    </a:lnR>
                    <a:lnB w="6668">
                      <a:solidFill>
                        <a:srgbClr val="F6F8FC"/>
                      </a:solidFill>
                      <a:prstDash val="solid"/>
                    </a:lnB>
                    <a:solidFill>
                      <a:srgbClr val="EDF2F9"/>
                    </a:solidFill>
                  </a:tcPr>
                </a:tc>
                <a:tc>
                  <a:txBody>
                    <a:bodyPr lIns="133350" tIns="133350" rIns="133350" bIns="95250"/>
                    <a:lstStyle/>
                    <a:p>
                      <a:r>
                        <a:rPr sz="1875" b="0">
                          <a:solidFill>
                            <a:srgbClr val="13243F"/>
                          </a:solidFill>
                          <a:latin typeface="Arial"/>
                          <a:ea typeface="Arial"/>
                          <a:cs typeface="Arial"/>
                        </a:rPr>
                        <a:t>Allowed</a:t>
                      </a:r>
                    </a:p>
                  </a:txBody>
                  <a:tcPr marL="91440" marR="91440" marT="45720" marB="45720" anchor="ctr">
                    <a:lnR w="6668">
                      <a:solidFill>
                        <a:srgbClr val="F6F8FC"/>
                      </a:solidFill>
                      <a:prstDash val="solid"/>
                    </a:lnR>
                    <a:lnB w="6668">
                      <a:solidFill>
                        <a:srgbClr val="F6F8FC"/>
                      </a:solidFill>
                      <a:prstDash val="solid"/>
                    </a:lnB>
                    <a:solidFill>
                      <a:srgbClr val="EDF2F9"/>
                    </a:solidFill>
                  </a:tcPr>
                </a:tc>
              </a:tr>
              <a:tr h="733425">
                <a:tc>
                  <a:txBody>
                    <a:bodyPr lIns="133350" tIns="133350" rIns="133350" bIns="95250"/>
                    <a:lstStyle/>
                    <a:p>
                      <a:r>
                        <a:rPr sz="1875" b="0">
                          <a:solidFill>
                            <a:srgbClr val="13243F"/>
                          </a:solidFill>
                          <a:latin typeface="Arial"/>
                          <a:ea typeface="Arial"/>
                          <a:cs typeface="Arial"/>
                        </a:rPr>
                        <a:t>Change mandates and run agents</a:t>
                      </a:r>
                    </a:p>
                  </a:txBody>
                  <a:tcPr marL="91440" marR="91440" marT="45720" marB="45720" anchor="ctr">
                    <a:lnL w="6668">
                      <a:solidFill>
                        <a:srgbClr val="F6F8FC"/>
                      </a:solidFill>
                      <a:prstDash val="solid"/>
                    </a:lnL>
                    <a:lnR w="6668">
                      <a:solidFill>
                        <a:srgbClr val="F6F8FC"/>
                      </a:solidFill>
                      <a:prstDash val="solid"/>
                    </a:lnR>
                    <a:lnB w="6668">
                      <a:solidFill>
                        <a:srgbClr val="F6F8FC"/>
                      </a:solidFill>
                      <a:prstDash val="solid"/>
                    </a:lnB>
                    <a:solidFill>
                      <a:srgbClr val="FFFFFF"/>
                    </a:solidFill>
                  </a:tcPr>
                </a:tc>
                <a:tc>
                  <a:txBody>
                    <a:bodyPr lIns="133350" tIns="133350" rIns="133350" bIns="95250"/>
                    <a:lstStyle/>
                    <a:p>
                      <a:r>
                        <a:rPr sz="1875" b="0">
                          <a:solidFill>
                            <a:srgbClr val="13243F"/>
                          </a:solidFill>
                          <a:latin typeface="Arial"/>
                          <a:ea typeface="Arial"/>
                          <a:cs typeface="Arial"/>
                        </a:rPr>
                        <a:t>Denied</a:t>
                      </a:r>
                    </a:p>
                  </a:txBody>
                  <a:tcPr marL="91440" marR="91440" marT="45720" marB="45720" anchor="ctr">
                    <a:lnR w="6668">
                      <a:solidFill>
                        <a:srgbClr val="F6F8FC"/>
                      </a:solidFill>
                      <a:prstDash val="solid"/>
                    </a:lnR>
                    <a:lnB w="6668">
                      <a:solidFill>
                        <a:srgbClr val="F6F8FC"/>
                      </a:solidFill>
                      <a:prstDash val="solid"/>
                    </a:lnB>
                    <a:solidFill>
                      <a:srgbClr val="FFFFFF"/>
                    </a:solidFill>
                  </a:tcPr>
                </a:tc>
                <a:tc>
                  <a:txBody>
                    <a:bodyPr lIns="133350" tIns="133350" rIns="133350" bIns="95250"/>
                    <a:lstStyle/>
                    <a:p>
                      <a:r>
                        <a:rPr sz="1875" b="0">
                          <a:solidFill>
                            <a:srgbClr val="13243F"/>
                          </a:solidFill>
                          <a:latin typeface="Arial"/>
                          <a:ea typeface="Arial"/>
                          <a:cs typeface="Arial"/>
                        </a:rPr>
                        <a:t>Allowed</a:t>
                      </a:r>
                    </a:p>
                  </a:txBody>
                  <a:tcPr marL="91440" marR="91440" marT="45720" marB="45720" anchor="ctr">
                    <a:lnR w="6668">
                      <a:solidFill>
                        <a:srgbClr val="F6F8FC"/>
                      </a:solidFill>
                      <a:prstDash val="solid"/>
                    </a:lnR>
                    <a:lnB w="6668">
                      <a:solidFill>
                        <a:srgbClr val="F6F8FC"/>
                      </a:solidFill>
                      <a:prstDash val="solid"/>
                    </a:lnB>
                    <a:solidFill>
                      <a:srgbClr val="FFFFFF"/>
                    </a:solidFill>
                  </a:tcPr>
                </a:tc>
              </a:tr>
              <a:tr h="733425">
                <a:tc>
                  <a:txBody>
                    <a:bodyPr lIns="133350" tIns="133350" rIns="133350" bIns="95250"/>
                    <a:lstStyle/>
                    <a:p>
                      <a:r>
                        <a:rPr sz="1875" b="0">
                          <a:solidFill>
                            <a:srgbClr val="13243F"/>
                          </a:solidFill>
                          <a:latin typeface="Arial"/>
                          <a:ea typeface="Arial"/>
                          <a:cs typeface="Arial"/>
                        </a:rPr>
                        <a:t>Accept offers or approve plans</a:t>
                      </a:r>
                    </a:p>
                  </a:txBody>
                  <a:tcPr marL="91440" marR="91440" marT="45720" marB="45720" anchor="ctr">
                    <a:lnL w="6668">
                      <a:solidFill>
                        <a:srgbClr val="F6F8FC"/>
                      </a:solidFill>
                      <a:prstDash val="solid"/>
                    </a:lnL>
                    <a:lnR w="6668">
                      <a:solidFill>
                        <a:srgbClr val="F6F8FC"/>
                      </a:solidFill>
                      <a:prstDash val="solid"/>
                    </a:lnR>
                    <a:lnB w="6668">
                      <a:solidFill>
                        <a:srgbClr val="F6F8FC"/>
                      </a:solidFill>
                      <a:prstDash val="solid"/>
                    </a:lnB>
                    <a:solidFill>
                      <a:srgbClr val="EDF2F9"/>
                    </a:solidFill>
                  </a:tcPr>
                </a:tc>
                <a:tc>
                  <a:txBody>
                    <a:bodyPr lIns="133350" tIns="133350" rIns="133350" bIns="95250"/>
                    <a:lstStyle/>
                    <a:p>
                      <a:r>
                        <a:rPr sz="1875" b="0">
                          <a:solidFill>
                            <a:srgbClr val="13243F"/>
                          </a:solidFill>
                          <a:latin typeface="Arial"/>
                          <a:ea typeface="Arial"/>
                          <a:cs typeface="Arial"/>
                        </a:rPr>
                        <a:t>Denied</a:t>
                      </a:r>
                    </a:p>
                  </a:txBody>
                  <a:tcPr marL="91440" marR="91440" marT="45720" marB="45720" anchor="ctr">
                    <a:lnR w="6668">
                      <a:solidFill>
                        <a:srgbClr val="F6F8FC"/>
                      </a:solidFill>
                      <a:prstDash val="solid"/>
                    </a:lnR>
                    <a:lnB w="6668">
                      <a:solidFill>
                        <a:srgbClr val="F6F8FC"/>
                      </a:solidFill>
                      <a:prstDash val="solid"/>
                    </a:lnB>
                    <a:solidFill>
                      <a:srgbClr val="EDF2F9"/>
                    </a:solidFill>
                  </a:tcPr>
                </a:tc>
                <a:tc>
                  <a:txBody>
                    <a:bodyPr lIns="133350" tIns="133350" rIns="133350" bIns="95250"/>
                    <a:lstStyle/>
                    <a:p>
                      <a:r>
                        <a:rPr sz="1875" b="0">
                          <a:solidFill>
                            <a:srgbClr val="13243F"/>
                          </a:solidFill>
                          <a:latin typeface="Arial"/>
                          <a:ea typeface="Arial"/>
                          <a:cs typeface="Arial"/>
                        </a:rPr>
                        <a:t>Allowed</a:t>
                      </a:r>
                    </a:p>
                  </a:txBody>
                  <a:tcPr marL="91440" marR="91440" marT="45720" marB="45720" anchor="ctr">
                    <a:lnR w="6668">
                      <a:solidFill>
                        <a:srgbClr val="F6F8FC"/>
                      </a:solidFill>
                      <a:prstDash val="solid"/>
                    </a:lnR>
                    <a:lnB w="6668">
                      <a:solidFill>
                        <a:srgbClr val="F6F8FC"/>
                      </a:solidFill>
                      <a:prstDash val="solid"/>
                    </a:lnB>
                    <a:solidFill>
                      <a:srgbClr val="EDF2F9"/>
                    </a:solidFill>
                  </a:tcPr>
                </a:tc>
              </a:tr>
            </a:tbl>
          </a:graphicData>
        </a:graphic>
      </p:graphicFrame>
      <p:sp>
        <p:nvSpPr>
          <p:cNvPr id="5" name="Backend checks">
            <a:extLst xmlns:a="http://schemas.openxmlformats.org/drawingml/2006/main">
              <a:ext uri="{FF2B5EF4-FFF2-40B4-BE49-F238E27FC236}">
                <a16:creationId xmlns:a16="http://schemas.microsoft.com/office/drawing/2014/main" id="{25CF9C8B-4B36-418F-B361-398FF3DB3B06}"/>
              </a:ext>
            </a:extLst>
          </p:cNvPr>
          <p:cNvSpPr>
            <a:spLocks xmlns:a="http://schemas.openxmlformats.org/drawingml/2006/main" noGrp="1"/>
          </p:cNvSpPr>
          <p:nvPr/>
        </p:nvSpPr>
        <p:spPr>
          <a:xfrm xmlns:a="http://schemas.openxmlformats.org/drawingml/2006/main">
            <a:off x="10382250" y="2667000"/>
            <a:ext cx="4171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3243F"/>
                </a:solidFill>
                <a:latin typeface="Arial"/>
                <a:ea typeface="Arial"/>
                <a:cs typeface="Arial"/>
              </a:defRPr>
            </a:defPPr>
          </a:lstStyle>
          <a:p xmlns:a="http://schemas.openxmlformats.org/drawingml/2006/main">
            <a:pPr algn="l">
              <a:defRPr sz="2400" b="1">
                <a:solidFill>
                  <a:srgbClr val="13243F"/>
                </a:solidFill>
                <a:latin typeface="Arial"/>
                <a:ea typeface="Arial"/>
                <a:cs typeface="Arial"/>
              </a:defRPr>
            </a:pPr>
            <a:r>
              <a:rPr sz="2400" b="1">
                <a:solidFill>
                  <a:srgbClr val="13243F"/>
                </a:solidFill>
                <a:latin typeface="Arial"/>
                <a:ea typeface="Arial"/>
                <a:cs typeface="Arial"/>
              </a:rPr>
              <a:t>Backend checks</a:t>
            </a:r>
          </a:p>
        </p:txBody>
      </p:sp>
      <p:sp>
        <p:nvSpPr>
          <p:cNvPr id="6" name="Token, role, tenant membership and employee shop assignment.">
            <a:extLst xmlns:a="http://schemas.openxmlformats.org/drawingml/2006/main">
              <a:ext uri="{FF2B5EF4-FFF2-40B4-BE49-F238E27FC236}">
                <a16:creationId xmlns:a16="http://schemas.microsoft.com/office/drawing/2014/main" id="{CDDB9685-7736-48D5-8338-A4CAFD0B8AD2}"/>
              </a:ext>
            </a:extLst>
          </p:cNvPr>
          <p:cNvSpPr>
            <a:spLocks xmlns:a="http://schemas.openxmlformats.org/drawingml/2006/main" noGrp="1"/>
          </p:cNvSpPr>
          <p:nvPr/>
        </p:nvSpPr>
        <p:spPr>
          <a:xfrm xmlns:a="http://schemas.openxmlformats.org/drawingml/2006/main">
            <a:off x="10382250" y="3200400"/>
            <a:ext cx="41719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37089"/>
                </a:solidFill>
                <a:latin typeface="Arial"/>
                <a:ea typeface="Arial"/>
                <a:cs typeface="Arial"/>
              </a:defRPr>
            </a:defPPr>
          </a:lstStyle>
          <a:p xmlns:a="http://schemas.openxmlformats.org/drawingml/2006/main">
            <a:pPr algn="l">
              <a:defRPr sz="2100" b="0">
                <a:solidFill>
                  <a:srgbClr val="637089"/>
                </a:solidFill>
                <a:latin typeface="Arial"/>
                <a:ea typeface="Arial"/>
                <a:cs typeface="Arial"/>
              </a:defRPr>
            </a:pPr>
            <a:r>
              <a:rPr sz="2100" b="0">
                <a:solidFill>
                  <a:srgbClr val="637089"/>
                </a:solidFill>
                <a:latin typeface="Arial"/>
                <a:ea typeface="Arial"/>
                <a:cs typeface="Arial"/>
              </a:rPr>
              <a:t>Token, role, tenant membership</a:t>
            </a:r>
          </a:p>
          <a:p xmlns:a="http://schemas.openxmlformats.org/drawingml/2006/main">
            <a:pPr algn="l">
              <a:defRPr sz="2100" b="0">
                <a:solidFill>
                  <a:srgbClr val="637089"/>
                </a:solidFill>
                <a:latin typeface="Arial"/>
                <a:ea typeface="Arial"/>
                <a:cs typeface="Arial"/>
              </a:defRPr>
            </a:pPr>
            <a:r>
              <a:rPr sz="2100" b="0">
                <a:solidFill>
                  <a:srgbClr val="637089"/>
                </a:solidFill>
                <a:latin typeface="Arial"/>
                <a:ea typeface="Arial"/>
                <a:cs typeface="Arial"/>
              </a:rPr>
              <a:t>and employee shop assignment.</a:t>
            </a:r>
          </a:p>
        </p:txBody>
      </p:sp>
      <p:sp>
        <p:nvSpPr>
          <p:cNvPr id="7" name="Financial safeguards">
            <a:extLst xmlns:a="http://schemas.openxmlformats.org/drawingml/2006/main">
              <a:ext uri="{FF2B5EF4-FFF2-40B4-BE49-F238E27FC236}">
                <a16:creationId xmlns:a16="http://schemas.microsoft.com/office/drawing/2014/main" id="{C13BED71-7CFA-47E0-81F3-CB53EB1BD2B9}"/>
              </a:ext>
            </a:extLst>
          </p:cNvPr>
          <p:cNvSpPr>
            <a:spLocks xmlns:a="http://schemas.openxmlformats.org/drawingml/2006/main" noGrp="1"/>
          </p:cNvSpPr>
          <p:nvPr/>
        </p:nvSpPr>
        <p:spPr>
          <a:xfrm xmlns:a="http://schemas.openxmlformats.org/drawingml/2006/main">
            <a:off x="10382250" y="4467225"/>
            <a:ext cx="4171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3243F"/>
                </a:solidFill>
                <a:latin typeface="Arial"/>
                <a:ea typeface="Arial"/>
                <a:cs typeface="Arial"/>
              </a:defRPr>
            </a:defPPr>
          </a:lstStyle>
          <a:p xmlns:a="http://schemas.openxmlformats.org/drawingml/2006/main">
            <a:pPr algn="l">
              <a:defRPr sz="2400" b="1">
                <a:solidFill>
                  <a:srgbClr val="13243F"/>
                </a:solidFill>
                <a:latin typeface="Arial"/>
                <a:ea typeface="Arial"/>
                <a:cs typeface="Arial"/>
              </a:defRPr>
            </a:pPr>
            <a:r>
              <a:rPr sz="2400" b="1">
                <a:solidFill>
                  <a:srgbClr val="13243F"/>
                </a:solidFill>
                <a:latin typeface="Arial"/>
                <a:ea typeface="Arial"/>
                <a:cs typeface="Arial"/>
              </a:rPr>
              <a:t>Financial safeguards</a:t>
            </a:r>
          </a:p>
        </p:txBody>
      </p:sp>
      <p:sp>
        <p:nvSpPr>
          <p:cNvPr id="8" name="Scoped references, allowed IDs and transactional state chang">
            <a:extLst xmlns:a="http://schemas.openxmlformats.org/drawingml/2006/main">
              <a:ext uri="{FF2B5EF4-FFF2-40B4-BE49-F238E27FC236}">
                <a16:creationId xmlns:a16="http://schemas.microsoft.com/office/drawing/2014/main" id="{17672B7D-5E57-4971-A008-CA0614CE51E6}"/>
              </a:ext>
            </a:extLst>
          </p:cNvPr>
          <p:cNvSpPr>
            <a:spLocks xmlns:a="http://schemas.openxmlformats.org/drawingml/2006/main" noGrp="1"/>
          </p:cNvSpPr>
          <p:nvPr/>
        </p:nvSpPr>
        <p:spPr>
          <a:xfrm xmlns:a="http://schemas.openxmlformats.org/drawingml/2006/main">
            <a:off x="10382250" y="5000625"/>
            <a:ext cx="41719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37089"/>
                </a:solidFill>
                <a:latin typeface="Arial"/>
                <a:ea typeface="Arial"/>
                <a:cs typeface="Arial"/>
              </a:defRPr>
            </a:defPPr>
          </a:lstStyle>
          <a:p xmlns:a="http://schemas.openxmlformats.org/drawingml/2006/main">
            <a:pPr algn="l">
              <a:defRPr sz="2100" b="0">
                <a:solidFill>
                  <a:srgbClr val="637089"/>
                </a:solidFill>
                <a:latin typeface="Arial"/>
                <a:ea typeface="Arial"/>
                <a:cs typeface="Arial"/>
              </a:defRPr>
            </a:pPr>
            <a:r>
              <a:rPr sz="2100" b="0">
                <a:solidFill>
                  <a:srgbClr val="637089"/>
                </a:solidFill>
                <a:latin typeface="Arial"/>
                <a:ea typeface="Arial"/>
                <a:cs typeface="Arial"/>
              </a:rPr>
              <a:t>Scoped references, allowed IDs</a:t>
            </a:r>
          </a:p>
          <a:p xmlns:a="http://schemas.openxmlformats.org/drawingml/2006/main">
            <a:pPr algn="l">
              <a:defRPr sz="2100" b="0">
                <a:solidFill>
                  <a:srgbClr val="637089"/>
                </a:solidFill>
                <a:latin typeface="Arial"/>
                <a:ea typeface="Arial"/>
                <a:cs typeface="Arial"/>
              </a:defRPr>
            </a:pPr>
            <a:r>
              <a:rPr sz="2100" b="0">
                <a:solidFill>
                  <a:srgbClr val="637089"/>
                </a:solidFill>
                <a:latin typeface="Arial"/>
                <a:ea typeface="Arial"/>
                <a:cs typeface="Arial"/>
              </a:rPr>
              <a:t>and transactional state changes.</a:t>
            </a:r>
          </a:p>
        </p:txBody>
      </p:sp>
      <p:sp>
        <p:nvSpPr>
          <p:cNvPr id="9" name="Remaining risks">
            <a:extLst xmlns:a="http://schemas.openxmlformats.org/drawingml/2006/main">
              <a:ext uri="{FF2B5EF4-FFF2-40B4-BE49-F238E27FC236}">
                <a16:creationId xmlns:a16="http://schemas.microsoft.com/office/drawing/2014/main" id="{6CE3D6B5-3585-4EB8-977D-6516A2F1B703}"/>
              </a:ext>
            </a:extLst>
          </p:cNvPr>
          <p:cNvSpPr>
            <a:spLocks xmlns:a="http://schemas.openxmlformats.org/drawingml/2006/main" noGrp="1"/>
          </p:cNvSpPr>
          <p:nvPr/>
        </p:nvSpPr>
        <p:spPr>
          <a:xfrm xmlns:a="http://schemas.openxmlformats.org/drawingml/2006/main">
            <a:off x="723900" y="6715125"/>
            <a:ext cx="137922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3243F"/>
                </a:solidFill>
                <a:latin typeface="Arial"/>
                <a:ea typeface="Arial"/>
                <a:cs typeface="Arial"/>
              </a:defRPr>
            </a:defPPr>
          </a:lstStyle>
          <a:p xmlns:a="http://schemas.openxmlformats.org/drawingml/2006/main">
            <a:pPr algn="l">
              <a:defRPr sz="2325" b="1">
                <a:solidFill>
                  <a:srgbClr val="13243F"/>
                </a:solidFill>
                <a:latin typeface="Arial"/>
                <a:ea typeface="Arial"/>
                <a:cs typeface="Arial"/>
              </a:defRPr>
            </a:pPr>
            <a:r>
              <a:rPr sz="2325" b="1">
                <a:solidFill>
                  <a:srgbClr val="13243F"/>
                </a:solidFill>
                <a:latin typeface="Arial"/>
                <a:ea typeface="Arial"/>
                <a:cs typeface="Arial"/>
              </a:rPr>
              <a:t>Remaining risks</a:t>
            </a:r>
          </a:p>
        </p:txBody>
      </p:sp>
      <p:sp>
        <p:nvSpPr>
          <p:cNvPr id="10" name="Browser token storage, incomplete redaction, audit gaps and ">
            <a:extLst xmlns:a="http://schemas.openxmlformats.org/drawingml/2006/main">
              <a:ext uri="{FF2B5EF4-FFF2-40B4-BE49-F238E27FC236}">
                <a16:creationId xmlns:a16="http://schemas.microsoft.com/office/drawing/2014/main" id="{0D5B0BDA-FF13-4A01-A48A-31AB6D90AC94}"/>
              </a:ext>
            </a:extLst>
          </p:cNvPr>
          <p:cNvSpPr>
            <a:spLocks xmlns:a="http://schemas.openxmlformats.org/drawingml/2006/main" noGrp="1"/>
          </p:cNvSpPr>
          <p:nvPr/>
        </p:nvSpPr>
        <p:spPr>
          <a:xfrm xmlns:a="http://schemas.openxmlformats.org/drawingml/2006/main">
            <a:off x="723900" y="7277100"/>
            <a:ext cx="13668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637089"/>
                </a:solidFill>
                <a:latin typeface="Arial"/>
                <a:ea typeface="Arial"/>
                <a:cs typeface="Arial"/>
              </a:defRPr>
            </a:defPPr>
          </a:lstStyle>
          <a:p xmlns:a="http://schemas.openxmlformats.org/drawingml/2006/main">
            <a:pPr algn="l">
              <a:defRPr sz="2025" b="0">
                <a:solidFill>
                  <a:srgbClr val="637089"/>
                </a:solidFill>
                <a:latin typeface="Arial"/>
                <a:ea typeface="Arial"/>
                <a:cs typeface="Arial"/>
              </a:defRPr>
            </a:pPr>
            <a:r>
              <a:rPr sz="2025" b="0">
                <a:solidFill>
                  <a:srgbClr val="637089"/>
                </a:solidFill>
                <a:latin typeface="Arial"/>
                <a:ea typeface="Arial"/>
                <a:cs typeface="Arial"/>
              </a:rPr>
              <a:t>Browser token storage, incomplete redaction, audit gaps and unverified restore capability need further work.</a:t>
            </a:r>
          </a:p>
        </p:txBody>
      </p:sp>
    </p:spTree>
    <p:extLst>
      <p:ext uri="{BB962C8B-B14F-4D97-AF65-F5344CB8AC3E}">
        <p14:creationId xmlns:p14="http://schemas.microsoft.com/office/powerpoint/2010/main" val="723493749"/>
      </p:ext>
    </p:extLst>
  </p:cSld>
</p:sld>
</file>

<file path=ppt/slides/slide16.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3" name="BizWizard">
            <a:extLst xmlns:a="http://schemas.openxmlformats.org/drawingml/2006/main">
              <a:ext uri="{FF2B5EF4-FFF2-40B4-BE49-F238E27FC236}">
                <a16:creationId xmlns:a16="http://schemas.microsoft.com/office/drawing/2014/main" id="{B1E2ABB9-18C1-4830-84C4-7E0616DC4B98}"/>
              </a:ext>
            </a:extLst>
          </p:cNvPr>
          <p:cNvSpPr>
            <a:spLocks xmlns:a="http://schemas.openxmlformats.org/drawingml/2006/main" noGrp="1"/>
          </p:cNvSpPr>
          <p:nvPr/>
        </p:nvSpPr>
        <p:spPr>
          <a:xfrm xmlns:a="http://schemas.openxmlformats.org/drawingml/2006/main">
            <a:off x="685800" y="3238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01F3C"/>
                </a:solidFill>
                <a:latin typeface="Arial"/>
                <a:ea typeface="Arial"/>
                <a:cs typeface="Arial"/>
              </a:defRPr>
            </a:defPPr>
          </a:lstStyle>
          <a:p xmlns:a="http://schemas.openxmlformats.org/drawingml/2006/main">
            <a:pPr algn="l">
              <a:defRPr sz="1575" b="1">
                <a:solidFill>
                  <a:srgbClr val="101F3C"/>
                </a:solidFill>
                <a:latin typeface="Arial"/>
                <a:ea typeface="Arial"/>
                <a:cs typeface="Arial"/>
              </a:defRPr>
            </a:pPr>
            <a:r>
              <a:rPr sz="1575" b="1">
                <a:solidFill>
                  <a:srgbClr val="101F3C"/>
                </a:solidFill>
                <a:latin typeface="Arial"/>
                <a:ea typeface="Arial"/>
                <a:cs typeface="Arial"/>
              </a:rPr>
              <a:t>BizWizard</a:t>
            </a:r>
          </a:p>
        </p:txBody>
      </p:sp>
      <p:sp>
        <p:nvSpPr>
          <p:cNvPr id="2" name="16">
            <a:extLst xmlns:a="http://schemas.openxmlformats.org/drawingml/2006/main">
              <a:ext uri="{FF2B5EF4-FFF2-40B4-BE49-F238E27FC236}">
                <a16:creationId xmlns:a16="http://schemas.microsoft.com/office/drawing/2014/main" id="{5FD279A4-DC14-4DD9-A775-879918757BE1}"/>
              </a:ext>
            </a:extLst>
          </p:cNvPr>
          <p:cNvSpPr>
            <a:spLocks xmlns:a="http://schemas.openxmlformats.org/drawingml/2006/main" noGrp="1"/>
          </p:cNvSpPr>
          <p:nvPr/>
        </p:nvSpPr>
        <p:spPr>
          <a:xfrm xmlns:a="http://schemas.openxmlformats.org/drawingml/2006/main">
            <a:off x="12573000" y="323850"/>
            <a:ext cx="198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37089"/>
                </a:solidFill>
                <a:latin typeface="Arial"/>
                <a:ea typeface="Arial"/>
                <a:cs typeface="Arial"/>
              </a:defRPr>
            </a:defPPr>
          </a:lstStyle>
          <a:p xmlns:a="http://schemas.openxmlformats.org/drawingml/2006/main">
            <a:pPr algn="r">
              <a:defRPr sz="1425" b="0">
                <a:solidFill>
                  <a:srgbClr val="637089"/>
                </a:solidFill>
                <a:latin typeface="Arial"/>
                <a:ea typeface="Arial"/>
                <a:cs typeface="Arial"/>
              </a:defRPr>
            </a:pPr>
            <a:r>
              <a:rPr sz="1425" b="0">
                <a:solidFill>
                  <a:srgbClr val="637089"/>
                </a:solidFill>
                <a:latin typeface="Arial"/>
                <a:ea typeface="Arial"/>
                <a:cs typeface="Arial"/>
              </a:rPr>
              <a:t>16</a:t>
            </a:r>
          </a:p>
        </p:txBody>
      </p:sp>
      <p:sp>
        <p:nvSpPr>
          <p:cNvPr id="3" name="Slide heading">
            <a:extLst xmlns:a="http://schemas.openxmlformats.org/drawingml/2006/main">
              <a:ext uri="{FF2B5EF4-FFF2-40B4-BE49-F238E27FC236}">
                <a16:creationId xmlns:a16="http://schemas.microsoft.com/office/drawing/2014/main" id="{7EF749D2-DC31-455E-853B-296564F45BB6}"/>
              </a:ext>
            </a:extLst>
          </p:cNvPr>
          <p:cNvSpPr>
            <a:spLocks xmlns:a="http://schemas.openxmlformats.org/drawingml/2006/main" noGrp="1"/>
          </p:cNvSpPr>
          <p:nvPr/>
        </p:nvSpPr>
        <p:spPr>
          <a:xfrm xmlns:a="http://schemas.openxmlformats.org/drawingml/2006/main">
            <a:off x="685800" y="1000125"/>
            <a:ext cx="138684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13243F"/>
                </a:solidFill>
                <a:latin typeface="Arial"/>
                <a:ea typeface="Arial"/>
                <a:cs typeface="Arial"/>
              </a:defRPr>
            </a:defPPr>
          </a:lstStyle>
          <a:p xmlns:a="http://schemas.openxmlformats.org/drawingml/2006/main">
            <a:pPr algn="l">
              <a:defRPr sz="4500" b="1">
                <a:solidFill>
                  <a:srgbClr val="13243F"/>
                </a:solidFill>
                <a:latin typeface="Arial"/>
                <a:ea typeface="Arial"/>
                <a:cs typeface="Arial"/>
              </a:defRPr>
            </a:pPr>
            <a:r>
              <a:rPr sz="4500" b="1">
                <a:solidFill>
                  <a:srgbClr val="13243F"/>
                </a:solidFill>
                <a:latin typeface="Arial"/>
                <a:ea typeface="Arial"/>
                <a:cs typeface="Arial"/>
              </a:rPr>
              <a:t>What the evidence shows</a:t>
            </a:r>
          </a:p>
        </p:txBody>
      </p:sp>
      <p:sp>
        <p:nvSpPr>
          <p:cNvPr id="4" name="Live AI versus pinned rules">
            <a:extLst xmlns:a="http://schemas.openxmlformats.org/drawingml/2006/main">
              <a:ext uri="{FF2B5EF4-FFF2-40B4-BE49-F238E27FC236}">
                <a16:creationId xmlns:a16="http://schemas.microsoft.com/office/drawing/2014/main" id="{BFA30149-D913-4F95-A84F-294D25A9938A}"/>
              </a:ext>
            </a:extLst>
          </p:cNvPr>
          <p:cNvSpPr>
            <a:spLocks xmlns:a="http://schemas.openxmlformats.org/drawingml/2006/main" noGrp="1"/>
          </p:cNvSpPr>
          <p:nvPr/>
        </p:nvSpPr>
        <p:spPr>
          <a:xfrm xmlns:a="http://schemas.openxmlformats.org/drawingml/2006/main">
            <a:off x="723900" y="2333625"/>
            <a:ext cx="9906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3243F"/>
                </a:solidFill>
                <a:latin typeface="Arial"/>
                <a:ea typeface="Arial"/>
                <a:cs typeface="Arial"/>
              </a:defRPr>
            </a:defPPr>
          </a:lstStyle>
          <a:p xmlns:a="http://schemas.openxmlformats.org/drawingml/2006/main">
            <a:pPr algn="l">
              <a:defRPr sz="2700" b="1">
                <a:solidFill>
                  <a:srgbClr val="13243F"/>
                </a:solidFill>
                <a:latin typeface="Arial"/>
                <a:ea typeface="Arial"/>
                <a:cs typeface="Arial"/>
              </a:defRPr>
            </a:pPr>
            <a:r>
              <a:rPr sz="2700" b="1">
                <a:solidFill>
                  <a:srgbClr val="13243F"/>
                </a:solidFill>
                <a:latin typeface="Arial"/>
                <a:ea typeface="Arial"/>
                <a:cs typeface="Arial"/>
              </a:rPr>
              <a:t>Live AI versus pinned rules</a:t>
            </a:r>
          </a:p>
        </p:txBody>
      </p:sp>
      <p:sp>
        <p:nvSpPr>
          <p:cNvPr id="5" name="Three synthetic risk cases across four roles">
            <a:extLst xmlns:a="http://schemas.openxmlformats.org/drawingml/2006/main">
              <a:ext uri="{FF2B5EF4-FFF2-40B4-BE49-F238E27FC236}">
                <a16:creationId xmlns:a16="http://schemas.microsoft.com/office/drawing/2014/main" id="{4D049267-01D1-426A-A65C-49050310E35E}"/>
              </a:ext>
            </a:extLst>
          </p:cNvPr>
          <p:cNvSpPr>
            <a:spLocks xmlns:a="http://schemas.openxmlformats.org/drawingml/2006/main" noGrp="1"/>
          </p:cNvSpPr>
          <p:nvPr/>
        </p:nvSpPr>
        <p:spPr>
          <a:xfrm xmlns:a="http://schemas.openxmlformats.org/drawingml/2006/main">
            <a:off x="723900" y="2886075"/>
            <a:ext cx="9810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37089"/>
                </a:solidFill>
                <a:latin typeface="Arial"/>
                <a:ea typeface="Arial"/>
                <a:cs typeface="Arial"/>
              </a:defRPr>
            </a:defPPr>
          </a:lstStyle>
          <a:p xmlns:a="http://schemas.openxmlformats.org/drawingml/2006/main">
            <a:pPr algn="l">
              <a:defRPr sz="1950" b="0">
                <a:solidFill>
                  <a:srgbClr val="637089"/>
                </a:solidFill>
                <a:latin typeface="Arial"/>
                <a:ea typeface="Arial"/>
                <a:cs typeface="Arial"/>
              </a:defRPr>
            </a:pPr>
            <a:r>
              <a:rPr sz="1950" b="0">
                <a:solidFill>
                  <a:srgbClr val="637089"/>
                </a:solidFill>
                <a:latin typeface="Arial"/>
                <a:ea typeface="Arial"/>
                <a:cs typeface="Arial"/>
              </a:rPr>
              <a:t>Three synthetic risk cases across four roles</a:t>
            </a:r>
          </a:p>
        </p:txBody>
      </p:sp>
      <p:graphicFrame>
        <p:nvGraphicFramePr>
          <p:cNvPr id="6" name="Chart">
            <a:extLst xmlns:a="http://schemas.openxmlformats.org/drawingml/2006/main">
              <a:ext uri="{FF2B5EF4-FFF2-40B4-BE49-F238E27FC236}">
                <a16:creationId xmlns:a16="http://schemas.microsoft.com/office/drawing/2014/main" id="{149EF843-049B-4145-B34C-3B34392A152C}"/>
              </a:ext>
            </a:extLst>
          </p:cNvPr>
          <p:cNvGraphicFramePr/>
          <p:nvPr/>
        </p:nvGraphicFramePr>
        <p:xfrm>
          <a:off xmlns:a="http://schemas.openxmlformats.org/drawingml/2006/main" x="619125" y="3467100"/>
          <a:ext xmlns:a="http://schemas.openxmlformats.org/drawingml/2006/main" cx="9096375" cy="3714750"/>
        </p:xfrm>
        <a:graphic xmlns:a="http://schemas.openxmlformats.org/drawingml/2006/main">
          <a:graphicData uri="http://schemas.openxmlformats.org/drawingml/2006/chart">
            <c:chart xmlns:r="http://schemas.openxmlformats.org/officeDocument/2006/relationships" xmlns:c="http://schemas.openxmlformats.org/drawingml/2006/chart" r:id="R761d12b571c64bdc"/>
          </a:graphicData>
        </a:graphic>
      </p:graphicFrame>
      <p:sp>
        <p:nvSpPr>
          <p:cNvPr id="7" name="Section rule">
            <a:extLst xmlns:a="http://schemas.openxmlformats.org/drawingml/2006/main">
              <a:ext uri="{FF2B5EF4-FFF2-40B4-BE49-F238E27FC236}">
                <a16:creationId xmlns:a16="http://schemas.microsoft.com/office/drawing/2014/main" id="{A0D20EDC-52C9-44DE-9C5C-E840F6029A4F}"/>
              </a:ext>
            </a:extLst>
          </p:cNvPr>
          <p:cNvSpPr>
            <a:spLocks xmlns:a="http://schemas.openxmlformats.org/drawingml/2006/main" noGrp="1"/>
          </p:cNvSpPr>
          <p:nvPr/>
        </p:nvSpPr>
        <p:spPr>
          <a:xfrm xmlns:a="http://schemas.openxmlformats.org/drawingml/2006/main">
            <a:off x="10344150" y="2381250"/>
            <a:ext cx="9525" cy="0"/>
          </a:xfrm>
          <a:prstGeom xmlns:a="http://schemas.openxmlformats.org/drawingml/2006/main" prst="line">
            <a:avLst/>
          </a:prstGeom>
          <a:noFill xmlns:a="http://schemas.openxmlformats.org/drawingml/2006/main"/>
          <a:ln xmlns:a="http://schemas.openxmlformats.org/drawingml/2006/main" w="12383">
            <a:solidFill>
              <a:srgbClr val="D8E0ED"/>
            </a:solidFill>
          </a:ln>
        </p:spPr>
      </p:sp>
      <p:sp>
        <p:nvSpPr>
          <p:cNvPr id="8" name="11">
            <a:extLst xmlns:a="http://schemas.openxmlformats.org/drawingml/2006/main">
              <a:ext uri="{FF2B5EF4-FFF2-40B4-BE49-F238E27FC236}">
                <a16:creationId xmlns:a16="http://schemas.microsoft.com/office/drawing/2014/main" id="{721956AB-C1C6-425B-9997-5C492D638DDB}"/>
              </a:ext>
            </a:extLst>
          </p:cNvPr>
          <p:cNvSpPr>
            <a:spLocks xmlns:a="http://schemas.openxmlformats.org/drawingml/2006/main" noGrp="1"/>
          </p:cNvSpPr>
          <p:nvPr/>
        </p:nvSpPr>
        <p:spPr>
          <a:xfrm xmlns:a="http://schemas.openxmlformats.org/drawingml/2006/main">
            <a:off x="10953750" y="2428875"/>
            <a:ext cx="3524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700" b="1">
                <a:solidFill>
                  <a:srgbClr val="2463EB"/>
                </a:solidFill>
                <a:latin typeface="Arial"/>
                <a:ea typeface="Arial"/>
                <a:cs typeface="Arial"/>
              </a:defRPr>
            </a:defPPr>
          </a:lstStyle>
          <a:p xmlns:a="http://schemas.openxmlformats.org/drawingml/2006/main">
            <a:pPr algn="l">
              <a:defRPr sz="8700" b="1">
                <a:solidFill>
                  <a:srgbClr val="2463EB"/>
                </a:solidFill>
                <a:latin typeface="Arial"/>
                <a:ea typeface="Arial"/>
                <a:cs typeface="Arial"/>
              </a:defRPr>
            </a:pPr>
            <a:r>
              <a:rPr sz="8700" b="1">
                <a:solidFill>
                  <a:srgbClr val="2463EB"/>
                </a:solidFill>
                <a:latin typeface="Arial"/>
                <a:ea typeface="Arial"/>
                <a:cs typeface="Arial"/>
              </a:rPr>
              <a:t>11</a:t>
            </a:r>
          </a:p>
        </p:txBody>
      </p:sp>
      <p:sp>
        <p:nvSpPr>
          <p:cNvPr id="9" name="integration tests passed">
            <a:extLst xmlns:a="http://schemas.openxmlformats.org/drawingml/2006/main">
              <a:ext uri="{FF2B5EF4-FFF2-40B4-BE49-F238E27FC236}">
                <a16:creationId xmlns:a16="http://schemas.microsoft.com/office/drawing/2014/main" id="{7F732011-A6F4-4B48-866D-93247F35D4CE}"/>
              </a:ext>
            </a:extLst>
          </p:cNvPr>
          <p:cNvSpPr>
            <a:spLocks xmlns:a="http://schemas.openxmlformats.org/drawingml/2006/main" noGrp="1"/>
          </p:cNvSpPr>
          <p:nvPr/>
        </p:nvSpPr>
        <p:spPr>
          <a:xfrm xmlns:a="http://schemas.openxmlformats.org/drawingml/2006/main">
            <a:off x="10982325" y="3752850"/>
            <a:ext cx="3476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3243F"/>
                </a:solidFill>
                <a:latin typeface="Arial"/>
                <a:ea typeface="Arial"/>
                <a:cs typeface="Arial"/>
              </a:defRPr>
            </a:defPPr>
          </a:lstStyle>
          <a:p xmlns:a="http://schemas.openxmlformats.org/drawingml/2006/main">
            <a:pPr algn="l">
              <a:defRPr sz="2550" b="1">
                <a:solidFill>
                  <a:srgbClr val="13243F"/>
                </a:solidFill>
                <a:latin typeface="Arial"/>
                <a:ea typeface="Arial"/>
                <a:cs typeface="Arial"/>
              </a:defRPr>
            </a:pPr>
            <a:r>
              <a:rPr sz="2550" b="1">
                <a:solidFill>
                  <a:srgbClr val="13243F"/>
                </a:solidFill>
                <a:latin typeface="Arial"/>
                <a:ea typeface="Arial"/>
                <a:cs typeface="Arial"/>
              </a:rPr>
              <a:t>integration tests passed</a:t>
            </a:r>
          </a:p>
        </p:txBody>
      </p:sp>
      <p:sp>
        <p:nvSpPr>
          <p:cNvPr id="10" name="5 suites Zero failed or skipped Migrations applied">
            <a:extLst xmlns:a="http://schemas.openxmlformats.org/drawingml/2006/main">
              <a:ext uri="{FF2B5EF4-FFF2-40B4-BE49-F238E27FC236}">
                <a16:creationId xmlns:a16="http://schemas.microsoft.com/office/drawing/2014/main" id="{3B3C8156-AD84-4F72-A7CC-AC4AA1D7DD3C}"/>
              </a:ext>
            </a:extLst>
          </p:cNvPr>
          <p:cNvSpPr>
            <a:spLocks xmlns:a="http://schemas.openxmlformats.org/drawingml/2006/main" noGrp="1"/>
          </p:cNvSpPr>
          <p:nvPr/>
        </p:nvSpPr>
        <p:spPr>
          <a:xfrm xmlns:a="http://schemas.openxmlformats.org/drawingml/2006/main">
            <a:off x="10982325" y="4914900"/>
            <a:ext cx="34766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37089"/>
                </a:solidFill>
                <a:latin typeface="Arial"/>
                <a:ea typeface="Arial"/>
                <a:cs typeface="Arial"/>
              </a:defRPr>
            </a:defPPr>
          </a:lstStyle>
          <a:p xmlns:a="http://schemas.openxmlformats.org/drawingml/2006/main">
            <a:pPr algn="l">
              <a:defRPr sz="2100" b="0">
                <a:solidFill>
                  <a:srgbClr val="637089"/>
                </a:solidFill>
                <a:latin typeface="Arial"/>
                <a:ea typeface="Arial"/>
                <a:cs typeface="Arial"/>
              </a:defRPr>
            </a:pPr>
            <a:r>
              <a:rPr sz="2100" b="0">
                <a:solidFill>
                  <a:srgbClr val="637089"/>
                </a:solidFill>
                <a:latin typeface="Arial"/>
                <a:ea typeface="Arial"/>
                <a:cs typeface="Arial"/>
              </a:rPr>
              <a:t>5 suites</a:t>
            </a:r>
          </a:p>
          <a:p xmlns:a="http://schemas.openxmlformats.org/drawingml/2006/main">
            <a:pPr algn="l">
              <a:defRPr sz="2100" b="0">
                <a:solidFill>
                  <a:srgbClr val="637089"/>
                </a:solidFill>
                <a:latin typeface="Arial"/>
                <a:ea typeface="Arial"/>
                <a:cs typeface="Arial"/>
              </a:defRPr>
            </a:pPr>
            <a:r>
              <a:rPr sz="2100" b="0">
                <a:solidFill>
                  <a:srgbClr val="637089"/>
                </a:solidFill>
                <a:latin typeface="Arial"/>
                <a:ea typeface="Arial"/>
                <a:cs typeface="Arial"/>
              </a:rPr>
              <a:t>Zero failed or skipped</a:t>
            </a:r>
          </a:p>
          <a:p xmlns:a="http://schemas.openxmlformats.org/drawingml/2006/main">
            <a:pPr algn="l">
              <a:defRPr sz="2100" b="0">
                <a:solidFill>
                  <a:srgbClr val="637089"/>
                </a:solidFill>
                <a:latin typeface="Arial"/>
                <a:ea typeface="Arial"/>
                <a:cs typeface="Arial"/>
              </a:defRPr>
            </a:pPr>
            <a:r>
              <a:rPr sz="2100" b="0">
                <a:solidFill>
                  <a:srgbClr val="637089"/>
                </a:solidFill>
                <a:latin typeface="Arial"/>
                <a:ea typeface="Arial"/>
                <a:cs typeface="Arial"/>
              </a:rPr>
              <a:t>Migrations applied</a:t>
            </a:r>
          </a:p>
        </p:txBody>
      </p:sp>
      <p:sp>
        <p:nvSpPr>
          <p:cNvPr id="11" name="Cash integrity, permissions, concurrency and isolation">
            <a:extLst xmlns:a="http://schemas.openxmlformats.org/drawingml/2006/main">
              <a:ext uri="{FF2B5EF4-FFF2-40B4-BE49-F238E27FC236}">
                <a16:creationId xmlns:a16="http://schemas.microsoft.com/office/drawing/2014/main" id="{D88CAB60-1F94-472E-B5A1-86E5AAA8952D}"/>
              </a:ext>
            </a:extLst>
          </p:cNvPr>
          <p:cNvSpPr>
            <a:spLocks xmlns:a="http://schemas.openxmlformats.org/drawingml/2006/main" noGrp="1"/>
          </p:cNvSpPr>
          <p:nvPr/>
        </p:nvSpPr>
        <p:spPr>
          <a:xfrm xmlns:a="http://schemas.openxmlformats.org/drawingml/2006/main">
            <a:off x="10982325" y="6534150"/>
            <a:ext cx="3476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37089"/>
                </a:solidFill>
                <a:latin typeface="Arial"/>
                <a:ea typeface="Arial"/>
                <a:cs typeface="Arial"/>
              </a:defRPr>
            </a:defPPr>
          </a:lstStyle>
          <a:p xmlns:a="http://schemas.openxmlformats.org/drawingml/2006/main">
            <a:pPr algn="l">
              <a:defRPr sz="1875" b="0">
                <a:solidFill>
                  <a:srgbClr val="637089"/>
                </a:solidFill>
                <a:latin typeface="Arial"/>
                <a:ea typeface="Arial"/>
                <a:cs typeface="Arial"/>
              </a:defRPr>
            </a:pPr>
            <a:r>
              <a:rPr sz="1875" b="0">
                <a:solidFill>
                  <a:srgbClr val="637089"/>
                </a:solidFill>
                <a:latin typeface="Arial"/>
                <a:ea typeface="Arial"/>
                <a:cs typeface="Arial"/>
              </a:rPr>
              <a:t>Cash integrity, permissions,</a:t>
            </a:r>
          </a:p>
          <a:p xmlns:a="http://schemas.openxmlformats.org/drawingml/2006/main">
            <a:pPr algn="l">
              <a:defRPr sz="1875" b="0">
                <a:solidFill>
                  <a:srgbClr val="637089"/>
                </a:solidFill>
                <a:latin typeface="Arial"/>
                <a:ea typeface="Arial"/>
                <a:cs typeface="Arial"/>
              </a:defRPr>
            </a:pPr>
            <a:r>
              <a:rPr sz="1875" b="0">
                <a:solidFill>
                  <a:srgbClr val="637089"/>
                </a:solidFill>
                <a:latin typeface="Arial"/>
                <a:ea typeface="Arial"/>
                <a:cs typeface="Arial"/>
              </a:rPr>
              <a:t>concurrency and isolation</a:t>
            </a:r>
          </a:p>
        </p:txBody>
      </p:sp>
      <p:sp>
        <p:nvSpPr>
          <p:cNvPr id="12" name="4 AI wins, 5 rules wins, 3 ties. Synthetic outcomes do not e">
            <a:extLst xmlns:a="http://schemas.openxmlformats.org/drawingml/2006/main">
              <a:ext uri="{FF2B5EF4-FFF2-40B4-BE49-F238E27FC236}">
                <a16:creationId xmlns:a16="http://schemas.microsoft.com/office/drawing/2014/main" id="{C600C30E-20E1-4A01-BDDC-03BB11CC6F15}"/>
              </a:ext>
            </a:extLst>
          </p:cNvPr>
          <p:cNvSpPr>
            <a:spLocks xmlns:a="http://schemas.openxmlformats.org/drawingml/2006/main" noGrp="1"/>
          </p:cNvSpPr>
          <p:nvPr/>
        </p:nvSpPr>
        <p:spPr>
          <a:xfrm xmlns:a="http://schemas.openxmlformats.org/drawingml/2006/main">
            <a:off x="685800" y="7915275"/>
            <a:ext cx="13868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37089"/>
                </a:solidFill>
                <a:latin typeface="Arial"/>
                <a:ea typeface="Arial"/>
                <a:cs typeface="Arial"/>
              </a:defRPr>
            </a:defPPr>
          </a:lstStyle>
          <a:p xmlns:a="http://schemas.openxmlformats.org/drawingml/2006/main">
            <a:pPr algn="l">
              <a:defRPr sz="1425" b="0">
                <a:solidFill>
                  <a:srgbClr val="637089"/>
                </a:solidFill>
                <a:latin typeface="Arial"/>
                <a:ea typeface="Arial"/>
                <a:cs typeface="Arial"/>
              </a:defRPr>
            </a:pPr>
            <a:r>
              <a:rPr sz="1425" b="0">
                <a:solidFill>
                  <a:srgbClr val="637089"/>
                </a:solidFill>
                <a:latin typeface="Arial"/>
                <a:ea typeface="Arial"/>
                <a:cs typeface="Arial"/>
              </a:rPr>
              <a:t>4 AI wins, 5 rules wins, 3 ties. Synthetic outcomes do not establish real-world financial improvement.</a:t>
            </a:r>
          </a:p>
        </p:txBody>
      </p:sp>
    </p:spTree>
    <p:extLst>
      <p:ext uri="{BB962C8B-B14F-4D97-AF65-F5344CB8AC3E}">
        <p14:creationId xmlns:p14="http://schemas.microsoft.com/office/powerpoint/2010/main" val="1243745733"/>
      </p:ext>
    </p:extLst>
  </p:cSld>
</p:sld>
</file>

<file path=ppt/slides/slide17.xml><?xml version="1.0" encoding="utf-8"?>
<p:sld xmlns:p="http://schemas.openxmlformats.org/presentationml/2006/main">
  <p:cSld>
    <p:bg>
      <p:bgPr>
        <a:solidFill xmlns:a="http://schemas.openxmlformats.org/drawingml/2006/main">
          <a:srgbClr val="101F3C"/>
        </a:solidFill>
      </p:bgPr>
    </p:bg>
    <p:spTree>
      <p:nvGrpSpPr>
        <p:cNvPr id="1" name=""/>
        <p:cNvGrpSpPr/>
        <p:nvPr/>
      </p:nvGrpSpPr>
      <p:grpSpPr>
        <a:xfrm xmlns:a="http://schemas.openxmlformats.org/drawingml/2006/main"/>
      </p:grpSpPr>
      <p:sp>
        <p:nvSpPr>
          <p:cNvPr id="8" name="BizWizard">
            <a:extLst xmlns:a="http://schemas.openxmlformats.org/drawingml/2006/main">
              <a:ext uri="{FF2B5EF4-FFF2-40B4-BE49-F238E27FC236}">
                <a16:creationId xmlns:a16="http://schemas.microsoft.com/office/drawing/2014/main" id="{AB65B51D-353D-4608-BA27-8BFE4746EC62}"/>
              </a:ext>
            </a:extLst>
          </p:cNvPr>
          <p:cNvSpPr>
            <a:spLocks xmlns:a="http://schemas.openxmlformats.org/drawingml/2006/main" noGrp="1"/>
          </p:cNvSpPr>
          <p:nvPr/>
        </p:nvSpPr>
        <p:spPr>
          <a:xfrm xmlns:a="http://schemas.openxmlformats.org/drawingml/2006/main">
            <a:off x="685800" y="3238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FFFFFF"/>
                </a:solidFill>
                <a:latin typeface="Arial"/>
                <a:ea typeface="Arial"/>
                <a:cs typeface="Arial"/>
              </a:defRPr>
            </a:defPPr>
          </a:lstStyle>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BizWizard</a:t>
            </a:r>
          </a:p>
        </p:txBody>
      </p:sp>
      <p:sp>
        <p:nvSpPr>
          <p:cNvPr id="2" name="17">
            <a:extLst xmlns:a="http://schemas.openxmlformats.org/drawingml/2006/main">
              <a:ext uri="{FF2B5EF4-FFF2-40B4-BE49-F238E27FC236}">
                <a16:creationId xmlns:a16="http://schemas.microsoft.com/office/drawing/2014/main" id="{06C3DC6E-A6CC-4389-A4DF-B65741C6BF33}"/>
              </a:ext>
            </a:extLst>
          </p:cNvPr>
          <p:cNvSpPr>
            <a:spLocks xmlns:a="http://schemas.openxmlformats.org/drawingml/2006/main" noGrp="1"/>
          </p:cNvSpPr>
          <p:nvPr/>
        </p:nvSpPr>
        <p:spPr>
          <a:xfrm xmlns:a="http://schemas.openxmlformats.org/drawingml/2006/main">
            <a:off x="12573000" y="323850"/>
            <a:ext cx="198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ADBBD2"/>
                </a:solidFill>
                <a:latin typeface="Arial"/>
                <a:ea typeface="Arial"/>
                <a:cs typeface="Arial"/>
              </a:defRPr>
            </a:defPPr>
          </a:lstStyle>
          <a:p xmlns:a="http://schemas.openxmlformats.org/drawingml/2006/main">
            <a:pPr algn="r">
              <a:defRPr sz="1425" b="0">
                <a:solidFill>
                  <a:srgbClr val="ADBBD2"/>
                </a:solidFill>
                <a:latin typeface="Arial"/>
                <a:ea typeface="Arial"/>
                <a:cs typeface="Arial"/>
              </a:defRPr>
            </a:pPr>
            <a:r>
              <a:rPr sz="1425" b="0">
                <a:solidFill>
                  <a:srgbClr val="ADBBD2"/>
                </a:solidFill>
                <a:latin typeface="Arial"/>
                <a:ea typeface="Arial"/>
                <a:cs typeface="Arial"/>
              </a:rPr>
              <a:t>17</a:t>
            </a:r>
          </a:p>
        </p:txBody>
      </p:sp>
      <p:sp>
        <p:nvSpPr>
          <p:cNvPr id="3" name="Slide heading">
            <a:extLst xmlns:a="http://schemas.openxmlformats.org/drawingml/2006/main">
              <a:ext uri="{FF2B5EF4-FFF2-40B4-BE49-F238E27FC236}">
                <a16:creationId xmlns:a16="http://schemas.microsoft.com/office/drawing/2014/main" id="{6110F731-4171-4305-A437-BACA041D6693}"/>
              </a:ext>
            </a:extLst>
          </p:cNvPr>
          <p:cNvSpPr>
            <a:spLocks xmlns:a="http://schemas.openxmlformats.org/drawingml/2006/main" noGrp="1"/>
          </p:cNvSpPr>
          <p:nvPr/>
        </p:nvSpPr>
        <p:spPr>
          <a:xfrm xmlns:a="http://schemas.openxmlformats.org/drawingml/2006/main">
            <a:off x="685800" y="1000125"/>
            <a:ext cx="138684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FFFFFF"/>
                </a:solidFill>
                <a:latin typeface="Arial"/>
                <a:ea typeface="Arial"/>
                <a:cs typeface="Arial"/>
              </a:defRPr>
            </a:defPPr>
          </a:lstStyle>
          <a:p xmlns:a="http://schemas.openxmlformats.org/drawingml/2006/main">
            <a:pPr algn="l">
              <a:defRPr sz="4500" b="1">
                <a:solidFill>
                  <a:srgbClr val="FFFFFF"/>
                </a:solidFill>
                <a:latin typeface="Arial"/>
                <a:ea typeface="Arial"/>
                <a:cs typeface="Arial"/>
              </a:defRPr>
            </a:pPr>
            <a:r>
              <a:rPr sz="4500" b="1">
                <a:solidFill>
                  <a:srgbClr val="FFFFFF"/>
                </a:solidFill>
                <a:latin typeface="Arial"/>
                <a:ea typeface="Arial"/>
                <a:cs typeface="Arial"/>
              </a:rPr>
              <a:t>BizWizard in practice</a:t>
            </a:r>
          </a:p>
        </p:txBody>
      </p:sp>
      <p:sp>
        <p:nvSpPr>
          <p:cNvPr id="4" name="Daily operations and financial decisions, connected in one s">
            <a:extLst xmlns:a="http://schemas.openxmlformats.org/drawingml/2006/main">
              <a:ext uri="{FF2B5EF4-FFF2-40B4-BE49-F238E27FC236}">
                <a16:creationId xmlns:a16="http://schemas.microsoft.com/office/drawing/2014/main" id="{29B404F3-4398-4885-BAE4-C2B21A58103A}"/>
              </a:ext>
            </a:extLst>
          </p:cNvPr>
          <p:cNvSpPr>
            <a:spLocks xmlns:a="http://schemas.openxmlformats.org/drawingml/2006/main" noGrp="1"/>
          </p:cNvSpPr>
          <p:nvPr/>
        </p:nvSpPr>
        <p:spPr>
          <a:xfrm xmlns:a="http://schemas.openxmlformats.org/drawingml/2006/main">
            <a:off x="723900" y="2552700"/>
            <a:ext cx="1366837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50" b="1">
                <a:solidFill>
                  <a:srgbClr val="FFFFFF"/>
                </a:solidFill>
                <a:latin typeface="Arial"/>
                <a:ea typeface="Arial"/>
                <a:cs typeface="Arial"/>
              </a:defRPr>
            </a:defPPr>
          </a:lstStyle>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Daily operations and financial decisions,</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connected in one shop workspace.</a:t>
            </a:r>
          </a:p>
        </p:txBody>
      </p:sp>
      <p:sp>
        <p:nvSpPr>
          <p:cNvPr id="5" name="Manage the business, then use its records to review financin">
            <a:extLst xmlns:a="http://schemas.openxmlformats.org/drawingml/2006/main">
              <a:ext uri="{FF2B5EF4-FFF2-40B4-BE49-F238E27FC236}">
                <a16:creationId xmlns:a16="http://schemas.microsoft.com/office/drawing/2014/main" id="{30D65BD1-901F-4770-9AA0-392F35977DDF}"/>
              </a:ext>
            </a:extLst>
          </p:cNvPr>
          <p:cNvSpPr>
            <a:spLocks xmlns:a="http://schemas.openxmlformats.org/drawingml/2006/main" noGrp="1"/>
          </p:cNvSpPr>
          <p:nvPr/>
        </p:nvSpPr>
        <p:spPr>
          <a:xfrm xmlns:a="http://schemas.openxmlformats.org/drawingml/2006/main">
            <a:off x="723900" y="4972050"/>
            <a:ext cx="13239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ADBBD2"/>
                </a:solidFill>
                <a:latin typeface="Arial"/>
                <a:ea typeface="Arial"/>
                <a:cs typeface="Arial"/>
              </a:defRPr>
            </a:defPPr>
          </a:lstStyle>
          <a:p xmlns:a="http://schemas.openxmlformats.org/drawingml/2006/main">
            <a:pPr algn="l">
              <a:defRPr sz="2925" b="0">
                <a:solidFill>
                  <a:srgbClr val="ADBBD2"/>
                </a:solidFill>
                <a:latin typeface="Arial"/>
                <a:ea typeface="Arial"/>
                <a:cs typeface="Arial"/>
              </a:defRPr>
            </a:pPr>
            <a:r>
              <a:rPr sz="2925" b="0">
                <a:solidFill>
                  <a:srgbClr val="ADBBD2"/>
                </a:solidFill>
                <a:latin typeface="Arial"/>
                <a:ea typeface="Arial"/>
                <a:cs typeface="Arial"/>
              </a:rPr>
              <a:t>Manage the business, then use its records</a:t>
            </a:r>
          </a:p>
          <a:p xmlns:a="http://schemas.openxmlformats.org/drawingml/2006/main">
            <a:pPr algn="l">
              <a:defRPr sz="2925" b="0">
                <a:solidFill>
                  <a:srgbClr val="ADBBD2"/>
                </a:solidFill>
                <a:latin typeface="Arial"/>
                <a:ea typeface="Arial"/>
                <a:cs typeface="Arial"/>
              </a:defRPr>
            </a:pPr>
            <a:r>
              <a:rPr sz="2925" b="0">
                <a:solidFill>
                  <a:srgbClr val="ADBBD2"/>
                </a:solidFill>
                <a:latin typeface="Arial"/>
                <a:ea typeface="Arial"/>
                <a:cs typeface="Arial"/>
              </a:rPr>
              <a:t>to review financing, cash flow and margins.</a:t>
            </a:r>
          </a:p>
        </p:txBody>
      </p:sp>
      <p:sp>
        <p:nvSpPr>
          <p:cNvPr id="6" name="bizwizard-lake.vercel.app">
            <a:extLst xmlns:a="http://schemas.openxmlformats.org/drawingml/2006/main">
              <a:ext uri="{FF2B5EF4-FFF2-40B4-BE49-F238E27FC236}">
                <a16:creationId xmlns:a16="http://schemas.microsoft.com/office/drawing/2014/main" id="{05887F5F-C793-4F39-8DC5-E9FECF0C6511}"/>
              </a:ext>
            </a:extLst>
          </p:cNvPr>
          <p:cNvSpPr>
            <a:spLocks xmlns:a="http://schemas.openxmlformats.org/drawingml/2006/main" noGrp="1"/>
          </p:cNvSpPr>
          <p:nvPr/>
        </p:nvSpPr>
        <p:spPr>
          <a:xfrm xmlns:a="http://schemas.openxmlformats.org/drawingml/2006/main">
            <a:off x="723900" y="6953250"/>
            <a:ext cx="10477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93B5FF"/>
                </a:solidFill>
                <a:latin typeface="Arial"/>
                <a:ea typeface="Arial"/>
                <a:cs typeface="Arial"/>
              </a:defRPr>
            </a:defPPr>
          </a:lstStyle>
          <a:p xmlns:a="http://schemas.openxmlformats.org/drawingml/2006/main">
            <a:pPr algn="l">
              <a:defRPr sz="3150" b="1">
                <a:solidFill>
                  <a:srgbClr val="93B5FF"/>
                </a:solidFill>
                <a:latin typeface="Arial"/>
                <a:ea typeface="Arial"/>
                <a:cs typeface="Arial"/>
              </a:defRPr>
            </a:pPr>
            <a:r>
              <a:rPr sz="3150" b="1">
                <a:solidFill>
                  <a:srgbClr val="93B5FF"/>
                </a:solidFill>
                <a:latin typeface="Arial"/>
                <a:ea typeface="Arial"/>
                <a:cs typeface="Arial"/>
                <a:hlinkClick xmlns:r="http://schemas.openxmlformats.org/officeDocument/2006/relationships" r:id="R101ca42fc96f423b"/>
              </a:rPr>
              <a:t>bizwizard-lake.vercel.app</a:t>
            </a:r>
          </a:p>
        </p:txBody>
      </p:sp>
      <p:sp>
        <p:nvSpPr>
          <p:cNvPr id="7" name="Working sandbox. No external lender contact or bank transfer">
            <a:extLst xmlns:a="http://schemas.openxmlformats.org/drawingml/2006/main">
              <a:ext uri="{FF2B5EF4-FFF2-40B4-BE49-F238E27FC236}">
                <a16:creationId xmlns:a16="http://schemas.microsoft.com/office/drawing/2014/main" id="{683CB7D7-BB40-4C28-92D2-50886C286298}"/>
              </a:ext>
            </a:extLst>
          </p:cNvPr>
          <p:cNvSpPr>
            <a:spLocks xmlns:a="http://schemas.openxmlformats.org/drawingml/2006/main" noGrp="1"/>
          </p:cNvSpPr>
          <p:nvPr/>
        </p:nvSpPr>
        <p:spPr>
          <a:xfrm xmlns:a="http://schemas.openxmlformats.org/drawingml/2006/main">
            <a:off x="685800" y="7915275"/>
            <a:ext cx="13868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ADBBD2"/>
                </a:solidFill>
                <a:latin typeface="Arial"/>
                <a:ea typeface="Arial"/>
                <a:cs typeface="Arial"/>
              </a:defRPr>
            </a:defPPr>
          </a:lstStyle>
          <a:p xmlns:a="http://schemas.openxmlformats.org/drawingml/2006/main">
            <a:pPr algn="l">
              <a:defRPr sz="1425" b="0">
                <a:solidFill>
                  <a:srgbClr val="ADBBD2"/>
                </a:solidFill>
                <a:latin typeface="Arial"/>
                <a:ea typeface="Arial"/>
                <a:cs typeface="Arial"/>
              </a:defRPr>
            </a:pPr>
            <a:r>
              <a:rPr sz="1425" b="0">
                <a:solidFill>
                  <a:srgbClr val="ADBBD2"/>
                </a:solidFill>
                <a:latin typeface="Arial"/>
                <a:ea typeface="Arial"/>
                <a:cs typeface="Arial"/>
              </a:rPr>
              <a:t>Working sandbox. No external lender contact or bank transfer.</a:t>
            </a:r>
          </a:p>
        </p:txBody>
      </p:sp>
    </p:spTree>
    <p:extLst>
      <p:ext uri="{BB962C8B-B14F-4D97-AF65-F5344CB8AC3E}">
        <p14:creationId xmlns:p14="http://schemas.microsoft.com/office/powerpoint/2010/main" val="3768768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2026-10-20T13:20:04.6380000Z</dcterms:created>
  <dcterms:modified xsi:type="dcterms:W3CDTF">2026-10-20T13:20:04.6390000Z</dcterms:modified>
</coreProperties>
</file>